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4206240"/>
            <a:ext cx="2560320" cy="2560320"/>
          </a:xfrm>
          <a:prstGeom prst="ellipse">
            <a:avLst/>
          </a:prstGeom>
          <a:solidFill>
            <a:srgbClr val="06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40" y="2926080"/>
            <a:ext cx="1645920" cy="1645920"/>
          </a:xfrm>
          <a:prstGeom prst="ellipse">
            <a:avLst/>
          </a:prstGeom>
          <a:solidFill>
            <a:srgbClr val="302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02920"/>
            <a:ext cx="7498079" cy="402336"/>
          </a:xfrm>
          <a:prstGeom prst="roundRect">
            <a:avLst>
              <a:gd name="adj" fmla="val 20000"/>
            </a:avLst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7498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587"/>
                </a:solidFill>
                <a:latin typeface="微軟正黑體"/>
              </a:rPr>
              <a:t>第八屆教育部獎助研發特殊教育教材教具競賽  ·  身心障礙類  ·  國民中學及高級中等學校組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8686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微軟正黑體"/>
              </a:rPr>
              <a:t>金 錢 小 達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DBA74"/>
                </a:solidFill>
                <a:latin typeface="微軟正黑體"/>
              </a:rPr>
              <a:t>互動式特殊教育生活數學暨金融素養教學軟體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8DA8"/>
                </a:solidFill>
                <a:latin typeface="Arial"/>
              </a:rPr>
              <a:t>Money Tutor: Interactive Software for Financial Literacy in Special Education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337560"/>
            <a:ext cx="7909560" cy="0"/>
          </a:xfrm>
          <a:prstGeom prst="line">
            <a:avLst/>
          </a:prstGeom>
          <a:ln w="1905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微軟正黑體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互動教學單元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微軟正黑體"/>
              </a:rPr>
              <a:t>150,000+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程式碼行數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微軟正黑體"/>
              </a:rPr>
              <a:t>4 個月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研發歷時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微軟正黑體"/>
              </a:rPr>
              <a:t>NT$ 0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授權費用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7955279" cy="54864"/>
          </a:xfrm>
          <a:prstGeom prst="rect">
            <a:avLst/>
          </a:prstGeom>
          <a:solidFill>
            <a:srgbClr val="33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微軟正黑體"/>
              </a:rPr>
              <a:t>適用對象：國中～高中特教班・資源班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3036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軟正黑體"/>
              </a:rPr>
              <a:t>輕度至中度智能障礙・自閉症・學習障礙・多重障礙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15000"/>
            <a:ext cx="182880" cy="347472"/>
          </a:xfrm>
          <a:prstGeom prst="roundRect">
            <a:avLst>
              <a:gd name="adj" fmla="val 6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57150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微軟正黑體"/>
              </a:rPr>
              <a:t>F 系列  數學基礎先備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715000"/>
            <a:ext cx="182880" cy="347472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57150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微軟正黑體"/>
              </a:rPr>
              <a:t>C 系列  貨幣認知建立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5715000"/>
            <a:ext cx="182880" cy="347472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3912" y="57150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微軟正黑體"/>
              </a:rPr>
              <a:t>A 系列  真實情境類化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63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A73"/>
                </a:solidFill>
                <a:latin typeface="微軟正黑體"/>
              </a:rPr>
              <a:t>中華民國 115 年 3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簡報綱要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15568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115568"/>
            <a:ext cx="3749039" cy="9144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801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280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設計動機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70992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特教現場三重結構性困境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15568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15568"/>
            <a:ext cx="3749039" cy="91440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801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A580C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280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設計理念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0992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UDL × 工作分析法 × 直接教學法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1115568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115568"/>
            <a:ext cx="3749039" cy="9144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2801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63EB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280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F 系列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70992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數學基礎先備 6 單元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505456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2505456"/>
            <a:ext cx="3749039" cy="9144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670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267004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C 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099816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貨幣認知建立 6 單元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505456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2505456"/>
            <a:ext cx="3749039" cy="91440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670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A580C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67004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A 系列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099816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真實情境類化 6 單元（工作分析）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2505456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47888" y="2505456"/>
            <a:ext cx="3749039" cy="9144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2670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267004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輔助點擊模式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3099816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精細動作障礙首創解方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3895344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" y="3895344"/>
            <a:ext cx="3749039" cy="91440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405993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9488"/>
                </a:solidFill>
                <a:latin typeface="Arial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0599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三段學習歷程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448970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數位練習→紙本評量→社區類化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895344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3895344"/>
            <a:ext cx="3749039" cy="91440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405993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0599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課程法規依據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448970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IEP / 特教法 / 課綱對應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47888" y="3895344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47888" y="3895344"/>
            <a:ext cx="3749039" cy="91440"/>
          </a:xfrm>
          <a:prstGeom prst="roundRect">
            <a:avLst>
              <a:gd name="adj" fmla="val 0"/>
            </a:avLst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5048" y="405993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438CA"/>
                </a:solidFill>
                <a:latin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5128" y="40599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試教觀察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5128" y="448970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個案轉化 · 類化窗口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" y="5285232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7472" y="5285232"/>
            <a:ext cx="3749039" cy="9144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" y="544982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Arial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" y="54498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預期成效指標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" y="587959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三層面 × 短中長期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5285232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7680" y="5285232"/>
            <a:ext cx="3749039" cy="91440"/>
          </a:xfrm>
          <a:prstGeom prst="roundRect">
            <a:avLst>
              <a:gd name="adj" fmla="val 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544982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74920" y="54498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技術規格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4920" y="587959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無障礙設計 · 配套系統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5285232"/>
            <a:ext cx="3749039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47888" y="5285232"/>
            <a:ext cx="3749039" cy="9144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85048" y="544982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Arial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25128" y="54498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核心創新總結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5128" y="587959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四大首創特色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01  設計動機 ── 特教現場的三重結構性困境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3749039" cy="544068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43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微軟正黑體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901952"/>
            <a:ext cx="3419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微軟正黑體"/>
              </a:rPr>
              <a:t>困境一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304288"/>
            <a:ext cx="3419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C2626"/>
                </a:solidFill>
                <a:latin typeface="微軟正黑體"/>
              </a:rPr>
              <a:t>交易序列的意義理解障礙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" y="2788920"/>
            <a:ext cx="3291840" cy="0"/>
          </a:xfrm>
          <a:prstGeom prst="line">
            <a:avLst/>
          </a:prstGeom>
          <a:ln w="127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6072" y="288036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台灣 9 種面額貨幣──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31927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挑戰不在「辨識」，在「序列理解」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758183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找零 = 付出 → 接受 → 驗收 邏輯鏈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197096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夠不夠 = 幣值辨識 + 數量比較同步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63600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靜態紙本無法提供即時個別化回饋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507492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錯誤模式在缺乏回饋中持續固化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78992"/>
            <a:ext cx="3749039" cy="544068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143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微軟正黑體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1901952"/>
            <a:ext cx="3419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微軟正黑體"/>
              </a:rPr>
              <a:t>困境二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304288"/>
            <a:ext cx="3419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97706"/>
                </a:solidFill>
                <a:latin typeface="微軟正黑體"/>
              </a:rPr>
              <a:t>安全練習場域的長期缺位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26280" y="2788920"/>
            <a:ext cx="3291840" cy="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26280" y="288036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真實試誤 → 消費糾紛 + 情緒失調風險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1927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【小俊・速食店】陷入選擇迴路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58183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→ 後方催促誘發情緒失調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97096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→ 一學期拒絕接觸相關學習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3600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【小雯・販賣機】反覆失敗後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07492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→ 主動繞道迴避所有自助設備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078992"/>
            <a:ext cx="3749039" cy="544068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143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微軟正黑體"/>
              </a:rPr>
              <a:t>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901952"/>
            <a:ext cx="3419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微軟正黑體"/>
              </a:rPr>
              <a:t>困境三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304288"/>
            <a:ext cx="34198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63EB"/>
                </a:solidFill>
                <a:latin typeface="微軟正黑體"/>
              </a:rPr>
              <a:t>系統性課程工具的十年缺口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76488" y="2788920"/>
            <a:ext cx="3291840" cy="0"/>
          </a:xfrm>
          <a:prstGeom prst="line">
            <a:avLst/>
          </a:prstGeom>
          <a:ln w="1270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76488" y="288036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課綱明列財務管理為核心主題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331927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（生管-Ⅳ-E-1 至 E-4）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3758183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市場缺乏系統性個別化可調整教材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4197096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教師普遍依賴自製圖卡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463600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備課耗時 + 課程銜接脆弱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507492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橫跨三學習層次的工具缺口待填補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真實個案 ── 軟體研發的起點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3749039" cy="416052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64792" y="1170432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170432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軟正黑體"/>
              </a:rPr>
              <a:t>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1762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微軟正黑體"/>
              </a:rPr>
              <a:t>小涵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560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微軟正黑體"/>
              </a:rPr>
              <a:t>輕度智能障礙・14 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2944368"/>
            <a:ext cx="3200400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035808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計算能力：能穩定算出 100－35＝65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困難點：模擬購物中無法連結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77056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「我有多少錢」與「物品多少錢」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缺乏即時回饋 → 錯誤模式固化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78992"/>
            <a:ext cx="3749039" cy="416052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15000" y="1170432"/>
            <a:ext cx="914400" cy="9144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170432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軟正黑體"/>
              </a:rPr>
              <a:t>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762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  <a:latin typeface="微軟正黑體"/>
              </a:rPr>
              <a:t>小俊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560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微軟正黑體"/>
              </a:rPr>
              <a:t>輕度自閉症・中學生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2944368"/>
            <a:ext cx="3200400" cy="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98848" y="3035808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在速食店自助點餐機前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456432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因「漢堡要選哪個類別」陷入迴路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877056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後方顧客催促 → 情緒失調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297680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此後一學期拒絕接觸相關學習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1078992"/>
            <a:ext cx="3749039" cy="416052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65208" y="1170432"/>
            <a:ext cx="914400" cy="9144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65208" y="1170432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軟正黑體"/>
              </a:rPr>
              <a:t>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1762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A580C"/>
                </a:solidFill>
                <a:latin typeface="微軟正黑體"/>
              </a:rPr>
              <a:t>小雯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560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微軟正黑體"/>
              </a:rPr>
              <a:t>特殊需求學生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22208" y="2944368"/>
            <a:ext cx="3200400" cy="0"/>
          </a:xfrm>
          <a:prstGeom prst="line">
            <a:avLst/>
          </a:prstGeom>
          <a:ln w="127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49056" y="3035808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在走廊販賣機多次因面額選錯失敗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3456432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主動繞道迴避所有自助設備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9056" y="3877056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告訴老師：「那個機器我不會用」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4297680"/>
            <a:ext cx="33467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失敗的代價 → 長期情境迴避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76672"/>
            <a:ext cx="11521440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微軟正黑體"/>
              </a:rPr>
              <a:t>✅  軟體的任務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微軟正黑體"/>
              </a:rPr>
              <a:t>小雯完成 A1 十五次練習後，第一次在真實販賣機前完整購買，主動說：「我下次自己來。」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微軟正黑體"/>
              </a:rPr>
              <a:t>小俊在 A2 社區實地課，面對真實理髮廳觸控機，完成整個流程，並在等待時說：「我是 7 號，還沒叫到我，我要繼續等。」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02  設計理念 ── UDL 通用設計學習三大原則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Universal Design for Learning (CAST, 2018)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3749039" cy="544068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3749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微軟正黑體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63EB"/>
                </a:solidFill>
                <a:latin typeface="微軟正黑體"/>
              </a:rPr>
              <a:t>多元表徵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Representation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" y="2816352"/>
            <a:ext cx="3236976" cy="0"/>
          </a:xfrm>
          <a:prstGeom prst="line">
            <a:avLst/>
          </a:prstGeom>
          <a:ln w="1270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3054096"/>
            <a:ext cx="91440" cy="164592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全程中文語音引導（雅婷優先）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74720"/>
            <a:ext cx="91440" cy="164592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高解析商品 / 服務圖片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95344"/>
            <a:ext cx="91440" cy="164592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介面仿真台灣在地真實設備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15968"/>
            <a:ext cx="91440" cy="164592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短句操作提示（≤ 5 字）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36592"/>
            <a:ext cx="91440" cy="164592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0857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A1 LCD 即時顯示已投 / 尚需金額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57216"/>
            <a:ext cx="91440" cy="164592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2920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台灣語境金額唸法（Web Speech）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1078992"/>
            <a:ext cx="3749039" cy="544068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1143000"/>
            <a:ext cx="3749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微軟正黑體"/>
              </a:rPr>
              <a:t>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193852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微軟正黑體"/>
              </a:rPr>
              <a:t>多元行動與表達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23957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Action &amp; Expression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26280" y="2816352"/>
            <a:ext cx="3236976" cy="0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453128" y="3054096"/>
            <a:ext cx="91440" cy="16459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8" y="292608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觸控拖曳（iPad / Android 平板）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3474720"/>
            <a:ext cx="91440" cy="16459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8" y="334670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滑鼠點擊（Windows 電腦）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3128" y="3895344"/>
            <a:ext cx="91440" cy="16459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8" y="376732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輔助點擊模式（首創）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53128" y="4315968"/>
            <a:ext cx="91440" cy="16459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8" y="418795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精細動作障礙──任意位置點擊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3128" y="4736592"/>
            <a:ext cx="91440" cy="16459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6008" y="460857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三種難度對應「明示→引導→獨立」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53128" y="5157216"/>
            <a:ext cx="91440" cy="16459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502920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褪除序列設計，系統自動調整支持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6" y="1078992"/>
            <a:ext cx="3749039" cy="544068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0456" y="1143000"/>
            <a:ext cx="3749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微軟正黑體"/>
              </a:rPr>
              <a:t>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193852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微軟正黑體"/>
              </a:rPr>
              <a:t>多元參與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0456" y="23957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Engagement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76488" y="2816352"/>
            <a:ext cx="3236976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03336" y="3054096"/>
            <a:ext cx="91440" cy="16459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86216" y="292608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A1 / A3 / A4 支援自訂商品圖片上傳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3336" y="3474720"/>
            <a:ext cx="91440" cy="16459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86216" y="334670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A6 支援自訂車站設定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3336" y="3895344"/>
            <a:ext cx="91440" cy="16459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86216" y="376732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答對即時語音讚美 + 煙火動畫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03336" y="4315968"/>
            <a:ext cx="91440" cy="16459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86216" y="418795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獎勵積分系統整合 IEP 正增強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3336" y="4736592"/>
            <a:ext cx="91440" cy="16459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86216" y="460857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深色模式（視覺敏感學生適用）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3336" y="5157216"/>
            <a:ext cx="91440" cy="16459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86216" y="502920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B 系列預算規劃（延伸學習）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02  設計理念 ── 工作分析法 × 直接教學法 × 三段學習歷程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12064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120640" cy="475488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⚙️  工作分析法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4992624" cy="603504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94360" cy="402336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80136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微軟正黑體"/>
              </a:rPr>
              <a:t>自動販賣機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424" y="1819656"/>
            <a:ext cx="530352" cy="329184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1819656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5步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78308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軟正黑體"/>
              </a:rPr>
              <a:t>選商品→投幣→確認→取貨→核對找零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350008"/>
            <a:ext cx="4992624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41448"/>
            <a:ext cx="594360" cy="402336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41448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459736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微軟正黑體"/>
              </a:rPr>
              <a:t>理髮廳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9424" y="2478024"/>
            <a:ext cx="530352" cy="329184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9424" y="2478024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6步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44144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軟正黑體"/>
              </a:rPr>
              <a:t>選類別→選服務→確認→付款→取號→等候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008376"/>
            <a:ext cx="4992624" cy="603504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99816"/>
            <a:ext cx="594360" cy="402336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99816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A3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118104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微軟正黑體"/>
              </a:rPr>
              <a:t>速食店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9424" y="3136392"/>
            <a:ext cx="530352" cy="329184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9424" y="3136392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7步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09981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軟正黑體"/>
              </a:rPr>
              <a:t>瀏覽→加入→確認→選付款→付款→取號→取餐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666744"/>
            <a:ext cx="4992624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758184"/>
            <a:ext cx="594360" cy="402336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5818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A4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37764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微軟正黑體"/>
              </a:rPr>
              <a:t>超市購物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9424" y="3794760"/>
            <a:ext cx="530352" cy="329184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9424" y="379476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6步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375818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軟正黑體"/>
              </a:rPr>
              <a:t>選商品→確認→選付款→付款→找零→完成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325112"/>
            <a:ext cx="4992624" cy="603504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416552"/>
            <a:ext cx="594360" cy="402336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16552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A5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43484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微軟正黑體"/>
              </a:rPr>
              <a:t>ATM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9424" y="4453128"/>
            <a:ext cx="530352" cy="329184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9424" y="445312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7步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41655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軟正黑體"/>
              </a:rPr>
              <a:t>插卡→密碼→功能→金額→取款→退卡→取據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4983479"/>
            <a:ext cx="4992624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074919"/>
            <a:ext cx="594360" cy="402336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074919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A6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" y="5093207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微軟正黑體"/>
              </a:rPr>
              <a:t>火車票機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9424" y="5111495"/>
            <a:ext cx="530352" cy="329184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9424" y="5111495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8步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5074919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軟正黑體"/>
              </a:rPr>
              <a:t>出發→目的→票種→確認→付款→取票→找零→完成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1078992"/>
            <a:ext cx="320040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1078992"/>
            <a:ext cx="3200400" cy="47548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11155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📊  直接教學法三階段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1691640"/>
            <a:ext cx="2834640" cy="14630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24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174650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微軟正黑體"/>
              </a:rPr>
              <a:t>🟢 簡單模式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21122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微軟正黑體"/>
              </a:rPr>
              <a:t>明示教學（I Do / We Do）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242316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• 黃色光暈標示目標位置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74320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• 語音逐步引導每個步驟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264408"/>
            <a:ext cx="2834640" cy="14630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0" y="33192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微軟正黑體"/>
              </a:rPr>
              <a:t>🟡 普通模式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36850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微軟正黑體"/>
              </a:rPr>
              <a:t>引導練習（Guided Practice）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3995928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• 連續三次錯誤後出現提示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4315968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• 逐步驟追蹤錯誤類型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4837176"/>
            <a:ext cx="2834640" cy="14630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0" y="48920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微軟正黑體"/>
              </a:rPr>
              <a:t>🔴 困難模式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微軟正黑體"/>
              </a:rPr>
              <a:t>獨立練習（Independent Practice）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5568696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• 完全無提示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5888736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• 仿真真實情境操作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35440" y="1078992"/>
            <a:ext cx="274320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35440" y="1078992"/>
            <a:ext cx="2743200" cy="475488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18320" y="111556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🔄  三段學習歷程</a:t>
            </a:r>
          </a:p>
        </p:txBody>
      </p:sp>
      <p:sp>
        <p:nvSpPr>
          <p:cNvPr id="72" name="Oval 71"/>
          <p:cNvSpPr/>
          <p:nvPr/>
        </p:nvSpPr>
        <p:spPr>
          <a:xfrm>
            <a:off x="9509760" y="1801368"/>
            <a:ext cx="658368" cy="658368"/>
          </a:xfrm>
          <a:prstGeom prst="ellipse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60" y="180136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第一段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1280" y="18013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63EB"/>
                </a:solidFill>
                <a:latin typeface="微軟正黑體"/>
              </a:rPr>
              <a:t>數位模擬練習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0" y="2221992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課堂主軸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軟體即時回饋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29216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微軟正黑體"/>
              </a:rPr>
              <a:t>↓</a:t>
            </a:r>
          </a:p>
        </p:txBody>
      </p:sp>
      <p:sp>
        <p:nvSpPr>
          <p:cNvPr id="77" name="Oval 76"/>
          <p:cNvSpPr/>
          <p:nvPr/>
        </p:nvSpPr>
        <p:spPr>
          <a:xfrm>
            <a:off x="9509760" y="3374136"/>
            <a:ext cx="658368" cy="6583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09760" y="337413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第二段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3374136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微軟正黑體"/>
              </a:rPr>
              <a:t>紙本形成性評量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379476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課後作業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評估遷移效果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29216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微軟正黑體"/>
              </a:rPr>
              <a:t>↓</a:t>
            </a:r>
          </a:p>
        </p:txBody>
      </p:sp>
      <p:sp>
        <p:nvSpPr>
          <p:cNvPr id="82" name="Oval 81"/>
          <p:cNvSpPr/>
          <p:nvPr/>
        </p:nvSpPr>
        <p:spPr>
          <a:xfrm>
            <a:off x="9509760" y="4946904"/>
            <a:ext cx="658368" cy="6583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09760" y="4946904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第三段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1280" y="494690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微軟正黑體"/>
              </a:rPr>
              <a:t>實地類化應用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80" y="5367528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社區轉銜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IEP 成效記錄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課程架構 ── 三層次螺旋序階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數學基礎先備 → 貨幣認知建立 → 真實情境類化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5396" y="2011680"/>
            <a:ext cx="8138160" cy="117043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5396" y="2103120"/>
            <a:ext cx="8138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A 系列・真實情境類化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5396" y="2633472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E0"/>
                </a:solidFill>
                <a:latin typeface="微軟正黑體"/>
              </a:rPr>
              <a:t>6 個單元  ·  國中至高中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" y="2359152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" y="23591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6_6 個單元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" y="1188720"/>
            <a:ext cx="9784080" cy="117043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9050">
            <a:solidFill>
              <a:srgbClr val="0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" y="1280160"/>
            <a:ext cx="9784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C 系列・貨幣認知建立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2436" y="1810512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E0"/>
                </a:solidFill>
                <a:latin typeface="微軟正黑體"/>
              </a:rPr>
              <a:t>6 個單元  ·  台灣 9 種面額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52044" y="1536192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-352044" y="15361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6_6 個單元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" y="36576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2263EB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" y="45720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F 系列・數學基礎先備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" y="9875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E0"/>
                </a:solidFill>
                <a:latin typeface="微軟正黑體"/>
              </a:rPr>
              <a:t>6 個單元  ·  國小中高年級至國中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1175004" y="713232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1175004" y="7132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6_6 個單元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1078992"/>
            <a:ext cx="3657600" cy="5532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2070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課程設計核心原則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1664208"/>
            <a:ext cx="3291840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58200" y="1755648"/>
            <a:ext cx="54864" cy="71323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17739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微軟正黑體"/>
              </a:rPr>
              <a:t>螺旋序階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212140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具體→抽象, 簡單→複雜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每系列建立下一系列先備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807208"/>
            <a:ext cx="54864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個別差異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31729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三種難度 × 輔助點擊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確保不同能力學生成功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3858768"/>
            <a:ext cx="54864" cy="7132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38770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情境類化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42245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最終目標：真實社區場景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獨立完成消費交易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4910327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492861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微軟正黑體"/>
              </a:rPr>
              <a:t>IEP 整合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5276087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各單元提供評量基準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微軟正黑體"/>
              </a:rPr>
              <a:t>直接對應轉銜年度目標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504688"/>
            <a:ext cx="7772400" cy="11887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57784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微軟正黑體"/>
              </a:rPr>
              <a:t>建議學習路徑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F1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8308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F2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F3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39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F4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F5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F6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" y="596188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C1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8308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C2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C3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7639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77639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C4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7492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7492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C5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7220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C6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596188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A1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8308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8308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A2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8036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8036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A3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77639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77639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A4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7492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7492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A5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598932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72200" y="59893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A6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03  F 系列 ── 數學基礎先備（6 個單元）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適用：國小中高年級至國中  ·  先備能力：能執行觸控動作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49039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79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2070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一對一對應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7099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099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微軟正黑體"/>
              </a:rPr>
              <a:t>拖曳配對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103120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拖曳物件配對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建立數量等量直觀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081528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先備：能執行觸控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115568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115568"/>
            <a:ext cx="3749039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179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2070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唱  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17099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17099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微軟正黑體"/>
              </a:rPr>
              <a:t>語音計數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依序點擊物件計數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語音同步播報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081528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10896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先備：能識別圖片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1115568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1115568"/>
            <a:ext cx="3749039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1179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F3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2070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數字認讀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4" y="17099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17099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微軟正黑體"/>
              </a:rPr>
              <a:t>選擇配對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103120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看圖選數字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支援自訂主題上傳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5048" y="3081528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310896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先備：能辨識 1–10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94176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94176"/>
            <a:ext cx="3749039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7581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F4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37856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數字排序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" y="4288536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2885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微軟正黑體"/>
              </a:rPr>
              <a:t>拖曳排序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681728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拖曳數字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由小到大或由大到小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" y="5660136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F3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3694176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694176"/>
            <a:ext cx="3749039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9976" y="37581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F5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37856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量  比  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9976" y="4288536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9976" y="42885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微軟正黑體"/>
              </a:rPr>
              <a:t>比較判斷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4681728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比較兩組物品多寡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建立大小概念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5660136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F2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0456" y="3694176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0456" y="3694176"/>
            <a:ext cx="3749039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4" y="37581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F6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37856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數的組成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0184" y="4288536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0184" y="42885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微軟正黑體"/>
              </a:rPr>
              <a:t>合成分解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8" y="4681728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合成與分解概念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理解數的結構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5048" y="5660136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4776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F4/F5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04  C 系列 ── 貨幣認知建立（6 個單元）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適用：國中至高中  ·  台灣 9 種面額  ·  拖曳操作  ·  三種難度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49039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79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2070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認識錢幣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7099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099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微軟正黑體"/>
              </a:rPr>
              <a:t>三種模式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103120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辨識台灣 9 種面額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看圖選字 / 看字選幣 / 聽音選幣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081528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F3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115568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115568"/>
            <a:ext cx="3749039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179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2070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數  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17099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17099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微軟正黑體"/>
              </a:rPr>
              <a:t>累加計數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點擊錢幣依序累加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語音播報累計金額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081528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10896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C1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1115568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1115568"/>
            <a:ext cx="3749039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11795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2070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換  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4" y="17099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17099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微軟正黑體"/>
              </a:rPr>
              <a:t>面額兌換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103120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以不同面額組合等值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大換小 / 小換大 / 全隨機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5048" y="3081528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310896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C2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94176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94176"/>
            <a:ext cx="3749039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7581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C4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37856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付  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" y="4288536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2885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微軟正黑體"/>
              </a:rPr>
              <a:t>付款操作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681728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拖曳正確金額完成付款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自動判定超額 / 不足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" y="5660136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C3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3694176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694176"/>
            <a:ext cx="3749039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9976" y="37581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C5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37856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夠不夠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9976" y="4288536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9976" y="42885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微軟正黑體"/>
              </a:rPr>
              <a:t>比較判斷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4681728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拖曳錢幣至付款區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判斷金額能否購買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5660136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C4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0456" y="3694176"/>
            <a:ext cx="3749039" cy="2423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0456" y="3694176"/>
            <a:ext cx="3749039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4" y="37581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C6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37856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找  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0184" y="4288536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0184" y="42885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微軟正黑體"/>
              </a:rPr>
              <a:t>找零驗收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8" y="4681728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拖曳找零錢幣至對應格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微軟正黑體"/>
              </a:rPr>
              <a:t>驗收完整交易閉環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5048" y="5660136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4776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軟正黑體"/>
              </a:rPr>
              <a:t>先備：能完成 C5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05  A 系列 ── 真實情境類化（6 個單元）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工作分析法拆解 5～8 個操作步驟  ·  台灣在地化仿真介面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1612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🥤 自動販賣機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1591056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59105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5 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15910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微軟正黑體"/>
              </a:rPr>
              <a:t>幣值累計・找零驗收</a:t>
            </a:r>
          </a:p>
        </p:txBody>
      </p:sp>
      <p:sp>
        <p:nvSpPr>
          <p:cNvPr id="14" name="Oval 13"/>
          <p:cNvSpPr/>
          <p:nvPr/>
        </p:nvSpPr>
        <p:spPr>
          <a:xfrm>
            <a:off x="3703320" y="129844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29844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609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選商品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504" y="13167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965192" y="129844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129844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609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投幣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13167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6227064" y="129844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29844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1609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確認金額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13167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7488936" y="129844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8936" y="129844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904" y="1609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取貨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3167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8750808" y="129844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0808" y="129844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1609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核對找零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011680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2011680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011680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20574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✂️ 理髮廳自助機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7008" y="2487168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248716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6 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248716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微軟正黑體"/>
              </a:rPr>
              <a:t>服務辨識・等候社會規範</a:t>
            </a:r>
          </a:p>
        </p:txBody>
      </p:sp>
      <p:sp>
        <p:nvSpPr>
          <p:cNvPr id="40" name="Oval 39"/>
          <p:cNvSpPr/>
          <p:nvPr/>
        </p:nvSpPr>
        <p:spPr>
          <a:xfrm>
            <a:off x="3703320" y="219456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219456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7288" y="2505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選類別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2504" y="22128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44" name="Oval 43"/>
          <p:cNvSpPr/>
          <p:nvPr/>
        </p:nvSpPr>
        <p:spPr>
          <a:xfrm>
            <a:off x="4965192" y="219456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65192" y="219456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505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選服務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6" y="22128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48" name="Oval 47"/>
          <p:cNvSpPr/>
          <p:nvPr/>
        </p:nvSpPr>
        <p:spPr>
          <a:xfrm>
            <a:off x="6227064" y="219456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7064" y="219456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1032" y="2505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確認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6248" y="22128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52" name="Oval 51"/>
          <p:cNvSpPr/>
          <p:nvPr/>
        </p:nvSpPr>
        <p:spPr>
          <a:xfrm>
            <a:off x="7488936" y="219456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88936" y="219456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32904" y="2505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付款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22128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56" name="Oval 55"/>
          <p:cNvSpPr/>
          <p:nvPr/>
        </p:nvSpPr>
        <p:spPr>
          <a:xfrm>
            <a:off x="8750808" y="219456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50808" y="219456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4776" y="2505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取號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9992" y="22128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60" name="Oval 59"/>
          <p:cNvSpPr/>
          <p:nvPr/>
        </p:nvSpPr>
        <p:spPr>
          <a:xfrm>
            <a:off x="10012680" y="219456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219456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56648" y="25054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等候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2907791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2907791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2907791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7008" y="2953511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🍔 速食店點餐機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07008" y="3383279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7008" y="33832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7 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38528" y="3383279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微軟正黑體"/>
              </a:rPr>
              <a:t>分類導覽・多品項加總</a:t>
            </a:r>
          </a:p>
        </p:txBody>
      </p:sp>
      <p:sp>
        <p:nvSpPr>
          <p:cNvPr id="70" name="Oval 69"/>
          <p:cNvSpPr/>
          <p:nvPr/>
        </p:nvSpPr>
        <p:spPr>
          <a:xfrm>
            <a:off x="3703320" y="3090671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03320" y="309067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47288" y="340156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瀏覽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32504" y="310895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4965192" y="3090671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65192" y="309067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340156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加購物車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94376" y="310895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6227064" y="3090671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27064" y="309067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71032" y="340156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確認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56248" y="310895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7488936" y="3090671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88936" y="309067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32904" y="340156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選付款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8120" y="310895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8750808" y="3090671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50808" y="309067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94776" y="340156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付款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79992" y="310895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90" name="Oval 89"/>
          <p:cNvSpPr/>
          <p:nvPr/>
        </p:nvSpPr>
        <p:spPr>
          <a:xfrm>
            <a:off x="10012680" y="3090671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12680" y="309067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56648" y="340156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等取號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41864" y="310895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94" name="Oval 93"/>
          <p:cNvSpPr/>
          <p:nvPr/>
        </p:nvSpPr>
        <p:spPr>
          <a:xfrm>
            <a:off x="11274551" y="3090671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274551" y="309067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18519" y="340156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取餐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3803904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20040" y="3803904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3803904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07008" y="384962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🛒 超市購物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07008" y="4279392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207008" y="427939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6 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38528" y="427939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微軟正黑體"/>
              </a:rPr>
              <a:t>購物清單執行・找零驗收</a:t>
            </a:r>
          </a:p>
        </p:txBody>
      </p:sp>
      <p:sp>
        <p:nvSpPr>
          <p:cNvPr id="104" name="Oval 103"/>
          <p:cNvSpPr/>
          <p:nvPr/>
        </p:nvSpPr>
        <p:spPr>
          <a:xfrm>
            <a:off x="3703320" y="398678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703320" y="398678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47288" y="4297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選商品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32504" y="40050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08" name="Oval 107"/>
          <p:cNvSpPr/>
          <p:nvPr/>
        </p:nvSpPr>
        <p:spPr>
          <a:xfrm>
            <a:off x="4965192" y="398678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65192" y="398678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09160" y="4297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確認價格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94376" y="40050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12" name="Oval 111"/>
          <p:cNvSpPr/>
          <p:nvPr/>
        </p:nvSpPr>
        <p:spPr>
          <a:xfrm>
            <a:off x="6227064" y="398678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27064" y="398678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71032" y="4297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選付款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56248" y="40050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16" name="Oval 115"/>
          <p:cNvSpPr/>
          <p:nvPr/>
        </p:nvSpPr>
        <p:spPr>
          <a:xfrm>
            <a:off x="7488936" y="398678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88936" y="398678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32904" y="4297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付款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18120" y="40050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20" name="Oval 119"/>
          <p:cNvSpPr/>
          <p:nvPr/>
        </p:nvSpPr>
        <p:spPr>
          <a:xfrm>
            <a:off x="8750808" y="398678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750808" y="398678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94776" y="4297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找零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79992" y="40050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24" name="Oval 123"/>
          <p:cNvSpPr/>
          <p:nvPr/>
        </p:nvSpPr>
        <p:spPr>
          <a:xfrm>
            <a:off x="10012680" y="398678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12680" y="398678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56648" y="4297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完成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0040" y="4700016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20040" y="4700016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4700016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07008" y="4745736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🏧 ATM 操作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207008" y="5175504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07008" y="517550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7 步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38528" y="517550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微軟正黑體"/>
              </a:rPr>
              <a:t>密碼保護意識・金融交易流程</a:t>
            </a:r>
          </a:p>
        </p:txBody>
      </p:sp>
      <p:sp>
        <p:nvSpPr>
          <p:cNvPr id="134" name="Oval 133"/>
          <p:cNvSpPr/>
          <p:nvPr/>
        </p:nvSpPr>
        <p:spPr>
          <a:xfrm>
            <a:off x="3703320" y="488289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703320" y="4882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47288" y="51937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插卡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32504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38" name="Oval 137"/>
          <p:cNvSpPr/>
          <p:nvPr/>
        </p:nvSpPr>
        <p:spPr>
          <a:xfrm>
            <a:off x="4965192" y="488289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965192" y="4882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09160" y="51937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密碼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94376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42" name="Oval 141"/>
          <p:cNvSpPr/>
          <p:nvPr/>
        </p:nvSpPr>
        <p:spPr>
          <a:xfrm>
            <a:off x="6227064" y="488289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227064" y="4882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971032" y="51937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選功能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556248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46" name="Oval 145"/>
          <p:cNvSpPr/>
          <p:nvPr/>
        </p:nvSpPr>
        <p:spPr>
          <a:xfrm>
            <a:off x="7488936" y="488289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488936" y="4882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232904" y="51937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輸金額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18120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50" name="Oval 149"/>
          <p:cNvSpPr/>
          <p:nvPr/>
        </p:nvSpPr>
        <p:spPr>
          <a:xfrm>
            <a:off x="8750808" y="488289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750808" y="4882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494776" y="51937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取款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79992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54" name="Oval 153"/>
          <p:cNvSpPr/>
          <p:nvPr/>
        </p:nvSpPr>
        <p:spPr>
          <a:xfrm>
            <a:off x="10012680" y="488289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012680" y="4882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756648" y="51937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退卡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341864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58" name="Oval 157"/>
          <p:cNvSpPr/>
          <p:nvPr/>
        </p:nvSpPr>
        <p:spPr>
          <a:xfrm>
            <a:off x="11274551" y="488289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274551" y="4882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018519" y="51937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取收據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596128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20040" y="5596128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20040" y="5596128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207008" y="564184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🚂 火車票購票機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207008" y="6071616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207008" y="607161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微軟正黑體"/>
              </a:rPr>
              <a:t>8 步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938528" y="607161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微軟正黑體"/>
              </a:rPr>
              <a:t>路線規劃・多步驟序列整合</a:t>
            </a:r>
          </a:p>
        </p:txBody>
      </p:sp>
      <p:sp>
        <p:nvSpPr>
          <p:cNvPr id="168" name="Oval 167"/>
          <p:cNvSpPr/>
          <p:nvPr/>
        </p:nvSpPr>
        <p:spPr>
          <a:xfrm>
            <a:off x="3703320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703320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47288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選出發站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032504" y="5797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72" name="Oval 171"/>
          <p:cNvSpPr/>
          <p:nvPr/>
        </p:nvSpPr>
        <p:spPr>
          <a:xfrm>
            <a:off x="4965192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965192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709160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選目的地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294376" y="5797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76" name="Oval 175"/>
          <p:cNvSpPr/>
          <p:nvPr/>
        </p:nvSpPr>
        <p:spPr>
          <a:xfrm>
            <a:off x="6227064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227064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971032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選票種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556248" y="5797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80" name="Oval 179"/>
          <p:cNvSpPr/>
          <p:nvPr/>
        </p:nvSpPr>
        <p:spPr>
          <a:xfrm>
            <a:off x="7488936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88936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232904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確認票價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818120" y="5797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84" name="Oval 183"/>
          <p:cNvSpPr/>
          <p:nvPr/>
        </p:nvSpPr>
        <p:spPr>
          <a:xfrm>
            <a:off x="8750808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750808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494776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付款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079992" y="5797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88" name="Oval 187"/>
          <p:cNvSpPr/>
          <p:nvPr/>
        </p:nvSpPr>
        <p:spPr>
          <a:xfrm>
            <a:off x="10012680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012680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756648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取票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341864" y="5797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92" name="Oval 191"/>
          <p:cNvSpPr/>
          <p:nvPr/>
        </p:nvSpPr>
        <p:spPr>
          <a:xfrm>
            <a:off x="11274551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1274551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7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018519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找零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603735" y="579729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微軟正黑體"/>
              </a:rPr>
              <a:t>→</a:t>
            </a:r>
          </a:p>
        </p:txBody>
      </p:sp>
      <p:sp>
        <p:nvSpPr>
          <p:cNvPr id="196" name="Oval 195"/>
          <p:cNvSpPr/>
          <p:nvPr/>
        </p:nvSpPr>
        <p:spPr>
          <a:xfrm>
            <a:off x="12536424" y="577900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2536424" y="57790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8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2280392" y="6089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微軟正黑體"/>
              </a:rPr>
              <a:t>完成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06  輔助點擊模式（Click Mode） ── 特教數位教材首創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精細動作障礙學生：任意位置點擊 → 自動執行下一個正確步驟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303520" cy="544068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latin typeface="微軟正黑體"/>
              </a:rPr>
              <a:t>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微軟正黑體"/>
              </a:rPr>
              <a:t>設計理念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傳統數位教材要求點擊特定目標元素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91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微軟正黑體"/>
              </a:rPr>
              <a:t>→ 精細動作障礙學生難以精確定位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363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輔助點擊模式：「位置無關」點擊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838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微軟正黑體"/>
              </a:rPr>
              <a:t>→ 只要在畫面任意位置點擊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313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微軟正黑體"/>
              </a:rPr>
              <a:t>→ 系統自動識別當前應執行的步驟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788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微軟正黑體"/>
              </a:rPr>
              <a:t>→ 並執行該步驟的正確操作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360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效果等同「教師手把手協助」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834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但完全由學生主動觸發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115568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80760" y="13716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188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微軟正黑體"/>
              </a:rPr>
              <a:t>全 18 單元支援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591056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所有教學單元皆可啟用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設定頁一鍵開關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468880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80760" y="2724912"/>
            <a:ext cx="640080" cy="640080"/>
          </a:xfrm>
          <a:prstGeom prst="ellipse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27249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5420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微軟正黑體"/>
              </a:rPr>
              <a:t>三種難度均支援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944368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簡單/普通/困難模式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均可搭配輔助點擊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3822191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80760" y="4078223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4078223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895343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步驟自動推進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297679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每次點擊執行下一步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不需精確定位目標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5175503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80760" y="5431535"/>
            <a:ext cx="640080" cy="6400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5431535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24865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IEP 評量保留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650991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輔助模式下仍記錄操作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用於形成性評量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1078992"/>
            <a:ext cx="283464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1078992"/>
            <a:ext cx="2834640" cy="4572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111556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適用學生類型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164592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1691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微軟正黑體"/>
              </a:rPr>
              <a:t>腦性麻痺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0574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上肢動作控制困難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難以精確點擊小目標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2724912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27706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微軟正黑體"/>
              </a:rPr>
              <a:t>多重障礙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13639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精細動作合併認知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需要高度結構支持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3803904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38496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發展遲緩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2153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觸控操作尚在建立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需要成功經驗鼓勵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4882896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49286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視覺動作整合困難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29437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難以手眼協調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微軟正黑體"/>
              </a:rPr>
              <a:t>定位特定目標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完整配套系統 ── 四大輔助模組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788920" cy="5440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2788920" cy="47548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06424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微軟正黑體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微軟正黑體"/>
              </a:rPr>
              <a:t>配套作業單系統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" y="2103120"/>
            <a:ext cx="2386584" cy="0"/>
          </a:xfrm>
          <a:prstGeom prst="line">
            <a:avLst/>
          </a:prstGeom>
          <a:ln w="1016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4632" y="219456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18 個單元 × 10 種題型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58775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一鍵列印 / PDF 下載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8094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微軟正黑體"/>
              </a:rPr>
              <a:t>題型包含：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7413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看圖填空（幣值辨識）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76732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找零計算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16052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付款組合選擇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55371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序列排序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94690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問答計算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534009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完整對應 IEP 評量記錄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2" y="1078992"/>
            <a:ext cx="2788920" cy="5440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3552" y="1078992"/>
            <a:ext cx="2788920" cy="47548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3552" y="1106424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微軟正黑體"/>
              </a:rP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160020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微軟正黑體"/>
              </a:rPr>
              <a:t>獎勵積分系統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0" y="2103120"/>
            <a:ext cx="2386584" cy="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38144" y="219456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獨立模組（reward/）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258775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功能：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8144" y="298094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學生照片管理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8144" y="337413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個人積分累計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376732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課堂即時頒獎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416052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積分記錄查詢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8144" y="455371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整合 IEP 行為正增強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8144" y="494690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教師課堂即時操作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064" y="1078992"/>
            <a:ext cx="2788920" cy="5440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7064" y="1078992"/>
            <a:ext cx="2788920" cy="47548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1106424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微軟正黑體"/>
              </a:rPr>
              <a:t>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4" y="160020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63EB"/>
                </a:solidFill>
                <a:latin typeface="微軟正黑體"/>
              </a:rPr>
              <a:t>全程語音引導系統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28232" y="2103120"/>
            <a:ext cx="2386584" cy="0"/>
          </a:xfrm>
          <a:prstGeom prst="line">
            <a:avLst/>
          </a:prstGeom>
          <a:ln w="1016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91656" y="219456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Web Speech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258775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Microsoft 雅婷優先（Windows）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298094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台灣語境金額唸法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337413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（「兩百元」非「二百元」）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376732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即時讚美語音回饋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416052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錯誤提示語音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455371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步驟引導語音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494690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完全離線語音支援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0576" y="1078992"/>
            <a:ext cx="2788920" cy="5440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80576" y="1078992"/>
            <a:ext cx="2788920" cy="475488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0576" y="1106424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微軟正黑體"/>
              </a:rPr>
              <a:t>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0576" y="160020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微軟正黑體"/>
              </a:rPr>
              <a:t>深色模式 / 無障礙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81744" y="2103120"/>
            <a:ext cx="2386584" cy="0"/>
          </a:xfrm>
          <a:prstGeom prst="line">
            <a:avLst/>
          </a:prstGeom>
          <a:ln w="1016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45168" y="219456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全 18 單元支援深色模式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258775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微軟正黑體"/>
              </a:rPr>
              <a:t>適合：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45168" y="298094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視覺敏感學生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5168" y="337413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視覺疲勞情況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376732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微軟正黑體"/>
              </a:rPr>
              <a:t>  • 弱視輔助需求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45168" y="4160520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一鍵切換，無需重載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455371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跨裝置保持設定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494690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零額外安裝費用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07  三段式學習歷程設計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數位模擬練習 → 紙本形成性評量 → 實地類化應用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3749039" cy="553212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317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40" y="1170432"/>
            <a:ext cx="1005840" cy="1005840"/>
          </a:xfrm>
          <a:prstGeom prst="ellipse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17043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第一段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  <a:latin typeface="微軟正黑體"/>
              </a:rPr>
              <a:t>數位模擬練習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249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課堂主軸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108960"/>
            <a:ext cx="3200400" cy="0"/>
          </a:xfrm>
          <a:prstGeom prst="line">
            <a:avLst/>
          </a:prstGeom>
          <a:ln w="1524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21208" y="3346704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軟體情境操作（18 個互動單元）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3785616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65760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即時觀察學生錯誤類型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4224528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9651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三種難度對應個別需求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4663440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535424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輔助點擊支援精細動作障礙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5102352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974336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提供教師調整教學策略依據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" y="5541264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41324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記錄：答對題數 / 嘗試次數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5925312"/>
            <a:ext cx="3419856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961888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63EB"/>
                </a:solidFill>
                <a:latin typeface="微軟正黑體"/>
              </a:rPr>
              <a:t>💻  主要工具：平板電腦 / Windows 電腦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1078992"/>
            <a:ext cx="3749039" cy="553212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41848" y="1170432"/>
            <a:ext cx="1005840" cy="10058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41848" y="117043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第二段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226771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7A55"/>
                </a:solidFill>
                <a:latin typeface="微軟正黑體"/>
              </a:rPr>
              <a:t>紙本形成性評量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7249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課後作業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44568" y="3108960"/>
            <a:ext cx="3200400" cy="0"/>
          </a:xfrm>
          <a:prstGeom prst="line">
            <a:avLst/>
          </a:prstGeom>
          <a:ln w="152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471416" y="3346704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321868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列印對應作業單（18 單元備有）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71416" y="3785616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4296" y="365760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每單元 10 種題型可選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71416" y="4224528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4296" y="409651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PDF 下載或直接列印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71416" y="4663440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4535424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評估數位學習是否遷移至紙筆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71416" y="5102352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54296" y="4974336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結果可記入 IEP 形成性評量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71416" y="5541264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4296" y="541324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教師可依能力調整題數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5925312"/>
            <a:ext cx="3419856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4568" y="5961888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微軟正黑體"/>
              </a:rPr>
              <a:t>📄  主要工具：作業單 / 評量記錄表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0456" y="1078992"/>
            <a:ext cx="3749039" cy="553212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92056" y="1170432"/>
            <a:ext cx="1005840" cy="10058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92056" y="117043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第三段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456" y="226771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2410C"/>
                </a:solidFill>
                <a:latin typeface="微軟正黑體"/>
              </a:rPr>
              <a:t>實地類化應用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0456" y="27249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社區轉銜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94776" y="3108960"/>
            <a:ext cx="3200400" cy="0"/>
          </a:xfrm>
          <a:prstGeom prst="line">
            <a:avLst/>
          </a:prstGeom>
          <a:ln w="152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421624" y="3346704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4504" y="321868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真實社區場景操作演練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21624" y="3785616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4504" y="365760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行為檢核表記錄達成程度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21624" y="4224528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04504" y="409651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教師逐步褪除支持策略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21624" y="4663440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04504" y="4535424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最終目標：教師 3 公尺外觀察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5102352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04504" y="4974336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達成完全獨立操作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21624" y="5541264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04504" y="541324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微軟正黑體"/>
              </a:rPr>
              <a:t>作為 IEP 轉銜評估依據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85048" y="5925312"/>
            <a:ext cx="3419856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94776" y="5961888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微軟正黑體"/>
              </a:rPr>
              <a:t>🏘️  場景：超市 / 便利商店 / ATM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87952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4748B"/>
                </a:solidFill>
                <a:latin typeface="微軟正黑體"/>
              </a:rPr>
              <a:t>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4748B"/>
                </a:solidFill>
                <a:latin typeface="微軟正黑體"/>
              </a:rPr>
              <a:t>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08  課程法規依據與 IEP 對應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91440" cy="1664208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25296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17043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微軟正黑體"/>
              </a:rPr>
              <a:t>特殊教育法 第 28 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應為身心障礙學生訂定 IEP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20440" y="1252728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30168" y="1188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微軟正黑體"/>
              </a:rPr>
              <a:t>本軟體對應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4996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各單元提供 IEP 年度目標範本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836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提供評量基準與記錄工具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267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直接對應轉銜目標格式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115568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115568"/>
            <a:ext cx="91440" cy="1664208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225296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17043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微軟正黑體"/>
              </a:rPr>
              <a:t>特殊需求領域課綱</a:t>
            </a:r>
          </a:p>
          <a:p>
            <a:pPr algn="l"/>
            <a:r>
              <a:rPr sz="1250" b="1">
                <a:solidFill>
                  <a:srgbClr val="EA580C"/>
                </a:solidFill>
                <a:latin typeface="微軟正黑體"/>
              </a:rPr>
              <a:t>生活管理・財務管理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生管-Ⅳ-E-1 認識貨幣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生管-Ⅳ-E-2 選取幣值付款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生管-Ⅳ-E-3 驗收找零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生管-Ⅳ-F-1 使用自動化設備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45752" y="1252728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55480" y="1188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微軟正黑體"/>
              </a:rPr>
              <a:t>本軟體對應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4996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F/C/A 三系列 18 單元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836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完整對應財務管理序階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267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B 系列延伸預算規劃主題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98648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898648"/>
            <a:ext cx="91440" cy="166420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008376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295351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263EB"/>
                </a:solidFill>
                <a:latin typeface="微軟正黑體"/>
              </a:rPr>
              <a:t>身心障礙者權利公約</a:t>
            </a:r>
          </a:p>
          <a:p>
            <a:pPr algn="l"/>
            <a:r>
              <a:rPr sz="1250" b="1">
                <a:solidFill>
                  <a:srgbClr val="2263EB"/>
                </a:solidFill>
                <a:latin typeface="微軟正黑體"/>
              </a:rPr>
              <a:t>CRPD 第 9・19 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無障礙近用設施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獨立生活於社區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20440" y="3035808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30168" y="2971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63EB"/>
                </a:solidFill>
                <a:latin typeface="微軟正黑體"/>
              </a:rPr>
              <a:t>本軟體對應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32826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輔助點擊消除動作障礙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168" y="3666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A 系列六種真實社區場景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4050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服務 IEP 轉銜社區獨立目標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2898648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45352" y="2898648"/>
            <a:ext cx="91440" cy="166420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9944" y="3008376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95351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微軟正黑體"/>
              </a:rPr>
              <a:t>十二年國教課綱總綱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自主行動・社會參與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核心素養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3035808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555480" y="2971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微軟正黑體"/>
              </a:rPr>
              <a:t>本軟體對應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2826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A 系列社區真實場景應用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666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F 系列數學概念建構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050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跨領域融合設計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681728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4681728"/>
            <a:ext cx="91440" cy="166420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" y="4791456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⚖️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" y="473659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  <a:latin typeface="微軟正黑體"/>
              </a:rPr>
              <a:t>高中以下特教</a:t>
            </a:r>
          </a:p>
          <a:p>
            <a:pPr algn="l"/>
            <a:r>
              <a:rPr sz="1250" b="1">
                <a:solidFill>
                  <a:srgbClr val="7C3AED"/>
                </a:solidFill>
                <a:latin typeface="微軟正黑體"/>
              </a:rPr>
              <a:t>教材教法評量辦法 第 6 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394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教材應符合學生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個別學習需求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20440" y="4818888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30168" y="47548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微軟正黑體"/>
              </a:rPr>
              <a:t>本軟體對應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0168" y="50657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三種難度 × 輔助點擊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54498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支援個別化差異教學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30168" y="5833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完全免費、無授權費用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45352" y="4681728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45352" y="4681728"/>
            <a:ext cx="91440" cy="166420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9944" y="4791456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473659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微軟正黑體"/>
              </a:rPr>
              <a:t>十二年國教</a:t>
            </a:r>
          </a:p>
          <a:p>
            <a:pPr algn="l"/>
            <a:r>
              <a:rPr sz="1250" b="1">
                <a:solidFill>
                  <a:srgbClr val="D97706"/>
                </a:solidFill>
                <a:latin typeface="微軟正黑體"/>
              </a:rPr>
              <a:t>特殊需求領域課綱（2019）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5394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財務管理主題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微軟正黑體"/>
              </a:rPr>
              <a:t>頁 45–52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445752" y="4818888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555480" y="47548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微軟正黑體"/>
              </a:rPr>
              <a:t>本軟體對應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50657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系統性對應課綱架構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54498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提供教學目標與評量規準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5480" y="5833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✓ 可作教師自我效能評估依據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09  試教觀察 ── 類化窗口的關鍵時刻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1078992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微軟正黑體"/>
              </a:rPr>
              <a:t>🔬  共同轉折點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170432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學生在第 5～7 次軟體操作後，開始在啟動前主動低聲說出下一步名稱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5448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微軟正黑體"/>
              </a:rPr>
              <a:t>→ 程序性記憶語言化的信號，也是類化窗口即將開啟的前兆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31720"/>
            <a:ext cx="5669280" cy="41879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31720"/>
            <a:ext cx="5669280" cy="45720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682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</a:rPr>
              <a:t>A2  自閉症學生的突破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85292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試教背景：曾因等待焦慮情緒失調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2004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         一學期拒絕接觸相關學習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547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第三節社區實地操作：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89534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微軟正黑體"/>
              </a:rPr>
              <a:t>→ 面對真實理髮廳觸控機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24281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微軟正黑體"/>
              </a:rPr>
              <a:t>→ 獨立完成完整付款流程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59028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微軟正黑體"/>
              </a:rPr>
              <a:t>→ 等待期間主動說：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9377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  <a:latin typeface="微軟正黑體"/>
              </a:rPr>
              <a:t>   「我是 7 號，還沒叫到我，我要繼續等。」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563270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意義：不只技能習得，更是社交規範的內化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2999232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微軟正黑體"/>
              </a:rPr>
              <a:t>⭐ 跨越性成長指標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8" y="3566160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602736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• 等待行為建立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8" y="4133087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4169663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• 主動語言表達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8808" y="4700016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4736592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• 情境焦慮顯著下降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331720"/>
            <a:ext cx="5669280" cy="41879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5352" y="2331720"/>
            <a:ext cx="5669280" cy="45720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3682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</a:rPr>
              <a:t>A1  拒絕接觸設備長達六個月的學生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85292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試教背景：多次在真實販賣機失敗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004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         主動繞道迴避所有自助設備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547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完成軟體 15 次練習後：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9534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2263EB"/>
                </a:solidFill>
                <a:latin typeface="微軟正黑體"/>
              </a:rPr>
              <a:t>→ 採用「先投幣後選商品」模式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24281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2263EB"/>
                </a:solidFill>
                <a:latin typeface="微軟正黑體"/>
              </a:rPr>
              <a:t>→ 第一次在真實販賣機前完整購買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59028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2263EB"/>
                </a:solidFill>
                <a:latin typeface="微軟正黑體"/>
              </a:rPr>
              <a:t>→ 購買完成後主動說：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9377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  <a:latin typeface="微軟正黑體"/>
              </a:rPr>
              <a:t>   「我下次自己來。」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63270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意義：從「情境迴避」到「主動自信」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2999232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7272" y="30358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63EB"/>
                </a:solidFill>
                <a:latin typeface="微軟正黑體"/>
              </a:rPr>
              <a:t>⭐ 突破性轉化指標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3566160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77272" y="3602736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• 情境迴避行為消除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20" y="4133087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77272" y="4169663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• 主動自信表達建立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4700016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77272" y="4736592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• 獨立操作意願確立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10  預期成效指標 ── 三層面 × 短中長期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078992"/>
            <a:ext cx="2926080" cy="457200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097280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軟正黑體"/>
              </a:rPr>
              <a:t>短期（1～2 個月）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1" y="1078992"/>
            <a:ext cx="2926080" cy="45720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1" y="1097280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軟正黑體"/>
              </a:rPr>
              <a:t>中期（3～6 個月）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61704" y="1078992"/>
            <a:ext cx="2926080" cy="4572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1704" y="1097280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軟正黑體"/>
              </a:rPr>
              <a:t>長期（6 個月以上）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2468880" cy="1627632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68249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微軟正黑體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3042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63EB"/>
                </a:solidFill>
                <a:latin typeface="微軟正黑體"/>
              </a:rPr>
              <a:t>認知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572768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773936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9 種面額正確辨識 ≥ 80%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能說出各 A 系列操作步驟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1" y="1572768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3" y="1773936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找零計算正確率 ≥ 70%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能跨情境類化付款概念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4" y="1572768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773936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能向他人說明消費流程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理解金融安全概念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91839"/>
            <a:ext cx="2468880" cy="1627632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401567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微軟正黑體"/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023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微軟正黑體"/>
              </a:rPr>
              <a:t>技能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3291839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493007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A1～A3 普通模式完成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C4 付款 5 次正確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71031" y="3291839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3" y="3493007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A4～A6 普通模式完成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ATM 提款獨立操作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1704" y="3291839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6296" y="3493007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真實場景（理髮廳/超市/ATM）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獨立完成全流程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10912"/>
            <a:ext cx="2468880" cy="1627632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120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微軟正黑體"/>
              </a:rPr>
              <a:t>❤️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7424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微軟正黑體"/>
              </a:rPr>
              <a:t>情意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5010912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4952" y="5212080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面對自助設備焦慮降低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主動要求練習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71031" y="5010912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3" y="5212080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不再迴避社區場景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主動啟動操作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61704" y="5010912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26296" y="5212080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建立社區消費自主信心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微軟正黑體"/>
              </a:rPr>
              <a:t>積極規劃獨立生活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11  技術規格與無障礙設計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F"/>
                </a:solidFill>
                <a:latin typeface="微軟正黑體"/>
              </a:rPr>
              <a:t>Technical Specifications &amp; Accessibility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開發技術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7099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HTML5 / CSS3 / JavaScript（ES6+）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無需安裝任何外掛程式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11556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11556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2984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程式規模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7099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18 個主程式，超過 15 萬行程式碼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研發歷時約 4 個月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11556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11556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2984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支援裝置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7099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Windows 電腦（推薦）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iPad / Android 平板（9.7 吋以上）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9864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89864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815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0815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支援瀏覽器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49300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Google Chrome / Microsoft Edge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（最新版）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289864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289864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30815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0815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離線支援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49300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完整支援完全離線使用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首次語音啟動後不需網路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289864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6" y="289864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30815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30815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語音引擎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349300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Web Speech API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優先 Microsoft 雅婷（台灣中文）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台灣語境金額唸法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8172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68172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646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🖱️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864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輔助點擊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527608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全 18 單元支援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精細動作障礙學生任意位置點擊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自動執行正確步驟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468172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0248" y="468172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48646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864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深色模式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27608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全 18 單元支援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適合視覺敏感或視覺疲勞學生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一鍵切換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0456" y="4681728"/>
            <a:ext cx="3749039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0456" y="4681728"/>
            <a:ext cx="3749039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7616" y="48646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5128" y="4864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製作費用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5128" y="527608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新臺幣 0 元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教師自主研發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微軟正黑體"/>
              </a:rPr>
              <a:t>無任何商業授權費用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12  核心創新總結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Arial"/>
              </a:rPr>
              <a:t>Key Innovations ── 四大首創特色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1115568"/>
            <a:ext cx="11292840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1480" y="1234440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640080" cy="237744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307592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63EB"/>
                </a:solidFill>
                <a:latin typeface="微軟正黑體"/>
              </a:rPr>
              <a:t>全台首套三層次序階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1783080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63EB"/>
                </a:solidFill>
                <a:latin typeface="微軟正黑體"/>
              </a:rPr>
              <a:t>數位金融素養課程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24712" y="2313432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24712" y="2423160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F→C→A 三系列 18 個互動教學單元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807208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系統覆蓋「數學先備→貨幣認知→情境類化」完整序列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191256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每系列 6 單元，每單元三種難度 × 輔助點擊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34440"/>
            <a:ext cx="640080" cy="237744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40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1307592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微軟正黑體"/>
              </a:rPr>
              <a:t>輔助點擊模式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1783080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微軟正黑體"/>
              </a:rPr>
              <a:t>（特教數位教材首創）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76872" y="2313432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76872" y="2423160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精細動作障礙學生「任意位置點擊」即自動執行正確步驟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807208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全 18 單元支援，消除動作能力門檻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91256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讓操作能力不等於學習機會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49039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749039"/>
            <a:ext cx="640080" cy="2377440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749039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3822191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  <a:latin typeface="微軟正黑體"/>
              </a:rPr>
              <a:t>六種台灣在地化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4297679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  <a:latin typeface="微軟正黑體"/>
              </a:rPr>
              <a:t>真實情境仿真介面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24712" y="4828031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24712" y="4937759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自動販賣機・理髮廳自助機・速食店點餐機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5321807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超市購物・ATM・台鐵購票機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5705855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台灣在地化設備外觀 + 真實費率 + 完整操作流程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749039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749039"/>
            <a:ext cx="640080" cy="237744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749039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3822191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微軟正黑體"/>
              </a:rPr>
              <a:t>完整配套系統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4297679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微軟正黑體"/>
              </a:rPr>
              <a:t>對應 IEP 各功能向度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76872" y="4828031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76872" y="4937759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作業單系統（18 × 10 題型）× 獎勵積分模組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5321807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全程語音引導 × 深色模式 × PDF 下載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5705855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軟正黑體"/>
              </a:rPr>
              <a:t>教師可直接用於 IEP 評量記錄與轉銜規劃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6327648"/>
            <a:ext cx="11338560" cy="411480"/>
          </a:xfrm>
          <a:prstGeom prst="roundRect">
            <a:avLst>
              <a:gd name="adj" fmla="val 10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345936"/>
            <a:ext cx="11338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微軟正黑體"/>
              </a:rPr>
              <a:t>身心障礙類・國民中學及高級中等學校組  ｜  製作費用 NT$0  ｜  完全離線・免安裝  ｜  中華民國 115 年 3 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軟正黑體"/>
              </a:rPr>
              <a:t>18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