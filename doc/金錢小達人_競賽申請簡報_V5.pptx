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43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C8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19456"/>
            <a:ext cx="3749039" cy="6638544"/>
          </a:xfrm>
          <a:prstGeom prst="rect">
            <a:avLst/>
          </a:prstGeom>
          <a:solidFill>
            <a:srgbClr val="143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463040"/>
            <a:ext cx="3749039" cy="1143000"/>
          </a:xfrm>
          <a:prstGeom prst="rect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463040"/>
            <a:ext cx="3749039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743200"/>
            <a:ext cx="3749039" cy="1143000"/>
          </a:xfrm>
          <a:prstGeom prst="rect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743200"/>
            <a:ext cx="3749039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023360"/>
            <a:ext cx="3749039" cy="1143000"/>
          </a:xfrm>
          <a:prstGeom prst="rect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023360"/>
            <a:ext cx="3749039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303520"/>
            <a:ext cx="3749039" cy="1143000"/>
          </a:xfrm>
          <a:prstGeom prst="rect">
            <a:avLst/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303520"/>
            <a:ext cx="3749039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0" y="1572768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icrosoft JhengHei"/>
              </a:rPr>
              <a:t>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2852928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icrosoft JhengHe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4133087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icrosoft JhengHei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5413248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190195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4FF"/>
                </a:solidFill>
                <a:latin typeface="Microsoft JhengHei"/>
              </a:rPr>
              <a:t>數學先備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318211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F2E2"/>
                </a:solidFill>
                <a:latin typeface="Microsoft JhengHei"/>
              </a:rPr>
              <a:t>貨幣認知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446227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E0CC"/>
                </a:solidFill>
                <a:latin typeface="Microsoft JhengHei"/>
              </a:rPr>
              <a:t>情境類化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574243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D8FF"/>
                </a:solidFill>
                <a:latin typeface="Microsoft JhengHei"/>
              </a:rPr>
              <a:t>預算規劃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77639" y="347472"/>
            <a:ext cx="7955279" cy="384048"/>
          </a:xfrm>
          <a:prstGeom prst="roundRect">
            <a:avLst>
              <a:gd name="adj" fmla="val 22000"/>
            </a:avLst>
          </a:prstGeom>
          <a:solidFill>
            <a:srgbClr val="D6E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39" y="347472"/>
            <a:ext cx="7955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43D6F"/>
                </a:solidFill>
                <a:latin typeface="Microsoft JhengHei"/>
              </a:rPr>
              <a:t>第八屆教育部獎助研發特殊教育教材教具競賽　·　身心障礙類　·　國民中學及高級中等學校組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932688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143D6F"/>
                </a:solidFill>
                <a:latin typeface="Microsoft JhengHei"/>
              </a:rPr>
              <a:t>金錢小達人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1920240"/>
            <a:ext cx="7955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04310"/>
                </a:solidFill>
                <a:latin typeface="Microsoft JhengHei"/>
              </a:rPr>
              <a:t>互動式特殊教育生活數學暨金融素養教學軟體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2395728"/>
            <a:ext cx="7955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Arial"/>
              </a:rPr>
              <a:t>Money Tutor: Interactive Software for Financial Literacy in Special Education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977639" y="2816352"/>
            <a:ext cx="7863841" cy="0"/>
          </a:xfrm>
          <a:prstGeom prst="line">
            <a:avLst/>
          </a:prstGeom>
          <a:ln w="19050">
            <a:solidFill>
              <a:srgbClr val="D8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977639" y="2907792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68B8"/>
                </a:solidFill>
                <a:latin typeface="Microsoft JhengHei"/>
              </a:rPr>
              <a:t>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39" y="331012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教學單元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68696" y="2907792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27A52"/>
                </a:solidFill>
                <a:latin typeface="Microsoft JhengHei"/>
              </a:rPr>
              <a:t>4 系列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68696" y="331012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課程序階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59752" y="2907792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04310"/>
                </a:solidFill>
                <a:latin typeface="Microsoft JhengHei"/>
              </a:rPr>
              <a:t>150,000+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59752" y="331012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程式碼行數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50808" y="2907792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6E28B4"/>
                </a:solidFill>
                <a:latin typeface="Microsoft JhengHei"/>
              </a:rPr>
              <a:t>NT$ 0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50808" y="331012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授權費用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41863" y="2907792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B786E"/>
                </a:solidFill>
                <a:latin typeface="Microsoft JhengHei"/>
              </a:rPr>
              <a:t>完全離線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41863" y="331012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免安裝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977639" y="3657600"/>
            <a:ext cx="7863841" cy="0"/>
          </a:xfrm>
          <a:prstGeom prst="line">
            <a:avLst/>
          </a:prstGeom>
          <a:ln w="12700">
            <a:solidFill>
              <a:srgbClr val="D8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977639" y="3749039"/>
            <a:ext cx="7955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43D6F"/>
                </a:solidFill>
                <a:latin typeface="Microsoft JhengHei"/>
              </a:rPr>
              <a:t>🎯 適用對象　國中～高中特教班・資源班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77639" y="4059936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814"/>
                </a:solidFill>
                <a:latin typeface="Microsoft JhengHei"/>
              </a:rPr>
              <a:t>輕度至中度智能障礙・自閉症・學習障礙・多重障礙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77639" y="4480560"/>
            <a:ext cx="7955279" cy="384048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05655" y="4572000"/>
            <a:ext cx="769924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✦ 科技輔助教學軟體（HTML5）・免安裝・完全離線・授權費 0 元・原始碼完整開放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77639" y="5074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6B60"/>
                </a:solidFill>
                <a:latin typeface="Microsoft JhengHei"/>
              </a:rPr>
              <a:t>中華民國 115 年 3 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143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143D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簡報綱要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Table of Contents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1024128"/>
            <a:ext cx="376732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" y="1024128"/>
            <a:ext cx="82296" cy="1005840"/>
          </a:xfrm>
          <a:prstGeom prst="rect">
            <a:avLst/>
          </a:prstGeom>
          <a:solidFill>
            <a:srgbClr val="B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1556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82828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111556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814"/>
                </a:solidFill>
                <a:latin typeface="Microsoft JhengHei"/>
              </a:rPr>
              <a:t>設計動機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499616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6B60"/>
                </a:solidFill>
                <a:latin typeface="Microsoft JhengHei"/>
              </a:rPr>
              <a:t>特教現場三重結構性困境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024128"/>
            <a:ext cx="376732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1024128"/>
            <a:ext cx="82296" cy="1005840"/>
          </a:xfrm>
          <a:prstGeom prst="rect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11556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04310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3208" y="111556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814"/>
                </a:solidFill>
                <a:latin typeface="Microsoft JhengHei"/>
              </a:rPr>
              <a:t>設計理念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8" y="1499616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6B60"/>
                </a:solidFill>
                <a:latin typeface="Microsoft JhengHei"/>
              </a:rPr>
              <a:t>UDL × 工作分析 × 直接教學 × 融合三層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47888" y="1024128"/>
            <a:ext cx="376732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47888" y="1024128"/>
            <a:ext cx="82296" cy="1005840"/>
          </a:xfrm>
          <a:prstGeom prst="rect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11556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68B8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0848" y="111556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814"/>
                </a:solidFill>
                <a:latin typeface="Microsoft JhengHei"/>
              </a:rPr>
              <a:t>F 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0848" y="1499616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6B60"/>
                </a:solidFill>
                <a:latin typeface="Microsoft JhengHei"/>
              </a:rPr>
              <a:t>數學基礎先備 6 單元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" y="2148840"/>
            <a:ext cx="376732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2608" y="2148840"/>
            <a:ext cx="82296" cy="1005840"/>
          </a:xfrm>
          <a:prstGeom prst="rect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240280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27A52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224028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814"/>
                </a:solidFill>
                <a:latin typeface="Microsoft JhengHei"/>
              </a:rPr>
              <a:t>C 系列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262432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6B60"/>
                </a:solidFill>
                <a:latin typeface="Microsoft JhengHei"/>
              </a:rPr>
              <a:t>貨幣認知建立 6 單元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70248" y="2148840"/>
            <a:ext cx="376732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70248" y="2148840"/>
            <a:ext cx="82296" cy="1005840"/>
          </a:xfrm>
          <a:prstGeom prst="rect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40" y="2240280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04310"/>
                </a:solidFill>
                <a:latin typeface="Arial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93208" y="224028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814"/>
                </a:solidFill>
                <a:latin typeface="Microsoft JhengHei"/>
              </a:rPr>
              <a:t>A 系列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93208" y="262432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6B60"/>
                </a:solidFill>
                <a:latin typeface="Microsoft JhengHei"/>
              </a:rPr>
              <a:t>真實情境類化 6 單元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47888" y="2148840"/>
            <a:ext cx="376732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47888" y="2148840"/>
            <a:ext cx="82296" cy="1005840"/>
          </a:xfrm>
          <a:prstGeom prst="rect">
            <a:avLst/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2240280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E28B4"/>
                </a:solidFill>
                <a:latin typeface="Arial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70848" y="224028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814"/>
                </a:solidFill>
                <a:latin typeface="Microsoft JhengHei"/>
              </a:rPr>
              <a:t>B 系列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70848" y="262432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6B60"/>
                </a:solidFill>
                <a:latin typeface="Microsoft JhengHei"/>
              </a:rPr>
              <a:t>預算規劃延伸 6 單元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" y="3273552"/>
            <a:ext cx="376732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92608" y="3273552"/>
            <a:ext cx="82296" cy="1005840"/>
          </a:xfrm>
          <a:prstGeom prst="rect">
            <a:avLst/>
          </a:prstGeom>
          <a:solidFill>
            <a:srgbClr val="0B7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3364992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B786E"/>
                </a:solidFill>
                <a:latin typeface="Arial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" y="336499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814"/>
                </a:solidFill>
                <a:latin typeface="Microsoft JhengHei"/>
              </a:rPr>
              <a:t>輔助點擊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" y="3749040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6B60"/>
                </a:solidFill>
                <a:latin typeface="Microsoft JhengHei"/>
              </a:rPr>
              <a:t>精細動作障礙首創解方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70248" y="3273552"/>
            <a:ext cx="376732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70248" y="3273552"/>
            <a:ext cx="82296" cy="1005840"/>
          </a:xfrm>
          <a:prstGeom prst="rect">
            <a:avLst/>
          </a:prstGeom>
          <a:solidFill>
            <a:srgbClr val="C8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34840" y="3364992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88000"/>
                </a:solidFill>
                <a:latin typeface="Arial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93208" y="336499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814"/>
                </a:solidFill>
                <a:latin typeface="Microsoft JhengHei"/>
              </a:rPr>
              <a:t>三難度系統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93208" y="3749040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6B60"/>
                </a:solidFill>
                <a:latin typeface="Microsoft JhengHei"/>
              </a:rPr>
              <a:t>簡單 / 普通 / 困難完整比較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47888" y="3273552"/>
            <a:ext cx="376732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47888" y="3273552"/>
            <a:ext cx="82296" cy="1005840"/>
          </a:xfrm>
          <a:prstGeom prst="rect">
            <a:avLst/>
          </a:prstGeom>
          <a:solidFill>
            <a:srgbClr val="143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12480" y="3364992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43D6F"/>
                </a:solidFill>
                <a:latin typeface="Arial"/>
              </a:rPr>
              <a:t>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70848" y="336499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814"/>
                </a:solidFill>
                <a:latin typeface="Microsoft JhengHei"/>
              </a:rPr>
              <a:t>工作分析法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70848" y="3749040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6B60"/>
                </a:solidFill>
                <a:latin typeface="Microsoft JhengHei"/>
              </a:rPr>
              <a:t>步驟化教學流程圖解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2608" y="4398264"/>
            <a:ext cx="376732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92608" y="4398264"/>
            <a:ext cx="82296" cy="1005840"/>
          </a:xfrm>
          <a:prstGeom prst="rect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4489704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27A52"/>
                </a:solidFill>
                <a:latin typeface="Arial"/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5568" y="4489704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814"/>
                </a:solidFill>
                <a:latin typeface="Microsoft JhengHei"/>
              </a:rPr>
              <a:t>融合教育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5568" y="4873752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6B60"/>
                </a:solidFill>
                <a:latin typeface="Microsoft JhengHei"/>
              </a:rPr>
              <a:t>三層支持架構圖解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70248" y="4398264"/>
            <a:ext cx="376732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270248" y="4398264"/>
            <a:ext cx="82296" cy="1005840"/>
          </a:xfrm>
          <a:prstGeom prst="rect">
            <a:avLst/>
          </a:prstGeom>
          <a:solidFill>
            <a:srgbClr val="143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34840" y="4489704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43D6F"/>
                </a:solidFill>
                <a:latin typeface="Arial"/>
              </a:rPr>
              <a:t>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93208" y="4489704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814"/>
                </a:solidFill>
                <a:latin typeface="Microsoft JhengHei"/>
              </a:rPr>
              <a:t>IEP 對應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93208" y="4873752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6B60"/>
                </a:solidFill>
                <a:latin typeface="Microsoft JhengHei"/>
              </a:rPr>
              <a:t>課綱法規完整對應表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47888" y="4398264"/>
            <a:ext cx="376732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247888" y="4398264"/>
            <a:ext cx="82296" cy="1005840"/>
          </a:xfrm>
          <a:prstGeom prst="rect">
            <a:avLst/>
          </a:prstGeom>
          <a:solidFill>
            <a:srgbClr val="B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12480" y="4489704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82828"/>
                </a:solidFill>
                <a:latin typeface="Arial"/>
              </a:rPr>
              <a:t>12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70848" y="4489704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814"/>
                </a:solidFill>
                <a:latin typeface="Microsoft JhengHei"/>
              </a:rPr>
              <a:t>試教觀察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70848" y="4873752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6B60"/>
                </a:solidFill>
                <a:latin typeface="Microsoft JhengHei"/>
              </a:rPr>
              <a:t>三個案・類化窗口記錄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92608" y="5522976"/>
            <a:ext cx="376732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92608" y="5522976"/>
            <a:ext cx="82296" cy="1005840"/>
          </a:xfrm>
          <a:prstGeom prst="rect">
            <a:avLst/>
          </a:prstGeom>
          <a:solidFill>
            <a:srgbClr val="C8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5614416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88000"/>
                </a:solidFill>
                <a:latin typeface="Arial"/>
              </a:rPr>
              <a:t>13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15568" y="561441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814"/>
                </a:solidFill>
                <a:latin typeface="Microsoft JhengHei"/>
              </a:rPr>
              <a:t>預期成效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15568" y="5998464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6B60"/>
                </a:solidFill>
                <a:latin typeface="Microsoft JhengHei"/>
              </a:rPr>
              <a:t>學生・教師・學校三層面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70248" y="5522976"/>
            <a:ext cx="376732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270248" y="5522976"/>
            <a:ext cx="82296" cy="1005840"/>
          </a:xfrm>
          <a:prstGeom prst="rect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434840" y="5614416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68B8"/>
                </a:solidFill>
                <a:latin typeface="Arial"/>
              </a:rPr>
              <a:t>14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93208" y="561441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814"/>
                </a:solidFill>
                <a:latin typeface="Microsoft JhengHei"/>
              </a:rPr>
              <a:t>技術規格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93208" y="5998464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6B60"/>
                </a:solidFill>
                <a:latin typeface="Microsoft JhengHei"/>
              </a:rPr>
              <a:t>無障礙・作業單・獎勵系統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247888" y="5522976"/>
            <a:ext cx="376732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247888" y="5522976"/>
            <a:ext cx="82296" cy="1005840"/>
          </a:xfrm>
          <a:prstGeom prst="rect">
            <a:avLst/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412480" y="5614416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E28B4"/>
                </a:solidFill>
                <a:latin typeface="Arial"/>
              </a:rPr>
              <a:t>15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70848" y="561441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814"/>
                </a:solidFill>
                <a:latin typeface="Microsoft JhengHei"/>
              </a:rPr>
              <a:t>核心創新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70848" y="5998464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6B60"/>
                </a:solidFill>
                <a:latin typeface="Microsoft JhengHei"/>
              </a:rPr>
              <a:t>四大首創特色・結語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B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B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設計動機——特教現場三重結構性困境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壹、來自十五年特教現場的教材研發回應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3474720"/>
            <a:ext cx="11091672" cy="0"/>
          </a:xfrm>
          <a:prstGeom prst="line">
            <a:avLst/>
          </a:prstGeom>
          <a:ln w="31750">
            <a:solidFill>
              <a:srgbClr val="B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161288" y="3310128"/>
            <a:ext cx="329184" cy="329184"/>
          </a:xfrm>
          <a:prstGeom prst="ellipse">
            <a:avLst/>
          </a:prstGeom>
          <a:solidFill>
            <a:srgbClr val="B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90288" y="3310128"/>
            <a:ext cx="329184" cy="329184"/>
          </a:xfrm>
          <a:prstGeom prst="ellipse">
            <a:avLst/>
          </a:prstGeom>
          <a:solidFill>
            <a:srgbClr val="B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65008" y="3310128"/>
            <a:ext cx="329184" cy="329184"/>
          </a:xfrm>
          <a:prstGeom prst="ellipse">
            <a:avLst/>
          </a:prstGeom>
          <a:solidFill>
            <a:srgbClr val="B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" y="1078992"/>
            <a:ext cx="3767328" cy="22311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B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608" y="1078992"/>
            <a:ext cx="3767328" cy="438912"/>
          </a:xfrm>
          <a:prstGeom prst="roundRect">
            <a:avLst>
              <a:gd name="adj" fmla="val 0"/>
            </a:avLst>
          </a:prstGeom>
          <a:solidFill>
            <a:srgbClr val="B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113385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困境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1591056"/>
            <a:ext cx="349300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2828"/>
                </a:solidFill>
                <a:latin typeface="Microsoft JhengHei"/>
              </a:rPr>
              <a:t>交易序列
意義理解障礙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" y="2249424"/>
            <a:ext cx="3493008" cy="256032"/>
          </a:xfrm>
          <a:prstGeom prst="roundRect">
            <a:avLst>
              <a:gd name="adj" fmla="val 22000"/>
            </a:avLst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2249424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82828"/>
                </a:solidFill>
                <a:latin typeface="Microsoft JhengHei"/>
              </a:rPr>
              <a:t>小涵（14歲，輕度智能障礙）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2578608"/>
            <a:ext cx="34015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能算 100−35=65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卻無法連結「我的錢」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與「這個多少錢」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" y="3639312"/>
            <a:ext cx="3767328" cy="914400"/>
          </a:xfrm>
          <a:prstGeom prst="roundRect">
            <a:avLst>
              <a:gd name="adj" fmla="val 8000"/>
            </a:avLst>
          </a:prstGeom>
          <a:solidFill>
            <a:srgbClr val="FDE8E8"/>
          </a:solidFill>
          <a:ln w="15240">
            <a:solidFill>
              <a:srgbClr val="B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3749039"/>
            <a:ext cx="340156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2828"/>
                </a:solidFill>
                <a:latin typeface="Microsoft JhengHei"/>
              </a:rPr>
              <a:t>▶ 靜態計算≠動態交易 序列意義理解障礙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0248" y="1078992"/>
            <a:ext cx="3767328" cy="22311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70248" y="1078992"/>
            <a:ext cx="3767328" cy="438912"/>
          </a:xfrm>
          <a:prstGeom prst="roundRect">
            <a:avLst>
              <a:gd name="adj" fmla="val 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07408" y="113385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困境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1591056"/>
            <a:ext cx="349300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4310"/>
                </a:solidFill>
                <a:latin typeface="Microsoft JhengHei"/>
              </a:rPr>
              <a:t>安全練習
場域長期缺位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07408" y="2249424"/>
            <a:ext cx="3493008" cy="256032"/>
          </a:xfrm>
          <a:prstGeom prst="roundRect">
            <a:avLst>
              <a:gd name="adj" fmla="val 22000"/>
            </a:avLst>
          </a:prstGeom>
          <a:solidFill>
            <a:srgbClr val="FDE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07408" y="2249424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04310"/>
                </a:solidFill>
                <a:latin typeface="Microsoft JhengHei"/>
              </a:rPr>
              <a:t>小俊（輕度自閉症）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3128" y="2578608"/>
            <a:ext cx="34015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速食店選擇迴路→情緒失調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此後一學期拒絕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接觸相關學習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70248" y="3639312"/>
            <a:ext cx="3767328" cy="914400"/>
          </a:xfrm>
          <a:prstGeom prst="roundRect">
            <a:avLst>
              <a:gd name="adj" fmla="val 8000"/>
            </a:avLst>
          </a:prstGeom>
          <a:solidFill>
            <a:srgbClr val="FDE7D5"/>
          </a:solidFill>
          <a:ln w="1524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53128" y="3749039"/>
            <a:ext cx="340156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4310"/>
                </a:solidFill>
                <a:latin typeface="Microsoft JhengHei"/>
              </a:rPr>
              <a:t>▶ 真實環境試誤風險過高 需要「失敗零後果」 的安全練習場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47888" y="1078992"/>
            <a:ext cx="3767328" cy="22311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47888" y="1078992"/>
            <a:ext cx="3767328" cy="438912"/>
          </a:xfrm>
          <a:prstGeom prst="roundRect">
            <a:avLst>
              <a:gd name="adj" fmla="val 0"/>
            </a:avLst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5048" y="113385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困境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5048" y="1591056"/>
            <a:ext cx="349300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E28B4"/>
                </a:solidFill>
                <a:latin typeface="Microsoft JhengHei"/>
              </a:rPr>
              <a:t>系統性課程
工具十年缺口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85048" y="2249424"/>
            <a:ext cx="3493008" cy="256032"/>
          </a:xfrm>
          <a:prstGeom prst="roundRect">
            <a:avLst>
              <a:gd name="adj" fmla="val 22000"/>
            </a:avLst>
          </a:prstGeom>
          <a:solidFill>
            <a:srgbClr val="EED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85048" y="2249424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E28B4"/>
                </a:solidFill>
                <a:latin typeface="Microsoft JhengHei"/>
              </a:rPr>
              <a:t>課綱 vs 市場現況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0768" y="2578608"/>
            <a:ext cx="34015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生管-Ⅳ-E-1/F-1/E-4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已明列財務管理主題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市場無對應互動軟體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47888" y="3639312"/>
            <a:ext cx="3767328" cy="914400"/>
          </a:xfrm>
          <a:prstGeom prst="roundRect">
            <a:avLst>
              <a:gd name="adj" fmla="val 8000"/>
            </a:avLst>
          </a:prstGeom>
          <a:solidFill>
            <a:srgbClr val="EEDFFB"/>
          </a:solidFill>
          <a:ln w="1524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30768" y="3749039"/>
            <a:ext cx="340156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E28B4"/>
                </a:solidFill>
                <a:latin typeface="Microsoft JhengHei"/>
              </a:rPr>
              <a:t>▶ 課綱要求明確 系統性數位工具 缺口長達十年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8" y="4736592"/>
            <a:ext cx="11612880" cy="384048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4" y="4828032"/>
            <a:ext cx="11356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✦ 三重困境的共同本質：特殊需求學生需要「步驟化引導」「安全試誤」「系統化工具」三位一體的解方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2608" y="5285232"/>
            <a:ext cx="11612880" cy="822960"/>
          </a:xfrm>
          <a:prstGeom prst="roundRect">
            <a:avLst>
              <a:gd name="adj" fmla="val 8000"/>
            </a:avLst>
          </a:prstGeom>
          <a:solidFill>
            <a:srgbClr val="D6E6F7"/>
          </a:solidFill>
          <a:ln w="19050">
            <a:solidFill>
              <a:srgbClr val="143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53492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3D6F"/>
                </a:solidFill>
                <a:latin typeface="Microsoft JhengHei"/>
              </a:rPr>
              <a:t>→ 解方：金錢小達人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537667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3D6F"/>
                </a:solidFill>
                <a:latin typeface="Microsoft JhengHei"/>
              </a:rPr>
              <a:t>🔢 步驟化工作分析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0" y="537667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3D6F"/>
                </a:solidFill>
                <a:latin typeface="Microsoft JhengHei"/>
              </a:rPr>
              <a:t>🛡️ 安全數位練習環境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0960" y="537667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3D6F"/>
                </a:solidFill>
                <a:latin typeface="Microsoft JhengHei"/>
              </a:rPr>
              <a:t>📚 24單元系統課程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537667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3D6F"/>
                </a:solidFill>
                <a:latin typeface="Microsoft JhengHei"/>
              </a:rPr>
              <a:t>🖱️ 輔助點擊無障礙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C043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設計理念——四大教育理論支柱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貳、UDL × 工作分析法 × 直接教學法 × 融合教育三層支持</a:t>
            </a:r>
          </a:p>
        </p:txBody>
      </p:sp>
      <p:sp>
        <p:nvSpPr>
          <p:cNvPr id="8" name="Oval 7"/>
          <p:cNvSpPr/>
          <p:nvPr/>
        </p:nvSpPr>
        <p:spPr>
          <a:xfrm>
            <a:off x="1298448" y="1051560"/>
            <a:ext cx="914400" cy="914400"/>
          </a:xfrm>
          <a:prstGeom prst="ellipse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8448" y="1078992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latin typeface="Microsoft JhengHei"/>
              </a:rPr>
              <a:t>🎯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2011680"/>
            <a:ext cx="2743200" cy="4297680"/>
          </a:xfrm>
          <a:prstGeom prst="roundRect">
            <a:avLst>
              <a:gd name="adj" fmla="val 10000"/>
            </a:avLst>
          </a:prstGeom>
          <a:solidFill>
            <a:srgbClr val="D6E9F8"/>
          </a:solidFill>
          <a:ln w="2286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2011680"/>
            <a:ext cx="2743200" cy="457200"/>
          </a:xfrm>
          <a:prstGeom prst="roundRect">
            <a:avLst>
              <a:gd name="adj" fmla="val 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048256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UDL
通用設計學習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6928" y="2542032"/>
            <a:ext cx="2377440" cy="0"/>
          </a:xfrm>
          <a:prstGeom prst="line">
            <a:avLst/>
          </a:prstGeom>
          <a:ln w="11430">
            <a:solidFill>
              <a:srgbClr val="1A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2615184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多元表徵（What）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多元行動與表達（How）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多元參與方式（Why）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" y="5029200"/>
            <a:ext cx="2487168" cy="438912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CAST 2018</a:t>
            </a:r>
          </a:p>
        </p:txBody>
      </p:sp>
      <p:sp>
        <p:nvSpPr>
          <p:cNvPr id="17" name="Oval 16"/>
          <p:cNvSpPr/>
          <p:nvPr/>
        </p:nvSpPr>
        <p:spPr>
          <a:xfrm>
            <a:off x="4270248" y="1051560"/>
            <a:ext cx="914400" cy="914400"/>
          </a:xfrm>
          <a:prstGeom prst="ellipse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0248" y="1078992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latin typeface="Microsoft JhengHei"/>
              </a:rPr>
              <a:t>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55848" y="2011680"/>
            <a:ext cx="2743200" cy="4297680"/>
          </a:xfrm>
          <a:prstGeom prst="roundRect">
            <a:avLst>
              <a:gd name="adj" fmla="val 10000"/>
            </a:avLst>
          </a:prstGeom>
          <a:solidFill>
            <a:srgbClr val="D2F0E4"/>
          </a:solidFill>
          <a:ln w="228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55848" y="2011680"/>
            <a:ext cx="2743200" cy="457200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55848" y="2048256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工作分析法
步驟化教學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538728" y="2542032"/>
            <a:ext cx="2377440" cy="0"/>
          </a:xfrm>
          <a:prstGeom prst="line">
            <a:avLst/>
          </a:prstGeom>
          <a:ln w="11430">
            <a:solidFill>
              <a:srgbClr val="127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520440" y="2615184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拆解設備操作序列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每步可單獨教學評量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對應 IEP 行為目標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83864" y="5029200"/>
            <a:ext cx="2487168" cy="438912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11880" y="5120640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Gold 1980 / Snell &amp; Brown 2011</a:t>
            </a:r>
          </a:p>
        </p:txBody>
      </p:sp>
      <p:sp>
        <p:nvSpPr>
          <p:cNvPr id="26" name="Oval 25"/>
          <p:cNvSpPr/>
          <p:nvPr/>
        </p:nvSpPr>
        <p:spPr>
          <a:xfrm>
            <a:off x="7242048" y="1051560"/>
            <a:ext cx="914400" cy="914400"/>
          </a:xfrm>
          <a:prstGeom prst="ellipse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42048" y="1078992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latin typeface="Microsoft JhengHei"/>
              </a:rPr>
              <a:t>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27648" y="2011680"/>
            <a:ext cx="2743200" cy="4297680"/>
          </a:xfrm>
          <a:prstGeom prst="roundRect">
            <a:avLst>
              <a:gd name="adj" fmla="val 10000"/>
            </a:avLst>
          </a:prstGeom>
          <a:solidFill>
            <a:srgbClr val="FDE7D5"/>
          </a:solidFill>
          <a:ln w="2286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27648" y="2011680"/>
            <a:ext cx="2743200" cy="457200"/>
          </a:xfrm>
          <a:prstGeom prst="roundRect">
            <a:avLst>
              <a:gd name="adj" fmla="val 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2048256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直接教學法
三階段難度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510528" y="2542032"/>
            <a:ext cx="2377440" cy="0"/>
          </a:xfrm>
          <a:prstGeom prst="line">
            <a:avLst/>
          </a:prstGeom>
          <a:ln w="11430">
            <a:solidFill>
              <a:srgbClr val="C043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492240" y="2615184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I 示範（簡單模式）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II 引導（普通模式）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III 獨立（困難模式）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55664" y="5029200"/>
            <a:ext cx="2487168" cy="438912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5120640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Engelmann &amp; Carnine 1982</a:t>
            </a:r>
          </a:p>
        </p:txBody>
      </p:sp>
      <p:sp>
        <p:nvSpPr>
          <p:cNvPr id="35" name="Oval 34"/>
          <p:cNvSpPr/>
          <p:nvPr/>
        </p:nvSpPr>
        <p:spPr>
          <a:xfrm>
            <a:off x="10213848" y="1051560"/>
            <a:ext cx="914400" cy="914400"/>
          </a:xfrm>
          <a:prstGeom prst="ellipse">
            <a:avLst/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13848" y="1078992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latin typeface="Microsoft JhengHei"/>
              </a:rPr>
              <a:t>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99448" y="2011680"/>
            <a:ext cx="2743200" cy="4297680"/>
          </a:xfrm>
          <a:prstGeom prst="roundRect">
            <a:avLst>
              <a:gd name="adj" fmla="val 10000"/>
            </a:avLst>
          </a:prstGeom>
          <a:solidFill>
            <a:srgbClr val="EEDFFB"/>
          </a:solidFill>
          <a:ln w="2286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99448" y="2011680"/>
            <a:ext cx="2743200" cy="457200"/>
          </a:xfrm>
          <a:prstGeom prst="roundRect">
            <a:avLst>
              <a:gd name="adj" fmla="val 0"/>
            </a:avLst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99448" y="2048256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融合教育
三層支持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482328" y="2542032"/>
            <a:ext cx="2377440" cy="0"/>
          </a:xfrm>
          <a:prstGeom prst="line">
            <a:avLst/>
          </a:prstGeom>
          <a:ln w="11430">
            <a:solidFill>
              <a:srgbClr val="6E2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464040" y="2615184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L1 普通班同步參與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L2 資源班強化練習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L3 自足班精熟學習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27464" y="5029200"/>
            <a:ext cx="2487168" cy="438912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55480" y="5120640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特殊教育法 §28・LRE 原則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4048" y="5577840"/>
            <a:ext cx="11430000" cy="475488"/>
          </a:xfrm>
          <a:prstGeom prst="roundRect">
            <a:avLst>
              <a:gd name="adj" fmla="val 7000"/>
            </a:avLst>
          </a:prstGeom>
          <a:solidFill>
            <a:srgbClr val="D6E6F7"/>
          </a:solidFill>
          <a:ln w="16510">
            <a:solidFill>
              <a:srgbClr val="143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565099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3D6F"/>
                </a:solidFill>
                <a:latin typeface="Microsoft JhengHei"/>
              </a:rPr>
              <a:t>🔗 整合原則：相同教材・相同目標方向，差異在「支持程度（Level of Support）」，實現最少限制環境（LRE）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1A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課程架構全覽——四系列 24 單元完整序階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三層遞進：數學基礎 → 貨幣認知 → 真實情境 → 預算規劃延伸</a:t>
            </a:r>
          </a:p>
        </p:txBody>
      </p:sp>
      <p:sp>
        <p:nvSpPr>
          <p:cNvPr id="8" name="Rectangle 7"/>
          <p:cNvSpPr/>
          <p:nvPr/>
        </p:nvSpPr>
        <p:spPr>
          <a:xfrm>
            <a:off x="2990088" y="1078992"/>
            <a:ext cx="9198864" cy="914400"/>
          </a:xfrm>
          <a:prstGeom prst="roundRect">
            <a:avLst>
              <a:gd name="adj" fmla="val 7000"/>
            </a:avLst>
          </a:prstGeom>
          <a:solidFill>
            <a:srgbClr val="EEDFFB"/>
          </a:solidFill>
          <a:ln w="2286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90088" y="1078992"/>
            <a:ext cx="1371600" cy="914400"/>
          </a:xfrm>
          <a:prstGeom prst="roundRect">
            <a:avLst>
              <a:gd name="adj" fmla="val 0"/>
            </a:avLst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0088" y="1170432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115214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E28B4"/>
                </a:solidFill>
                <a:latin typeface="Microsoft JhengHei"/>
              </a:rPr>
              <a:t>預算規劃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47688" y="1261872"/>
            <a:ext cx="914400" cy="274320"/>
          </a:xfrm>
          <a:prstGeom prst="roundRect">
            <a:avLst>
              <a:gd name="adj" fmla="val 22000"/>
            </a:avLst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12618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JhengHei"/>
              </a:rPr>
              <a:t>B1–B6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4968" y="1188720"/>
            <a:ext cx="42611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今日帶多少錢・零用錢日記・存錢計畫・特賣比一比・生日派對預算・菜市場買菜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75688" y="2176272"/>
            <a:ext cx="10113264" cy="914400"/>
          </a:xfrm>
          <a:prstGeom prst="roundRect">
            <a:avLst>
              <a:gd name="adj" fmla="val 7000"/>
            </a:avLst>
          </a:prstGeom>
          <a:solidFill>
            <a:srgbClr val="FDE7D5"/>
          </a:solidFill>
          <a:ln w="2286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75688" y="2176272"/>
            <a:ext cx="1371600" cy="914400"/>
          </a:xfrm>
          <a:prstGeom prst="roundRect">
            <a:avLst>
              <a:gd name="adj" fmla="val 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75688" y="2267712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4448" y="224942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4310"/>
                </a:solidFill>
                <a:latin typeface="Microsoft JhengHei"/>
              </a:rPr>
              <a:t>情境類化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33288" y="2359152"/>
            <a:ext cx="914400" cy="274320"/>
          </a:xfrm>
          <a:prstGeom prst="roundRect">
            <a:avLst>
              <a:gd name="adj" fmla="val 2200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33288" y="23591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JhengHei"/>
              </a:rPr>
              <a:t>A1–A6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2286000"/>
            <a:ext cx="51755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自動販賣機・理髮廳・麥當勞・超市購物・ATM・火車票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61288" y="3273552"/>
            <a:ext cx="11027664" cy="914400"/>
          </a:xfrm>
          <a:prstGeom prst="roundRect">
            <a:avLst>
              <a:gd name="adj" fmla="val 7000"/>
            </a:avLst>
          </a:prstGeom>
          <a:solidFill>
            <a:srgbClr val="D2F0E4"/>
          </a:solidFill>
          <a:ln w="228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61288" y="3273552"/>
            <a:ext cx="1371600" cy="914400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1288" y="3364992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70048" y="33467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7A52"/>
                </a:solidFill>
                <a:latin typeface="Microsoft JhengHei"/>
              </a:rPr>
              <a:t>貨幣認知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18888" y="3456432"/>
            <a:ext cx="914400" cy="274320"/>
          </a:xfrm>
          <a:prstGeom prst="roundRect">
            <a:avLst>
              <a:gd name="adj" fmla="val 2200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18888" y="34564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JhengHei"/>
              </a:rPr>
              <a:t>C1–C6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16168" y="3383280"/>
            <a:ext cx="60899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認識錢幣・數錢・換錢・付款・夠不夠・找零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888" y="4370832"/>
            <a:ext cx="11942064" cy="914400"/>
          </a:xfrm>
          <a:prstGeom prst="roundRect">
            <a:avLst>
              <a:gd name="adj" fmla="val 7000"/>
            </a:avLst>
          </a:prstGeom>
          <a:solidFill>
            <a:srgbClr val="D6E9F8"/>
          </a:solidFill>
          <a:ln w="2286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46888" y="4370832"/>
            <a:ext cx="1371600" cy="914400"/>
          </a:xfrm>
          <a:prstGeom prst="roundRect">
            <a:avLst>
              <a:gd name="adj" fmla="val 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6888" y="4462272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</a:rPr>
              <a:t>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55648" y="444398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68B8"/>
                </a:solidFill>
                <a:latin typeface="Microsoft JhengHei"/>
              </a:rPr>
              <a:t>數學先備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04488" y="4553712"/>
            <a:ext cx="914400" cy="274320"/>
          </a:xfrm>
          <a:prstGeom prst="roundRect">
            <a:avLst>
              <a:gd name="adj" fmla="val 2200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04488" y="45537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JhengHei"/>
              </a:rPr>
              <a:t>F1–F6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01768" y="4480560"/>
            <a:ext cx="70043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一對一對應・唱數・數字認讀・數字排序・量比較・數的組成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0" y="1371600"/>
            <a:ext cx="25603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26B60"/>
                </a:solidFill>
                <a:latin typeface="Microsoft JhengHei"/>
              </a:rPr>
              <a:t>學習方向
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6888" y="5468112"/>
            <a:ext cx="11594592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5541264"/>
            <a:ext cx="128016" cy="237744"/>
          </a:xfrm>
          <a:prstGeom prst="roundRect">
            <a:avLst>
              <a:gd name="adj" fmla="val 300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554126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8B8"/>
                </a:solidFill>
                <a:latin typeface="Microsoft JhengHei"/>
              </a:rPr>
              <a:t>國小中高年級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5541264"/>
            <a:ext cx="128016" cy="237744"/>
          </a:xfrm>
          <a:prstGeom prst="roundRect">
            <a:avLst>
              <a:gd name="adj" fmla="val 300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01568" y="554126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7A52"/>
                </a:solidFill>
                <a:latin typeface="Microsoft JhengHei"/>
              </a:rPr>
              <a:t>國中特教班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5541264"/>
            <a:ext cx="128016" cy="237744"/>
          </a:xfrm>
          <a:prstGeom prst="roundRect">
            <a:avLst>
              <a:gd name="adj" fmla="val 300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44768" y="554126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4310"/>
                </a:solidFill>
                <a:latin typeface="Microsoft JhengHei"/>
              </a:rPr>
              <a:t>高中特教班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86800" y="5541264"/>
            <a:ext cx="128016" cy="237744"/>
          </a:xfrm>
          <a:prstGeom prst="roundRect">
            <a:avLst>
              <a:gd name="adj" fmla="val 3000"/>
            </a:avLst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87968" y="554126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E28B4"/>
                </a:solidFill>
                <a:latin typeface="Microsoft JhengHei"/>
              </a:rPr>
              <a:t>延伸應用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6888" y="6053328"/>
            <a:ext cx="11594592" cy="347472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4904" y="6144768"/>
            <a:ext cx="11338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✦ 每系列 6 個互動單元，共 24 個教學單元；各系列可獨立使用，亦可完整序階進行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1A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F 系列——數學基礎先備技能模組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適用：國小中高年級至國中　目標：建立貨幣操作所需數學先備技能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3767328" cy="420624"/>
          </a:xfrm>
          <a:prstGeom prst="roundRect">
            <a:avLst>
              <a:gd name="adj" fmla="val 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F1  一對一對應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13385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682496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透過拖曳物件配對建立數量等量直觀理解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物件與容器配對・數量等量概念建立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1115568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1115568"/>
            <a:ext cx="3767328" cy="420624"/>
          </a:xfrm>
          <a:prstGeom prst="roundRect">
            <a:avLst>
              <a:gd name="adj" fmla="val 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39" y="11704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F2  唱數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13385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1" y="1682496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將數量概念轉化為有序語言序列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視覺化數列・跟讀模式・獨立唱數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19" y="1115568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19" y="1115568"/>
            <a:ext cx="3767328" cy="420624"/>
          </a:xfrm>
          <a:prstGeom prst="roundRect">
            <a:avLst>
              <a:gd name="adj" fmla="val 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9" y="11704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F3  數字認讀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19" y="113385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👁️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1" y="1682496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辨識阿拉伯數字及其對應量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10種自訂主題圖示・正反辨識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749039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749039"/>
            <a:ext cx="3767328" cy="420624"/>
          </a:xfrm>
          <a:prstGeom prst="roundRect">
            <a:avLst>
              <a:gd name="adj" fmla="val 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803903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F4  數字排序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376732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" y="4315967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理解數字大小關係並進行排列操作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由小到大・由大到小雙向練習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79" y="3749039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79" y="3749039"/>
            <a:ext cx="3767328" cy="420624"/>
          </a:xfrm>
          <a:prstGeom prst="roundRect">
            <a:avLst>
              <a:gd name="adj" fmla="val 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39" y="3803903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F5  量比較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76732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⚖️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2271" y="4315967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判斷兩組數量的多少大小關係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視覺化比較・語言表達・符號理解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19" y="3749039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75319" y="3749039"/>
            <a:ext cx="3767328" cy="420624"/>
          </a:xfrm>
          <a:prstGeom prst="roundRect">
            <a:avLst>
              <a:gd name="adj" fmla="val 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9" y="3803903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F6  數的組成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19" y="376732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9911" y="4315967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理解數字可分解與組合的內部結構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分解遊戲・加法橋接・組成圖示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647395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68B8"/>
                </a:solidFill>
                <a:latin typeface="Microsoft JhengHei"/>
              </a:rPr>
              <a:t>F1 → F2 → F3 → F4 → F5 → F6　（建議學習順序）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127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C 系列——貨幣認知建立模組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適用：國中至高中　目標：建立完整的金錢認知與交易技能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3767328" cy="420624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C1  認識錢幣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13385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682496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台灣9種面額辨識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硬幣正反面・紙鈔防偽標誌・聽音辨幣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1115568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1115568"/>
            <a:ext cx="3767328" cy="420624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39" y="11704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C2  數錢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13385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1" y="1682496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多面額混合計算・逐枚累加程序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視覺化計數・語音同步・面額分組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19" y="1115568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19" y="1115568"/>
            <a:ext cx="3767328" cy="420624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9" y="11704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C3  換錢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19" y="113385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1" y="1682496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面額兌換雙向練習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小換大・大換小・隨機組合・全隨機模式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749039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749039"/>
            <a:ext cx="3767328" cy="420624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803903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C4  付款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376732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" y="4315967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湊出指定金額操作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面額最佳組合・拖曳付款・提示鈕輔助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79" y="3749039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79" y="3749039"/>
            <a:ext cx="3767328" cy="420624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39" y="3803903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C5  夠不夠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76732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⚖️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2271" y="4315967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判斷錢包金額是否足夠購買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比較思維・差額計算・視覺化呈現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19" y="3749039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75319" y="3749039"/>
            <a:ext cx="3767328" cy="420624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9" y="3803903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C6  找零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19" y="376732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9911" y="4315967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計算找零並驗收的完整交易閉環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三選一題型・算式提示・精準付款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6473952"/>
            <a:ext cx="11521440" cy="347472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8056" y="6565392"/>
            <a:ext cx="112654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📌 完成 C 系列建議進入 A 系列：將靜態貨幣技能類化至真實社區情境設備操作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C043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A 系列——真實情境類化模組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適用：國中至高中　目標：社區設備獨立操作・類化至真實生活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3767328" cy="420624"/>
          </a:xfrm>
          <a:prstGeom prst="roundRect">
            <a:avLst>
              <a:gd name="adj" fmla="val 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A1  自動販賣機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13385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682496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7步驟完整操作序列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投幣・選飲料・確認・取出・找零驗收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1115568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1115568"/>
            <a:ext cx="3767328" cy="420624"/>
          </a:xfrm>
          <a:prstGeom prst="roundRect">
            <a:avLst>
              <a:gd name="adj" fmla="val 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39" y="11704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A2  理髮廳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13385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✂️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1" y="1682496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觸控繳費機服務選擇付款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先投幣再選服務・先選服務再付款雙模式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19" y="1115568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19" y="1115568"/>
            <a:ext cx="3767328" cy="420624"/>
          </a:xfrm>
          <a:prstGeom prst="roundRect">
            <a:avLst>
              <a:gd name="adj" fmla="val 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9" y="11704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A3  麥當勞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19" y="113385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1" y="1682496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自助點餐機完整流程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餐點分類選擇・組合・付款・取餐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749039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749039"/>
            <a:ext cx="3767328" cy="420624"/>
          </a:xfrm>
          <a:prstGeom prst="roundRect">
            <a:avLst>
              <a:gd name="adj" fmla="val 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803903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A4  超市購物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376732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" y="4315967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收銀台購物結帳全流程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12種商店類型・商品掃描・付款・找零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79" y="3749039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79" y="3749039"/>
            <a:ext cx="3767328" cy="420624"/>
          </a:xfrm>
          <a:prstGeom prst="roundRect">
            <a:avLst>
              <a:gd name="adj" fmla="val 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39" y="3803903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A5  ATM 操作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76732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2271" y="4315967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提款・存款・轉帳三大功能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密碼輸入・金額選擇・收據取卡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19" y="3749039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75319" y="3749039"/>
            <a:ext cx="3767328" cy="420624"/>
          </a:xfrm>
          <a:prstGeom prst="roundRect">
            <a:avLst>
              <a:gd name="adj" fmla="val 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9" y="3803903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A6  火車票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19" y="376732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9911" y="4315967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自動售票機購票全流程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車站選擇・張數・付款・取票・找零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6473952"/>
            <a:ext cx="11521440" cy="347472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8056" y="6565392"/>
            <a:ext cx="112654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🎯 終極目標：教師 3 公尺外靜態觀察，學生在真實社區環境完全獨立操作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6E2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B 系列——預算規劃延伸模組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適用：國中至高中　目標：日常預算管理與消費決策能力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3767328" cy="420624"/>
          </a:xfrm>
          <a:prstGeom prst="roundRect">
            <a:avLst>
              <a:gd name="adj" fmla="val 0"/>
            </a:avLst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B1  今天帶多少錢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13385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682496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依行程規劃所需金額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場景類別篩選・費用明細・最少張數提示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1115568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1115568"/>
            <a:ext cx="3767328" cy="420624"/>
          </a:xfrm>
          <a:prstGeom prst="roundRect">
            <a:avLst>
              <a:gd name="adj" fmla="val 0"/>
            </a:avLst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39" y="11704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B2  零用錢日記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13385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1" y="1682496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記帳概念建立與收支追蹤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收入/支出事件・餘額計算・日記主題篩選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19" y="1115568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19" y="1115568"/>
            <a:ext cx="3767328" cy="420624"/>
          </a:xfrm>
          <a:prstGeom prst="roundRect">
            <a:avLst>
              <a:gd name="adj" fmla="val 0"/>
            </a:avLst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9" y="11704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B3  存錢計畫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19" y="113385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1" y="1682496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月曆存錢模擬（拖曳存幣）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目標設定・週存金額規劃・里程碑慶祝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749039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749039"/>
            <a:ext cx="3767328" cy="420624"/>
          </a:xfrm>
          <a:prstGeom prst="roundRect">
            <a:avLst>
              <a:gd name="adj" fmla="val 0"/>
            </a:avLst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803903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B4  特賣比一比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376732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🏷️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" y="4315967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商品比價與消費決策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兩商店・三商店・單位比價三種模式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79" y="3749039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79" y="3749039"/>
            <a:ext cx="3767328" cy="420624"/>
          </a:xfrm>
          <a:prstGeom prst="roundRect">
            <a:avLst>
              <a:gd name="adj" fmla="val 0"/>
            </a:avLst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39" y="3803903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B5  生日派對預算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76732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2271" y="4315967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必買/選購 項目預算分配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三關制・派對主題篩選・超支智慧提示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19" y="3749039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75319" y="3749039"/>
            <a:ext cx="3767328" cy="420624"/>
          </a:xfrm>
          <a:prstGeom prst="roundRect">
            <a:avLst>
              <a:gd name="adj" fmla="val 0"/>
            </a:avLst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9" y="3803903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B6  菜市場買菜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19" y="376732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9911" y="4315967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多攤位採購清單執行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三種市場類型・付款・找零三選一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0B7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0B78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輔助點擊模式——精細動作障礙首創解方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全 24 單元支援・僅需「單一點擊」即可完成所有操作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15568"/>
            <a:ext cx="64008" cy="292608"/>
          </a:xfrm>
          <a:prstGeom prst="rect">
            <a:avLst/>
          </a:prstGeom>
          <a:solidFill>
            <a:srgbClr val="B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B82828"/>
                </a:solidFill>
                <a:latin typeface="Microsoft JhengHei"/>
              </a:rPr>
              <a:t>❌ 傳統操作障礙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3840480" cy="2286000"/>
          </a:xfrm>
          <a:prstGeom prst="roundRect">
            <a:avLst>
              <a:gd name="adj" fmla="val 8000"/>
            </a:avLst>
          </a:prstGeom>
          <a:solidFill>
            <a:srgbClr val="FDE8E8"/>
          </a:solidFill>
          <a:ln w="19050">
            <a:solidFill>
              <a:srgbClr val="B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3474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150" b="0">
                <a:solidFill>
                  <a:srgbClr val="B82828"/>
                </a:solidFill>
                <a:latin typeface="Microsoft JhengHei"/>
              </a:rPr>
              <a:t>✗  拖曳操作需精確手部控制</a:t>
            </a:r>
          </a:p>
          <a:p>
            <a:pPr algn="l">
              <a:lnSpc>
                <a:spcPts val="1700"/>
              </a:lnSpc>
            </a:pPr>
            <a:r>
              <a:rPr sz="1150" b="0">
                <a:solidFill>
                  <a:srgbClr val="B82828"/>
                </a:solidFill>
                <a:latin typeface="Microsoft JhengHei"/>
              </a:rPr>
              <a:t>✗  觸控滑動對肢障學生困難</a:t>
            </a:r>
          </a:p>
          <a:p>
            <a:pPr algn="l">
              <a:lnSpc>
                <a:spcPts val="1700"/>
              </a:lnSpc>
            </a:pPr>
            <a:r>
              <a:rPr sz="1150" b="0">
                <a:solidFill>
                  <a:srgbClr val="B82828"/>
                </a:solidFill>
                <a:latin typeface="Microsoft JhengHei"/>
              </a:rPr>
              <a:t>✗  多步驟序列記憶負擔沉重</a:t>
            </a:r>
          </a:p>
          <a:p>
            <a:pPr algn="l">
              <a:lnSpc>
                <a:spcPts val="1700"/>
              </a:lnSpc>
            </a:pPr>
            <a:r>
              <a:rPr sz="1150" b="0">
                <a:solidFill>
                  <a:srgbClr val="B82828"/>
                </a:solidFill>
                <a:latin typeface="Microsoft JhengHei"/>
              </a:rPr>
              <a:t>✗  連續失敗誘發情緒挫折</a:t>
            </a:r>
          </a:p>
          <a:p>
            <a:pPr algn="l">
              <a:lnSpc>
                <a:spcPts val="1700"/>
              </a:lnSpc>
            </a:pPr>
            <a:r>
              <a:rPr sz="1150" b="0">
                <a:solidFill>
                  <a:srgbClr val="B82828"/>
                </a:solidFill>
                <a:latin typeface="Microsoft JhengHei"/>
              </a:rPr>
              <a:t>✗  教師須全程逐步介入協助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05740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786E"/>
                </a:solidFill>
                <a:latin typeface="Microsoft JhengHei"/>
              </a:rPr>
              <a:t>解方
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57800" y="1115568"/>
            <a:ext cx="64008" cy="292608"/>
          </a:xfrm>
          <a:prstGeom prst="rect">
            <a:avLst/>
          </a:prstGeom>
          <a:solidFill>
            <a:srgbClr val="0B7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111556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B786E"/>
                </a:solidFill>
                <a:latin typeface="Microsoft JhengHei"/>
              </a:rPr>
              <a:t>✅ 輔助點擊解方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57800" y="1463040"/>
            <a:ext cx="3840480" cy="2286000"/>
          </a:xfrm>
          <a:prstGeom prst="roundRect">
            <a:avLst>
              <a:gd name="adj" fmla="val 8000"/>
            </a:avLst>
          </a:prstGeom>
          <a:solidFill>
            <a:srgbClr val="CCF5F1"/>
          </a:solidFill>
          <a:ln w="19050">
            <a:solidFill>
              <a:srgbClr val="0B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0680" y="1600200"/>
            <a:ext cx="3474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150" b="0">
                <a:solidFill>
                  <a:srgbClr val="0B786E"/>
                </a:solidFill>
                <a:latin typeface="Microsoft JhengHei"/>
              </a:rPr>
              <a:t>✓  系統自動偵測點擊位置</a:t>
            </a:r>
          </a:p>
          <a:p>
            <a:pPr algn="l">
              <a:lnSpc>
                <a:spcPts val="1700"/>
              </a:lnSpc>
            </a:pPr>
            <a:r>
              <a:rPr sz="1150" b="0">
                <a:solidFill>
                  <a:srgbClr val="0B786E"/>
                </a:solidFill>
                <a:latin typeface="Microsoft JhengHei"/>
              </a:rPr>
              <a:t>✓  黃色邊框視覺提示下一步</a:t>
            </a:r>
          </a:p>
          <a:p>
            <a:pPr algn="l">
              <a:lnSpc>
                <a:spcPts val="1700"/>
              </a:lnSpc>
            </a:pPr>
            <a:r>
              <a:rPr sz="1150" b="0">
                <a:solidFill>
                  <a:srgbClr val="0B786E"/>
                </a:solidFill>
                <a:latin typeface="Microsoft JhengHei"/>
              </a:rPr>
              <a:t>✓  自動引導至正確操作目標</a:t>
            </a:r>
          </a:p>
          <a:p>
            <a:pPr algn="l">
              <a:lnSpc>
                <a:spcPts val="1700"/>
              </a:lnSpc>
            </a:pPr>
            <a:r>
              <a:rPr sz="1150" b="0">
                <a:solidFill>
                  <a:srgbClr val="0B786E"/>
                </a:solidFill>
                <a:latin typeface="Microsoft JhengHei"/>
              </a:rPr>
              <a:t>✓  全程只需「點擊」不需拖曳</a:t>
            </a:r>
          </a:p>
          <a:p>
            <a:pPr algn="l">
              <a:lnSpc>
                <a:spcPts val="1700"/>
              </a:lnSpc>
            </a:pPr>
            <a:r>
              <a:rPr sz="1150" b="0">
                <a:solidFill>
                  <a:srgbClr val="0B786E"/>
                </a:solidFill>
                <a:latin typeface="Microsoft JhengHei"/>
              </a:rPr>
              <a:t>✓  可疊加於任何難度層級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115568"/>
            <a:ext cx="64008" cy="292608"/>
          </a:xfrm>
          <a:prstGeom prst="rect">
            <a:avLst/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111556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E28B4"/>
                </a:solidFill>
                <a:latin typeface="Microsoft JhengHei"/>
              </a:rPr>
              <a:t>適用對象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463040"/>
            <a:ext cx="2743200" cy="2286000"/>
          </a:xfrm>
          <a:prstGeom prst="roundRect">
            <a:avLst>
              <a:gd name="adj" fmla="val 8000"/>
            </a:avLst>
          </a:prstGeom>
          <a:solidFill>
            <a:srgbClr val="EEDFFB"/>
          </a:solidFill>
          <a:ln w="1905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160020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150" b="0">
                <a:solidFill>
                  <a:srgbClr val="6E28B4"/>
                </a:solidFill>
                <a:latin typeface="Microsoft JhengHei"/>
              </a:rPr>
              <a:t>• 腦性麻痺</a:t>
            </a:r>
          </a:p>
          <a:p>
            <a:pPr algn="l">
              <a:lnSpc>
                <a:spcPts val="1700"/>
              </a:lnSpc>
            </a:pPr>
            <a:r>
              <a:rPr sz="1150" b="0">
                <a:solidFill>
                  <a:srgbClr val="6E28B4"/>
                </a:solidFill>
                <a:latin typeface="Microsoft JhengHei"/>
              </a:rPr>
              <a:t>• 脊髓損傷</a:t>
            </a:r>
          </a:p>
          <a:p>
            <a:pPr algn="l">
              <a:lnSpc>
                <a:spcPts val="1700"/>
              </a:lnSpc>
            </a:pPr>
            <a:r>
              <a:rPr sz="1150" b="0">
                <a:solidFill>
                  <a:srgbClr val="6E28B4"/>
                </a:solidFill>
                <a:latin typeface="Microsoft JhengHei"/>
              </a:rPr>
              <a:t>• 肌肉萎縮症</a:t>
            </a:r>
          </a:p>
          <a:p>
            <a:pPr algn="l">
              <a:lnSpc>
                <a:spcPts val="1700"/>
              </a:lnSpc>
            </a:pPr>
            <a:r>
              <a:rPr sz="1150" b="0">
                <a:solidFill>
                  <a:srgbClr val="6E28B4"/>
                </a:solidFill>
                <a:latin typeface="Microsoft JhengHei"/>
              </a:rPr>
              <a:t>• 注意力缺失過動</a:t>
            </a:r>
          </a:p>
          <a:p>
            <a:pPr algn="l">
              <a:lnSpc>
                <a:spcPts val="1700"/>
              </a:lnSpc>
            </a:pPr>
            <a:r>
              <a:rPr sz="1150" b="0">
                <a:solidFill>
                  <a:srgbClr val="6E28B4"/>
                </a:solidFill>
                <a:latin typeface="Microsoft JhengHei"/>
              </a:rPr>
              <a:t>• 其他精細動作困難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950208"/>
            <a:ext cx="64008" cy="292608"/>
          </a:xfrm>
          <a:prstGeom prst="rect">
            <a:avLst/>
          </a:prstGeom>
          <a:solidFill>
            <a:srgbClr val="0B7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95020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B786E"/>
                </a:solidFill>
                <a:latin typeface="Microsoft JhengHei"/>
              </a:rPr>
              <a:t>操作流程圖</a:t>
            </a:r>
          </a:p>
        </p:txBody>
      </p:sp>
      <p:sp>
        <p:nvSpPr>
          <p:cNvPr id="23" name="Oval 22"/>
          <p:cNvSpPr/>
          <p:nvPr/>
        </p:nvSpPr>
        <p:spPr>
          <a:xfrm>
            <a:off x="365760" y="4315968"/>
            <a:ext cx="457200" cy="457200"/>
          </a:xfrm>
          <a:prstGeom prst="ellipse">
            <a:avLst/>
          </a:prstGeom>
          <a:solidFill>
            <a:srgbClr val="0B7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3159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" y="4846320"/>
            <a:ext cx="1042415" cy="713232"/>
          </a:xfrm>
          <a:prstGeom prst="roundRect">
            <a:avLst>
              <a:gd name="adj" fmla="val 7000"/>
            </a:avLst>
          </a:prstGeom>
          <a:solidFill>
            <a:srgbClr val="CCF5F1"/>
          </a:solidFill>
          <a:ln w="15240">
            <a:solidFill>
              <a:srgbClr val="0B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" y="4882896"/>
            <a:ext cx="1042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B786E"/>
                </a:solidFill>
                <a:latin typeface="Microsoft JhengHei"/>
              </a:rPr>
              <a:t>①啟用
輔助點擊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440740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26B60"/>
                </a:solidFill>
                <a:latin typeface="Microsoft JhengHei"/>
              </a:rPr>
              <a:t>→</a:t>
            </a:r>
          </a:p>
        </p:txBody>
      </p:sp>
      <p:sp>
        <p:nvSpPr>
          <p:cNvPr id="28" name="Oval 27"/>
          <p:cNvSpPr/>
          <p:nvPr/>
        </p:nvSpPr>
        <p:spPr>
          <a:xfrm>
            <a:off x="2651760" y="4315968"/>
            <a:ext cx="457200" cy="457200"/>
          </a:xfrm>
          <a:prstGeom prst="ellipse">
            <a:avLst/>
          </a:prstGeom>
          <a:solidFill>
            <a:srgbClr val="0B7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43159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59152" y="4846320"/>
            <a:ext cx="1042415" cy="713232"/>
          </a:xfrm>
          <a:prstGeom prst="roundRect">
            <a:avLst>
              <a:gd name="adj" fmla="val 7000"/>
            </a:avLst>
          </a:prstGeom>
          <a:solidFill>
            <a:srgbClr val="CCF5F1"/>
          </a:solidFill>
          <a:ln w="15240">
            <a:solidFill>
              <a:srgbClr val="0B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59152" y="4882896"/>
            <a:ext cx="1042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B786E"/>
                </a:solidFill>
                <a:latin typeface="Microsoft JhengHei"/>
              </a:rPr>
              <a:t>②出現
黃色提示框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56432" y="440740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26B60"/>
                </a:solidFill>
                <a:latin typeface="Microsoft JhengHei"/>
              </a:rPr>
              <a:t>→</a:t>
            </a:r>
          </a:p>
        </p:txBody>
      </p:sp>
      <p:sp>
        <p:nvSpPr>
          <p:cNvPr id="33" name="Oval 32"/>
          <p:cNvSpPr/>
          <p:nvPr/>
        </p:nvSpPr>
        <p:spPr>
          <a:xfrm>
            <a:off x="4937760" y="4315968"/>
            <a:ext cx="457200" cy="457200"/>
          </a:xfrm>
          <a:prstGeom prst="ellipse">
            <a:avLst/>
          </a:prstGeom>
          <a:solidFill>
            <a:srgbClr val="0B7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3159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45152" y="4846320"/>
            <a:ext cx="1042415" cy="713232"/>
          </a:xfrm>
          <a:prstGeom prst="roundRect">
            <a:avLst>
              <a:gd name="adj" fmla="val 7000"/>
            </a:avLst>
          </a:prstGeom>
          <a:solidFill>
            <a:srgbClr val="CCF5F1"/>
          </a:solidFill>
          <a:ln w="15240">
            <a:solidFill>
              <a:srgbClr val="0B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45152" y="4882896"/>
            <a:ext cx="1042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B786E"/>
                </a:solidFill>
                <a:latin typeface="Microsoft JhengHei"/>
              </a:rPr>
              <a:t>③點擊
任意處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42432" y="440740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26B60"/>
                </a:solidFill>
                <a:latin typeface="Microsoft JhengHei"/>
              </a:rPr>
              <a:t>→</a:t>
            </a:r>
          </a:p>
        </p:txBody>
      </p:sp>
      <p:sp>
        <p:nvSpPr>
          <p:cNvPr id="38" name="Oval 37"/>
          <p:cNvSpPr/>
          <p:nvPr/>
        </p:nvSpPr>
        <p:spPr>
          <a:xfrm>
            <a:off x="7223760" y="4315968"/>
            <a:ext cx="457200" cy="457200"/>
          </a:xfrm>
          <a:prstGeom prst="ellipse">
            <a:avLst/>
          </a:prstGeom>
          <a:solidFill>
            <a:srgbClr val="0B7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23760" y="43159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31152" y="4846320"/>
            <a:ext cx="1042415" cy="713232"/>
          </a:xfrm>
          <a:prstGeom prst="roundRect">
            <a:avLst>
              <a:gd name="adj" fmla="val 7000"/>
            </a:avLst>
          </a:prstGeom>
          <a:solidFill>
            <a:srgbClr val="CCF5F1"/>
          </a:solidFill>
          <a:ln w="15240">
            <a:solidFill>
              <a:srgbClr val="0B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31152" y="4882896"/>
            <a:ext cx="1042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B786E"/>
                </a:solidFill>
                <a:latin typeface="Microsoft JhengHei"/>
              </a:rPr>
              <a:t>④自動執行
下一步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28431" y="440740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26B60"/>
                </a:solidFill>
                <a:latin typeface="Microsoft JhengHei"/>
              </a:rPr>
              <a:t>→</a:t>
            </a:r>
          </a:p>
        </p:txBody>
      </p:sp>
      <p:sp>
        <p:nvSpPr>
          <p:cNvPr id="43" name="Oval 42"/>
          <p:cNvSpPr/>
          <p:nvPr/>
        </p:nvSpPr>
        <p:spPr>
          <a:xfrm>
            <a:off x="9509760" y="4315968"/>
            <a:ext cx="457200" cy="457200"/>
          </a:xfrm>
          <a:prstGeom prst="ellipse">
            <a:avLst/>
          </a:prstGeom>
          <a:solidFill>
            <a:srgbClr val="0B7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60" y="43159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17152" y="4846320"/>
            <a:ext cx="1042415" cy="713232"/>
          </a:xfrm>
          <a:prstGeom prst="roundRect">
            <a:avLst>
              <a:gd name="adj" fmla="val 7000"/>
            </a:avLst>
          </a:prstGeom>
          <a:solidFill>
            <a:srgbClr val="CCF5F1"/>
          </a:solidFill>
          <a:ln w="15240">
            <a:solidFill>
              <a:srgbClr val="0B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17152" y="4882896"/>
            <a:ext cx="1042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B786E"/>
                </a:solidFill>
                <a:latin typeface="Microsoft JhengHei"/>
              </a:rPr>
              <a:t>⑤完成
學習任務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5742432"/>
            <a:ext cx="11457432" cy="384048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3776" y="5833872"/>
            <a:ext cx="11201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✦ 首創設計：全台同類型特教軟體中，首個支援「全程單一點擊」輔助模式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C8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C88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三段難度設計——直接教學法系統落實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每個單元均提供三種難度，確保從示範到獨立操作的完整進展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1078992"/>
            <a:ext cx="3108960" cy="658368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12848" y="1133856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😊 簡單模式
Easy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21808" y="1078992"/>
            <a:ext cx="3108960" cy="658368"/>
          </a:xfrm>
          <a:prstGeom prst="roundRect">
            <a:avLst>
              <a:gd name="adj" fmla="val 0"/>
            </a:avLst>
          </a:prstGeom>
          <a:solidFill>
            <a:srgbClr val="C8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21808" y="1133856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😐 普通模式
Normal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30768" y="1078992"/>
            <a:ext cx="3108960" cy="658368"/>
          </a:xfrm>
          <a:prstGeom prst="roundRect">
            <a:avLst>
              <a:gd name="adj" fmla="val 0"/>
            </a:avLst>
          </a:prstGeom>
          <a:solidFill>
            <a:srgbClr val="B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0768" y="1133856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😤 困難模式
Hard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" y="1737360"/>
            <a:ext cx="1920240" cy="1152144"/>
          </a:xfrm>
          <a:prstGeom prst="rect">
            <a:avLst/>
          </a:prstGeom>
          <a:solidFill>
            <a:srgbClr val="D6E6F7"/>
          </a:solidFill>
          <a:ln w="10160">
            <a:solidFill>
              <a:srgbClr val="143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" y="1828800"/>
            <a:ext cx="17007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43D6F"/>
                </a:solidFill>
                <a:latin typeface="Microsoft JhengHei"/>
              </a:rPr>
              <a:t>教學策略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12848" y="1737360"/>
            <a:ext cx="3108960" cy="1152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22576" y="1828800"/>
            <a:ext cx="2926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完整步驟提示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視覺指引箭頭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自動輔助確認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21808" y="1737360"/>
            <a:ext cx="3108960" cy="1152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31536" y="1828800"/>
            <a:ext cx="2926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提示鈕按需提示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3次錯誤自動提示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減少自動引導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30768" y="1737360"/>
            <a:ext cx="3108960" cy="1152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0496" y="1828800"/>
            <a:ext cx="2926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僅語音引導一次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無視覺提示框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完全靠記憶操作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" y="2889504"/>
            <a:ext cx="1920240" cy="1152144"/>
          </a:xfrm>
          <a:prstGeom prst="rect">
            <a:avLst/>
          </a:prstGeom>
          <a:solidFill>
            <a:srgbClr val="D6E6F7"/>
          </a:solidFill>
          <a:ln w="10160">
            <a:solidFill>
              <a:srgbClr val="143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2336" y="2980944"/>
            <a:ext cx="17007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43D6F"/>
                </a:solidFill>
                <a:latin typeface="Microsoft JhengHei"/>
              </a:rPr>
              <a:t>適用學生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12848" y="2889504"/>
            <a:ext cx="3108960" cy="1152144"/>
          </a:xfrm>
          <a:prstGeom prst="rect">
            <a:avLst/>
          </a:prstGeom>
          <a:solidFill>
            <a:srgbClr val="F0EDE6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22576" y="2980944"/>
            <a:ext cx="2926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初學者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需要高度支持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建立程序記憶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21808" y="2889504"/>
            <a:ext cx="3108960" cy="1152144"/>
          </a:xfrm>
          <a:prstGeom prst="rect">
            <a:avLst/>
          </a:prstGeom>
          <a:solidFill>
            <a:srgbClr val="F0EDE6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31536" y="2980944"/>
            <a:ext cx="2926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中級學習者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部分提示需求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強化記憶階段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0768" y="2889504"/>
            <a:ext cx="3108960" cy="1152144"/>
          </a:xfrm>
          <a:prstGeom prst="rect">
            <a:avLst/>
          </a:prstGeom>
          <a:solidFill>
            <a:srgbClr val="F0EDE6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0496" y="2980944"/>
            <a:ext cx="2926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進階學習者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準備類化現實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類化前最終確認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" y="4041648"/>
            <a:ext cx="1920240" cy="1152144"/>
          </a:xfrm>
          <a:prstGeom prst="rect">
            <a:avLst/>
          </a:prstGeom>
          <a:solidFill>
            <a:srgbClr val="D6E6F7"/>
          </a:solidFill>
          <a:ln w="10160">
            <a:solidFill>
              <a:srgbClr val="143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2336" y="4133088"/>
            <a:ext cx="17007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43D6F"/>
                </a:solidFill>
                <a:latin typeface="Microsoft JhengHei"/>
              </a:rPr>
              <a:t>提示類型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12848" y="4041648"/>
            <a:ext cx="3108960" cy="1152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22576" y="4133088"/>
            <a:ext cx="2926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黃框高亮＋語音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步驟自動播報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輔助點擊可用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21808" y="4041648"/>
            <a:ext cx="3108960" cy="1152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31536" y="4133088"/>
            <a:ext cx="2926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錯誤時紅色提示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按鈕觸發提示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語音選擇性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0768" y="4041648"/>
            <a:ext cx="3108960" cy="1152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0496" y="4133088"/>
            <a:ext cx="2926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語音僅提示一次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無自動輔助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錯誤需重嘗試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" y="5193792"/>
            <a:ext cx="1920240" cy="1152144"/>
          </a:xfrm>
          <a:prstGeom prst="rect">
            <a:avLst/>
          </a:prstGeom>
          <a:solidFill>
            <a:srgbClr val="D6E6F7"/>
          </a:solidFill>
          <a:ln w="10160">
            <a:solidFill>
              <a:srgbClr val="143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2336" y="5285232"/>
            <a:ext cx="17007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43D6F"/>
                </a:solidFill>
                <a:latin typeface="Microsoft JhengHei"/>
              </a:rPr>
              <a:t>IEP 對應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12848" y="5193792"/>
            <a:ext cx="3108960" cy="1152144"/>
          </a:xfrm>
          <a:prstGeom prst="rect">
            <a:avLst/>
          </a:prstGeom>
          <a:solidFill>
            <a:srgbClr val="F0EDE6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22576" y="5285232"/>
            <a:ext cx="2926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FP 全程協助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PP 部分肢體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VP 口語提示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21808" y="5193792"/>
            <a:ext cx="3108960" cy="1152144"/>
          </a:xfrm>
          <a:prstGeom prst="rect">
            <a:avLst/>
          </a:prstGeom>
          <a:solidFill>
            <a:srgbClr val="F0EDE6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31536" y="5285232"/>
            <a:ext cx="2926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VP 口語提示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M 示範提示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（按需觸發）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30768" y="5193792"/>
            <a:ext cx="3108960" cy="1152144"/>
          </a:xfrm>
          <a:prstGeom prst="rect">
            <a:avLst/>
          </a:prstGeom>
          <a:solidFill>
            <a:srgbClr val="F0EDE6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40496" y="5285232"/>
            <a:ext cx="2926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I 獨立完成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類化準備指標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社區轉銜基準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2608" y="5907024"/>
            <a:ext cx="11612880" cy="384048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0624" y="5998464"/>
            <a:ext cx="11356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＋ 輔助點擊模式可疊加於任何難度，IEP對應：簡單→VP/PP/FP　普通→VP/M　困難→I（獨立）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127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工作分析法——步驟化教學流程圖解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以 A1 自動販賣機為例　Gold 1980 / Snell &amp; Brown 2011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1115568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5760" y="969264"/>
            <a:ext cx="402336" cy="402336"/>
          </a:xfrm>
          <a:prstGeom prst="ellipse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969264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1188720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68B8"/>
                </a:solidFill>
                <a:latin typeface="Microsoft JhengHei"/>
              </a:rPr>
              <a:t>確認攜帶金額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" y="1572768"/>
            <a:ext cx="24871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開啟錢包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核對面額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1691640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26B60"/>
                </a:solidFill>
                <a:latin typeface="Microsoft JhengHe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73551" y="1115568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346703" y="969264"/>
            <a:ext cx="402336" cy="402336"/>
          </a:xfrm>
          <a:prstGeom prst="ellipse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6703" y="969264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7" y="1188720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68B8"/>
                </a:solidFill>
                <a:latin typeface="Microsoft JhengHei"/>
              </a:rPr>
              <a:t>選擇目標飲料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7" y="1572768"/>
            <a:ext cx="24871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瀏覽選單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確認售價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35624" y="1691640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26B60"/>
                </a:solidFill>
                <a:latin typeface="Microsoft JhengHe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54496" y="1115568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27648" y="969264"/>
            <a:ext cx="402336" cy="402336"/>
          </a:xfrm>
          <a:prstGeom prst="ellipse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969264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1188720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7A52"/>
                </a:solidFill>
                <a:latin typeface="Microsoft JhengHei"/>
              </a:rPr>
              <a:t>投入硬幣/紙鈔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1572768"/>
            <a:ext cx="24871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面額選擇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投入確認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7" y="1691640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26B60"/>
                </a:solidFill>
                <a:latin typeface="Microsoft JhengHe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1115568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308592" y="969264"/>
            <a:ext cx="402336" cy="402336"/>
          </a:xfrm>
          <a:prstGeom prst="ellipse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08592" y="969264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Step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63456" y="1188720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7A52"/>
                </a:solidFill>
                <a:latin typeface="Microsoft JhengHei"/>
              </a:rPr>
              <a:t>確認金額足夠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63456" y="1572768"/>
            <a:ext cx="24871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螢幕顯示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比對售價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54496" y="2999232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27648" y="2852928"/>
            <a:ext cx="402336" cy="402336"/>
          </a:xfrm>
          <a:prstGeom prst="ellipse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2852928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Step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3072384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4310"/>
                </a:solidFill>
                <a:latin typeface="Microsoft JhengHei"/>
              </a:rPr>
              <a:t>按下購買鍵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512" y="3456432"/>
            <a:ext cx="24871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確認按鈕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等待出貨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35624" y="3566160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26B60"/>
                </a:solidFill>
                <a:latin typeface="Microsoft JhengHei"/>
              </a:rPr>
              <a:t>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73551" y="2999232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346703" y="2852928"/>
            <a:ext cx="402336" cy="402336"/>
          </a:xfrm>
          <a:prstGeom prst="ellipse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6703" y="2852928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Step 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01567" y="3072384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4310"/>
                </a:solidFill>
                <a:latin typeface="Microsoft JhengHei"/>
              </a:rPr>
              <a:t>取出飲料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01567" y="3456432"/>
            <a:ext cx="24871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出貨口取出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確認品項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54680" y="3566160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26B60"/>
                </a:solidFill>
                <a:latin typeface="Microsoft JhengHei"/>
              </a:rPr>
              <a:t>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2608" y="2999232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65760" y="2852928"/>
            <a:ext cx="402336" cy="402336"/>
          </a:xfrm>
          <a:prstGeom prst="ellipse">
            <a:avLst/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2852928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Step 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0624" y="3072384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E28B4"/>
                </a:solidFill>
                <a:latin typeface="Microsoft JhengHei"/>
              </a:rPr>
              <a:t>確認找零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" y="3456432"/>
            <a:ext cx="24871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找零口取出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核對金額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2608" y="4919472"/>
            <a:ext cx="11612880" cy="384048"/>
          </a:xfrm>
          <a:prstGeom prst="rect">
            <a:avLst/>
          </a:prstGeom>
          <a:solidFill>
            <a:srgbClr val="D6E6F7"/>
          </a:solidFill>
          <a:ln w="12700">
            <a:solidFill>
              <a:srgbClr val="143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97433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43D6F"/>
                </a:solidFill>
                <a:latin typeface="Microsoft JhengHei"/>
              </a:rPr>
              <a:t>評量標準：  I 獨立完成　｜　VP 口語提示（≤2次）　｜　PP 部分肢體提示　｜　FP 全程協助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2608" y="5449824"/>
            <a:ext cx="11612880" cy="384048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0624" y="5541264"/>
            <a:ext cx="11356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✦ 每步驟均可獨立評量、單獨教學，完整對應 IEP 短期目標行為敘述格式（行為+條件+標準）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127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融合教育三層支持架構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相同教材・相同目標方向，差異在「支持程度（Level of Support）」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78992"/>
            <a:ext cx="11274552" cy="1005840"/>
          </a:xfrm>
          <a:prstGeom prst="roundRect">
            <a:avLst>
              <a:gd name="adj" fmla="val 7000"/>
            </a:avLst>
          </a:prstGeom>
          <a:solidFill>
            <a:srgbClr val="D6E9F8"/>
          </a:solidFill>
          <a:ln w="2286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78992"/>
            <a:ext cx="109728" cy="1005840"/>
          </a:xfrm>
          <a:prstGeom prst="rect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152144"/>
            <a:ext cx="109087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68B8"/>
                </a:solidFill>
                <a:latin typeface="Microsoft JhengHei"/>
              </a:rPr>
              <a:t>Level 1  普通班同步參與路徑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481328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• 以輔助點擊模式在普通班數學課中參與相同任務</a:t>
            </a:r>
          </a:p>
          <a:p>
            <a:pPr algn="l">
              <a:lnSpc>
                <a:spcPts val="14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• 軟體自動提供支持，教師不須全程個別介入，實現無縫融合</a:t>
            </a:r>
          </a:p>
          <a:p>
            <a:pPr algn="l">
              <a:lnSpc>
                <a:spcPts val="14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• 普通班同儕理解如何給予適當協助，雙向融合目標同步實現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2249424"/>
            <a:ext cx="9262872" cy="1005840"/>
          </a:xfrm>
          <a:prstGeom prst="roundRect">
            <a:avLst>
              <a:gd name="adj" fmla="val 7000"/>
            </a:avLst>
          </a:prstGeom>
          <a:solidFill>
            <a:srgbClr val="D2F0E4"/>
          </a:solidFill>
          <a:ln w="228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63040" y="2249424"/>
            <a:ext cx="109728" cy="1005840"/>
          </a:xfrm>
          <a:prstGeom prst="rect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82496" y="2322576"/>
            <a:ext cx="8897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7A52"/>
                </a:solidFill>
                <a:latin typeface="Microsoft JhengHei"/>
              </a:rPr>
              <a:t>Level 2  資源班強化練習路徑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82496" y="2651760"/>
            <a:ext cx="8897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• 資源班抽離課使用，針對個別化弱點進行系統性強化練習</a:t>
            </a:r>
          </a:p>
          <a:p>
            <a:pPr algn="l">
              <a:lnSpc>
                <a:spcPts val="14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• 可在結構化環境中重複操作，不受普通班進度影響</a:t>
            </a:r>
          </a:p>
          <a:p>
            <a:pPr algn="l">
              <a:lnSpc>
                <a:spcPts val="14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• 教師即時調整難度，精確對應每位學生的 IEP 短期目標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3419856"/>
            <a:ext cx="7251192" cy="1005840"/>
          </a:xfrm>
          <a:prstGeom prst="roundRect">
            <a:avLst>
              <a:gd name="adj" fmla="val 7000"/>
            </a:avLst>
          </a:prstGeom>
          <a:solidFill>
            <a:srgbClr val="FDE7D5"/>
          </a:solidFill>
          <a:ln w="2286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68880" y="3419856"/>
            <a:ext cx="109728" cy="1005840"/>
          </a:xfrm>
          <a:prstGeom prst="rect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88336" y="3493008"/>
            <a:ext cx="6885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4310"/>
                </a:solidFill>
                <a:latin typeface="Microsoft JhengHei"/>
              </a:rPr>
              <a:t>Level 3  自足班精熟學習路徑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8336" y="3822192"/>
            <a:ext cx="6885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• 自足式特教班完整課程使用，依學生程度客製化學習路徑</a:t>
            </a:r>
          </a:p>
          <a:p>
            <a:pPr algn="l">
              <a:lnSpc>
                <a:spcPts val="14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• 作業單輔助評量，系統化記錄進步，提供 IEP 具體數據</a:t>
            </a:r>
          </a:p>
          <a:p>
            <a:pPr algn="l">
              <a:lnSpc>
                <a:spcPts val="14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• 類化至社區環境前的最後精熟確認階段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26864"/>
            <a:ext cx="64008" cy="292608"/>
          </a:xfrm>
          <a:prstGeom prst="rect">
            <a:avLst/>
          </a:prstGeom>
          <a:solidFill>
            <a:srgbClr val="143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62686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43D6F"/>
                </a:solidFill>
                <a:latin typeface="Microsoft JhengHei"/>
              </a:rPr>
              <a:t>法規依據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974336"/>
            <a:ext cx="365760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143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047488"/>
            <a:ext cx="3474720" cy="219456"/>
          </a:xfrm>
          <a:prstGeom prst="roundRect">
            <a:avLst>
              <a:gd name="adj" fmla="val 22000"/>
            </a:avLst>
          </a:prstGeom>
          <a:solidFill>
            <a:srgbClr val="143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04748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JhengHei"/>
              </a:rPr>
              <a:t>特殊教育法 §28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" y="5303520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依個別需求訂定 IEP・相同教材差異化支持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4974336"/>
            <a:ext cx="365760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34840" y="5047488"/>
            <a:ext cx="3474720" cy="219456"/>
          </a:xfrm>
          <a:prstGeom prst="roundRect">
            <a:avLst>
              <a:gd name="adj" fmla="val 2200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504748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JhengHei"/>
              </a:rPr>
              <a:t>最少限制環境（LRE）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71416" y="5303520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從結構化到自然情境逐步褪除支持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4974336"/>
            <a:ext cx="365760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21040" y="5047488"/>
            <a:ext cx="3474720" cy="219456"/>
          </a:xfrm>
          <a:prstGeom prst="roundRect">
            <a:avLst>
              <a:gd name="adj" fmla="val 2200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504748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JhengHei"/>
              </a:rPr>
              <a:t>CRPD 第 24 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7616" y="5303520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融合教育・平等受教機會保障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888736"/>
            <a:ext cx="11274552" cy="384048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" y="5980176"/>
            <a:ext cx="11018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✦ 體現《特殊教育法》第 28 條精神：相同教材・相同目標方向，差異在支持程度，而非課程內容的全然切割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143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143D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IEP 目標・課綱・法規三對應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課程設計完整對應國家課程綱要與特殊教育法規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1078992"/>
            <a:ext cx="3767328" cy="5193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" y="1078992"/>
            <a:ext cx="3767328" cy="420624"/>
          </a:xfrm>
          <a:prstGeom prst="roundRect">
            <a:avLst>
              <a:gd name="adj" fmla="val 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33856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📋 十二年國教課綱對應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" y="1609344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D6E9F8"/>
          </a:solidFill>
          <a:ln w="1016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" y="1700784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700784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F系列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9304" y="1700784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9304" y="1700784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68B8"/>
                </a:solidFill>
                <a:latin typeface="Microsoft JhengHei"/>
              </a:rPr>
              <a:t>生管-Ⅳ-E-1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1956816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認識台灣常用貨幣面額與使用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" y="2359152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D6E9F8"/>
          </a:solidFill>
          <a:ln w="1016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" y="2450592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2450592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C1-C3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9304" y="2450592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9304" y="2450592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68B8"/>
                </a:solidFill>
                <a:latin typeface="Microsoft JhengHei"/>
              </a:rPr>
              <a:t>生管-Ⅳ-E-2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2706624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使用金錢完成購物交易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" y="3108960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D6E9F8"/>
          </a:solidFill>
          <a:ln w="1016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5488" y="3200400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3200400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C5-C6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9304" y="3200400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9304" y="3200400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68B8"/>
                </a:solidFill>
                <a:latin typeface="Microsoft JhengHei"/>
              </a:rPr>
              <a:t>生管-Ⅳ-E-3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3456432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了解找零概念與驗收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" y="3858768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D6E9F8"/>
          </a:solidFill>
          <a:ln w="1016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5488" y="3950208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3950208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A系列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89304" y="3950208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9304" y="3950208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68B8"/>
                </a:solidFill>
                <a:latin typeface="Microsoft JhengHei"/>
              </a:rPr>
              <a:t>生管-Ⅳ-E-4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" y="4206240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社區消費技能與自助設備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" y="4608576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D6E9F8"/>
          </a:solidFill>
          <a:ln w="1016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5488" y="4700016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" y="4700016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A5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89304" y="4700016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9304" y="4700016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68B8"/>
                </a:solidFill>
                <a:latin typeface="Microsoft JhengHei"/>
              </a:rPr>
              <a:t>Ⅳ-F-1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" y="4956048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使用自動化設備（ATM）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0624" y="5358383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D6E9F8"/>
          </a:solidFill>
          <a:ln w="1016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75488" y="5449823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" y="5449823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B系列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89304" y="5449823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89304" y="5449823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68B8"/>
                </a:solidFill>
                <a:latin typeface="Microsoft JhengHei"/>
              </a:rPr>
              <a:t>生管-Ⅳ-G-1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" y="5705855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財務管理基礎規劃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0248" y="1078992"/>
            <a:ext cx="3767328" cy="5193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70248" y="1078992"/>
            <a:ext cx="3767328" cy="420624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07408" y="1133856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🎯 IEP 年度目標範本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98264" y="1609344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D2F0E4"/>
          </a:solidFill>
          <a:ln w="101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453128" y="1700784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53128" y="1700784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F1-F2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66944" y="1700784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66944" y="1700784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27A52"/>
                </a:solidFill>
                <a:latin typeface="Microsoft JhengHei"/>
              </a:rPr>
              <a:t>數學先備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53128" y="1956816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在口語提示下完成10以內一對一對應操作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98264" y="2359152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D2F0E4"/>
          </a:solidFill>
          <a:ln w="101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453128" y="2450592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53128" y="2450592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C1-C3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66944" y="2450592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266944" y="2450592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27A52"/>
                </a:solidFill>
                <a:latin typeface="Microsoft JhengHei"/>
              </a:rPr>
              <a:t>貨幣認知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53128" y="2706624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獨立辨識台灣六種硬幣並說出面額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98264" y="3108960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D2F0E4"/>
          </a:solidFill>
          <a:ln w="101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453128" y="3200400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53128" y="3200400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C4-C6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266944" y="3200400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266944" y="3200400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27A52"/>
                </a:solidFill>
                <a:latin typeface="Microsoft JhengHei"/>
              </a:rPr>
              <a:t>金錢操作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53128" y="3456432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在部分協助下完成付款並核對找零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398264" y="3858768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D2F0E4"/>
          </a:solidFill>
          <a:ln w="101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453128" y="3950208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453128" y="3950208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A1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66944" y="3950208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266944" y="3950208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27A52"/>
                </a:solidFill>
                <a:latin typeface="Microsoft JhengHei"/>
              </a:rPr>
              <a:t>情境類化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453128" y="4206240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獨立完成自動販賣機購買飲料完整流程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398264" y="4608576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D2F0E4"/>
          </a:solidFill>
          <a:ln w="101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453128" y="4700016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453128" y="4700016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A5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266944" y="4700016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266944" y="4700016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27A52"/>
                </a:solidFill>
                <a:latin typeface="Microsoft JhengHei"/>
              </a:rPr>
              <a:t>情境類化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53128" y="4956048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在口語提示下完成 ATM 提款操作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398264" y="5358383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D2F0E4"/>
          </a:solidFill>
          <a:ln w="101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453128" y="5449823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453128" y="5449823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B1-B2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266944" y="5449823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266944" y="5449823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27A52"/>
                </a:solidFill>
                <a:latin typeface="Microsoft JhengHei"/>
              </a:rPr>
              <a:t>財務管理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453128" y="5705855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依行程計算所需金額並準備正確零錢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47888" y="1078992"/>
            <a:ext cx="3767328" cy="5193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247888" y="1078992"/>
            <a:ext cx="3767328" cy="420624"/>
          </a:xfrm>
          <a:prstGeom prst="roundRect">
            <a:avLst>
              <a:gd name="adj" fmla="val 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385048" y="1133856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⚖️ 法規依據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375904" y="1609344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FDE7D5"/>
          </a:solidFill>
          <a:ln w="1016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430768" y="1700784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430768" y="1700784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特殊教育法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244584" y="1700784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244584" y="1700784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04310"/>
                </a:solidFill>
                <a:latin typeface="Microsoft JhengHei"/>
              </a:rPr>
              <a:t>§28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430768" y="1956816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依個別需求訂定個別化教育計畫（IEP）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375904" y="2359152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FDE7D5"/>
          </a:solidFill>
          <a:ln w="1016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30768" y="2450592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430768" y="2450592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特殊教育法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244584" y="2450592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244584" y="2450592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04310"/>
                </a:solidFill>
                <a:latin typeface="Microsoft JhengHei"/>
              </a:rPr>
              <a:t>§24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430768" y="2706624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提供必要之輔助科技及支援服務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375904" y="3108960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FDE7D5"/>
          </a:solidFill>
          <a:ln w="1016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430768" y="3200400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430768" y="3200400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課綱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244584" y="3200400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244584" y="3200400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04310"/>
                </a:solidFill>
                <a:latin typeface="Microsoft JhengHei"/>
              </a:rPr>
              <a:t>2019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430768" y="3456432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特殊需求領域生活管理：財務管理核心主題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375904" y="3858768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FDE7D5"/>
          </a:solidFill>
          <a:ln w="1016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430768" y="3950208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430768" y="3950208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CRPD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244584" y="3950208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244584" y="3950208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04310"/>
                </a:solidFill>
                <a:latin typeface="Microsoft JhengHei"/>
              </a:rPr>
              <a:t>Art.24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430768" y="4206240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融合教育・平等受教機會保障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375904" y="4608576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FDE7D5"/>
          </a:solidFill>
          <a:ln w="1016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430768" y="4700016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430768" y="4700016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UDL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244584" y="4700016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244584" y="4700016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04310"/>
                </a:solidFill>
                <a:latin typeface="Microsoft JhengHei"/>
              </a:rPr>
              <a:t>CAST 2018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430768" y="4956048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通用設計學習三原則系統落實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375904" y="5358383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FDE7D5"/>
          </a:solidFill>
          <a:ln w="1016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430768" y="5449823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430768" y="5449823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工作分析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244584" y="5449823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244584" y="5449823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04310"/>
                </a:solidFill>
                <a:latin typeface="Microsoft JhengHei"/>
              </a:rPr>
              <a:t>Gold 1980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430768" y="5705855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步驟化教學完整對應行為目標格式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B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B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試教觀察——三個案・類化窗口的關鍵時刻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學生在第 5–7 次操作後，出現程序性記憶語言化信號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1078992"/>
            <a:ext cx="3767328" cy="475488"/>
          </a:xfrm>
          <a:prstGeom prst="roundRect">
            <a:avLst>
              <a:gd name="adj" fmla="val 0"/>
            </a:avLst>
          </a:prstGeom>
          <a:solidFill>
            <a:srgbClr val="B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133856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個案一  小涵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" y="1627632"/>
            <a:ext cx="3493008" cy="256032"/>
          </a:xfrm>
          <a:prstGeom prst="roundRect">
            <a:avLst>
              <a:gd name="adj" fmla="val 22000"/>
            </a:avLst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627632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82828"/>
                </a:solidFill>
                <a:latin typeface="Microsoft JhengHei"/>
              </a:rPr>
              <a:t>14歲・輕度智能障礙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9568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B82828"/>
                </a:solidFill>
                <a:latin typeface="Microsoft JhengHei"/>
              </a:rPr>
              <a:t>試教前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" y="2194560"/>
            <a:ext cx="3493008" cy="1572768"/>
          </a:xfrm>
          <a:prstGeom prst="roundRect">
            <a:avLst>
              <a:gd name="adj" fmla="val 5000"/>
            </a:avLst>
          </a:prstGeom>
          <a:solidFill>
            <a:srgbClr val="FDE8E8"/>
          </a:solidFill>
          <a:ln w="10160">
            <a:solidFill>
              <a:srgbClr val="B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286000"/>
            <a:ext cx="331012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✗ 能算 100−35=65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✗ 模擬購物反覆困惑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✗ 無法連結「我的錢」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  與「售價」的關係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38404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27A52"/>
                </a:solidFill>
                <a:latin typeface="Microsoft JhengHei"/>
              </a:rPr>
              <a:t>試教後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" y="4078224"/>
            <a:ext cx="3493008" cy="1572768"/>
          </a:xfrm>
          <a:prstGeom prst="roundRect">
            <a:avLst>
              <a:gd name="adj" fmla="val 5000"/>
            </a:avLst>
          </a:prstGeom>
          <a:solidFill>
            <a:srgbClr val="D2F0E4"/>
          </a:solidFill>
          <a:ln w="101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169663"/>
            <a:ext cx="331012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✓ 主動拿零錢逐枚核對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✓ 說出「這個35元，我有」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✓ 程序性記憶語言化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✓ 類化窗口開啟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" y="5760720"/>
            <a:ext cx="3493008" cy="566928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" y="5852160"/>
            <a:ext cx="32369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突破點：步驟化流程
讓靜態計算轉為
理解交易序列意義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0248" y="1078992"/>
            <a:ext cx="3767328" cy="475488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7408" y="1133856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個案二  小俊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07408" y="1627632"/>
            <a:ext cx="3493008" cy="256032"/>
          </a:xfrm>
          <a:prstGeom prst="roundRect">
            <a:avLst>
              <a:gd name="adj" fmla="val 22000"/>
            </a:avLst>
          </a:prstGeom>
          <a:solidFill>
            <a:srgbClr val="D2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07408" y="1627632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27A52"/>
                </a:solidFill>
                <a:latin typeface="Microsoft JhengHei"/>
              </a:rPr>
              <a:t>輕度自閉症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19568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B82828"/>
                </a:solidFill>
                <a:latin typeface="Microsoft JhengHei"/>
              </a:rPr>
              <a:t>試教前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07408" y="2194560"/>
            <a:ext cx="3493008" cy="1572768"/>
          </a:xfrm>
          <a:prstGeom prst="roundRect">
            <a:avLst>
              <a:gd name="adj" fmla="val 5000"/>
            </a:avLst>
          </a:prstGeom>
          <a:solidFill>
            <a:srgbClr val="FDE8E8"/>
          </a:solidFill>
          <a:ln w="10160">
            <a:solidFill>
              <a:srgbClr val="B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2286000"/>
            <a:ext cx="331012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✗ 速食店選擇迴路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✗ 後方催促→情緒失調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✗ 一學期迴避相關學習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✗ 聽到「麥當勞」即迴避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8" y="38404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27A52"/>
                </a:solidFill>
                <a:latin typeface="Microsoft JhengHei"/>
              </a:rPr>
              <a:t>試教後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07408" y="4078224"/>
            <a:ext cx="3493008" cy="1572768"/>
          </a:xfrm>
          <a:prstGeom prst="roundRect">
            <a:avLst>
              <a:gd name="adj" fmla="val 5000"/>
            </a:avLst>
          </a:prstGeom>
          <a:solidFill>
            <a:srgbClr val="D2F0E4"/>
          </a:solidFill>
          <a:ln w="101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4169663"/>
            <a:ext cx="331012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✓ 面對真實觸控機完成全程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✓ 主動說「我是7號還沒叫」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✓ 等待焦慮顯著改善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✓ 情境迴避行為消失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07408" y="5760720"/>
            <a:ext cx="3493008" cy="566928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35424" y="5852160"/>
            <a:ext cx="32369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突破點：安全練習建立信心
類化窗口在第5次
後自然開啟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47888" y="1078992"/>
            <a:ext cx="3767328" cy="475488"/>
          </a:xfrm>
          <a:prstGeom prst="roundRect">
            <a:avLst>
              <a:gd name="adj" fmla="val 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5048" y="1133856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個案三  小雯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85048" y="1627632"/>
            <a:ext cx="3493008" cy="256032"/>
          </a:xfrm>
          <a:prstGeom prst="roundRect">
            <a:avLst>
              <a:gd name="adj" fmla="val 22000"/>
            </a:avLst>
          </a:prstGeom>
          <a:solidFill>
            <a:srgbClr val="FDE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85048" y="1627632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04310"/>
                </a:solidFill>
                <a:latin typeface="Microsoft JhengHei"/>
              </a:rPr>
              <a:t>販賣機迴避行為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5048" y="19568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B82828"/>
                </a:solidFill>
                <a:latin typeface="Microsoft JhengHei"/>
              </a:rPr>
              <a:t>試教前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85048" y="2194560"/>
            <a:ext cx="3493008" cy="1572768"/>
          </a:xfrm>
          <a:prstGeom prst="roundRect">
            <a:avLst>
              <a:gd name="adj" fmla="val 5000"/>
            </a:avLst>
          </a:prstGeom>
          <a:solidFill>
            <a:srgbClr val="FDE8E8"/>
          </a:solidFill>
          <a:ln w="10160">
            <a:solidFill>
              <a:srgbClr val="B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0" y="2286000"/>
            <a:ext cx="331012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✗ 硬幣選錯多次失敗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✗ 繞道迴避所有自助設備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✗ 告訴老師「不會用」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✗ 情境焦慮長期積累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5048" y="38404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27A52"/>
                </a:solidFill>
                <a:latin typeface="Microsoft JhengHei"/>
              </a:rPr>
              <a:t>試教後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85048" y="4078224"/>
            <a:ext cx="3493008" cy="1572768"/>
          </a:xfrm>
          <a:prstGeom prst="roundRect">
            <a:avLst>
              <a:gd name="adj" fmla="val 5000"/>
            </a:avLst>
          </a:prstGeom>
          <a:solidFill>
            <a:srgbClr val="D2F0E4"/>
          </a:solidFill>
          <a:ln w="101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03920" y="4169663"/>
            <a:ext cx="331012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✓ 主動走向真實販賣機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✓ 獨立完成選飲料投幣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✓ 說「我下次自己來」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✓ 情境迴避完全消失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85048" y="5760720"/>
            <a:ext cx="3493008" cy="566928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13064" y="5852160"/>
            <a:ext cx="32369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突破點：無限次安全嘗試
消除「失敗的社會
後果」焦慮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127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預期成效——三層面 × 短中長期指標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學生・教師・學校三層面，建立完整評估框架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078992"/>
            <a:ext cx="2926080" cy="402336"/>
          </a:xfrm>
          <a:prstGeom prst="roundRect">
            <a:avLst>
              <a:gd name="adj" fmla="val 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09728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短期（1學期）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078992"/>
            <a:ext cx="2926080" cy="402336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09728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中期（1學年）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1078992"/>
            <a:ext cx="2926080" cy="402336"/>
          </a:xfrm>
          <a:prstGeom prst="roundRect">
            <a:avLst>
              <a:gd name="adj" fmla="val 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09728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長期（跨學年）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" y="1481328"/>
            <a:ext cx="2286000" cy="1463040"/>
          </a:xfrm>
          <a:prstGeom prst="roundRect">
            <a:avLst>
              <a:gd name="adj" fmla="val 7000"/>
            </a:avLst>
          </a:prstGeom>
          <a:solidFill>
            <a:srgbClr val="D6E9F8"/>
          </a:solidFill>
          <a:ln w="1778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" y="20299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68B8"/>
                </a:solidFill>
                <a:latin typeface="Microsoft JhengHei"/>
              </a:rPr>
              <a:t>🎓 學生層面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1481328"/>
            <a:ext cx="292608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0" y="1481328"/>
            <a:ext cx="2926080" cy="54864"/>
          </a:xfrm>
          <a:prstGeom prst="rect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71216" y="1609344"/>
            <a:ext cx="26700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完成 F/C 系列 80% 以上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建立貨幣辨識付款基礎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481328"/>
            <a:ext cx="292608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0" y="1481328"/>
            <a:ext cx="2926080" cy="54864"/>
          </a:xfrm>
          <a:prstGeom prst="rect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71616" y="1609344"/>
            <a:ext cx="26700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完成 A 系列 4 個以上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部分提示下完成社區操作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1481328"/>
            <a:ext cx="292608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1481328"/>
            <a:ext cx="2926080" cy="54864"/>
          </a:xfrm>
          <a:prstGeom prst="rect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72016" y="1609344"/>
            <a:ext cx="26700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真實社區環境獨立完成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ATM・超市・自助點餐機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" y="3054096"/>
            <a:ext cx="2286000" cy="1463040"/>
          </a:xfrm>
          <a:prstGeom prst="roundRect">
            <a:avLst>
              <a:gd name="adj" fmla="val 7000"/>
            </a:avLst>
          </a:prstGeom>
          <a:solidFill>
            <a:srgbClr val="D2F0E4"/>
          </a:solidFill>
          <a:ln w="1778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" y="360273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27A52"/>
                </a:solidFill>
                <a:latin typeface="Microsoft JhengHei"/>
              </a:rPr>
              <a:t>👩‍🏫 教師層面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3054096"/>
            <a:ext cx="292608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0" y="3054096"/>
            <a:ext cx="2926080" cy="54864"/>
          </a:xfrm>
          <a:prstGeom prst="rect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71216" y="3182112"/>
            <a:ext cx="26700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熟悉軟體操作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IEP 目標有效對應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3054096"/>
            <a:ext cx="292608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0" y="3054096"/>
            <a:ext cx="2926080" cy="54864"/>
          </a:xfrm>
          <a:prstGeom prst="rect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71616" y="3182112"/>
            <a:ext cx="26700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建立系統化評量記錄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追蹤步驟別進步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0" y="3054096"/>
            <a:ext cx="292608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0" y="3054096"/>
            <a:ext cx="2926080" cy="54864"/>
          </a:xfrm>
          <a:prstGeom prst="rect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72016" y="3182112"/>
            <a:ext cx="26700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累積班級學習資料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形成校本課程材料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8" y="4626864"/>
            <a:ext cx="2286000" cy="1463040"/>
          </a:xfrm>
          <a:prstGeom prst="roundRect">
            <a:avLst>
              <a:gd name="adj" fmla="val 7000"/>
            </a:avLst>
          </a:prstGeom>
          <a:solidFill>
            <a:srgbClr val="FDE7D5"/>
          </a:solidFill>
          <a:ln w="1778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2608" y="51755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4310"/>
                </a:solidFill>
                <a:latin typeface="Microsoft JhengHei"/>
              </a:rPr>
              <a:t>🏫 學校層面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0" y="4626864"/>
            <a:ext cx="292608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0" y="4626864"/>
            <a:ext cx="2926080" cy="54864"/>
          </a:xfrm>
          <a:prstGeom prst="rect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71216" y="4754880"/>
            <a:ext cx="26700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提供零成本數位教材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補充紙本互動不足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4626864"/>
            <a:ext cx="292608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43600" y="4626864"/>
            <a:ext cx="2926080" cy="54864"/>
          </a:xfrm>
          <a:prstGeom prst="rect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71616" y="4754880"/>
            <a:ext cx="26700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建立特教班數位學習環境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支援多元評量實施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4626864"/>
            <a:ext cx="292608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44000" y="4626864"/>
            <a:ext cx="2926080" cy="54864"/>
          </a:xfrm>
          <a:prstGeom prst="rect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72016" y="4754880"/>
            <a:ext cx="26700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成為區域特教分享典範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連結融合教育推廣政策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6E2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三段完整學習旅程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數位互動練習 → 紙本作業評量 → 社區真實類化</a:t>
            </a:r>
          </a:p>
        </p:txBody>
      </p:sp>
      <p:sp>
        <p:nvSpPr>
          <p:cNvPr id="8" name="Oval 7"/>
          <p:cNvSpPr/>
          <p:nvPr/>
        </p:nvSpPr>
        <p:spPr>
          <a:xfrm>
            <a:off x="1517904" y="1051560"/>
            <a:ext cx="1371600" cy="1371600"/>
          </a:xfrm>
          <a:prstGeom prst="ellipse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17904" y="1078992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latin typeface="Microsoft JhengHei"/>
              </a:rPr>
              <a:t>🖥️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487168"/>
            <a:ext cx="3767328" cy="4206240"/>
          </a:xfrm>
          <a:prstGeom prst="roundRect">
            <a:avLst>
              <a:gd name="adj" fmla="val 10000"/>
            </a:avLst>
          </a:prstGeom>
          <a:solidFill>
            <a:srgbClr val="D6E9F8"/>
          </a:solidFill>
          <a:ln w="2286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560320"/>
            <a:ext cx="3767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26B60"/>
                </a:solidFill>
                <a:latin typeface="Microsoft JhengHei"/>
              </a:rPr>
              <a:t>第一段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834640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68B8"/>
                </a:solidFill>
                <a:latin typeface="Microsoft JhengHei"/>
              </a:rPr>
              <a:t>數位互動練習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2920" y="3255264"/>
            <a:ext cx="3401568" cy="0"/>
          </a:xfrm>
          <a:prstGeom prst="line">
            <a:avLst/>
          </a:prstGeom>
          <a:ln w="11430">
            <a:solidFill>
              <a:srgbClr val="1A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" y="3328416"/>
            <a:ext cx="349300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課堂使用軟體反覆操作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三難度漸進個別適應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即時語音回饋強化記憶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允許無限次安全嘗試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輔助點擊支援精細動作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440680"/>
            <a:ext cx="3493008" cy="512064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5532120"/>
            <a:ext cx="32369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重點：建立程序性記憶
失敗不帶社會後果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9260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726B60"/>
                </a:solidFill>
                <a:latin typeface="Microsoft JhengHei"/>
              </a:rPr>
              <a:t>⟹</a:t>
            </a:r>
          </a:p>
        </p:txBody>
      </p:sp>
      <p:sp>
        <p:nvSpPr>
          <p:cNvPr id="18" name="Oval 17"/>
          <p:cNvSpPr/>
          <p:nvPr/>
        </p:nvSpPr>
        <p:spPr>
          <a:xfrm>
            <a:off x="5495543" y="1051560"/>
            <a:ext cx="1371600" cy="1371600"/>
          </a:xfrm>
          <a:prstGeom prst="ellipse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95543" y="1078992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latin typeface="Microsoft JhengHei"/>
              </a:rPr>
              <a:t>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79" y="2487168"/>
            <a:ext cx="3767328" cy="4206240"/>
          </a:xfrm>
          <a:prstGeom prst="roundRect">
            <a:avLst>
              <a:gd name="adj" fmla="val 10000"/>
            </a:avLst>
          </a:prstGeom>
          <a:solidFill>
            <a:srgbClr val="D2F0E4"/>
          </a:solidFill>
          <a:ln w="228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79" y="2560320"/>
            <a:ext cx="3767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26B60"/>
                </a:solidFill>
                <a:latin typeface="Microsoft JhengHei"/>
              </a:rPr>
              <a:t>第二段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79" y="2834640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7A52"/>
                </a:solidFill>
                <a:latin typeface="Microsoft JhengHei"/>
              </a:rPr>
              <a:t>紙本作業評量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480559" y="3255264"/>
            <a:ext cx="3401568" cy="0"/>
          </a:xfrm>
          <a:prstGeom prst="line">
            <a:avLst/>
          </a:prstGeom>
          <a:ln w="11430">
            <a:solidFill>
              <a:srgbClr val="127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80559" y="3328416"/>
            <a:ext cx="349300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一鍵 PDF 作業單生成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看圖付款/找零多元題型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學生版/答案版一鍵切換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步驟別評量對應 IEP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形成性評量持續記錄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39" y="5440680"/>
            <a:ext cx="3493008" cy="512064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62855" y="5532120"/>
            <a:ext cx="32369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重點：形成性評量
確認技能遷移程度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29260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726B60"/>
                </a:solidFill>
                <a:latin typeface="Microsoft JhengHei"/>
              </a:rPr>
              <a:t>⟹</a:t>
            </a:r>
          </a:p>
        </p:txBody>
      </p:sp>
      <p:sp>
        <p:nvSpPr>
          <p:cNvPr id="28" name="Oval 27"/>
          <p:cNvSpPr/>
          <p:nvPr/>
        </p:nvSpPr>
        <p:spPr>
          <a:xfrm>
            <a:off x="9473183" y="1051560"/>
            <a:ext cx="1371600" cy="1371600"/>
          </a:xfrm>
          <a:prstGeom prst="ellipse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73183" y="1078992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latin typeface="Microsoft JhengHei"/>
              </a:rPr>
              <a:t>🏘️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75319" y="2487168"/>
            <a:ext cx="3767328" cy="4206240"/>
          </a:xfrm>
          <a:prstGeom prst="roundRect">
            <a:avLst>
              <a:gd name="adj" fmla="val 10000"/>
            </a:avLst>
          </a:prstGeom>
          <a:solidFill>
            <a:srgbClr val="FDE7D5"/>
          </a:solidFill>
          <a:ln w="2286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19" y="2560320"/>
            <a:ext cx="3767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26B60"/>
                </a:solidFill>
                <a:latin typeface="Microsoft JhengHei"/>
              </a:rPr>
              <a:t>第三段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19" y="2834640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4310"/>
                </a:solidFill>
                <a:latin typeface="Microsoft JhengHei"/>
              </a:rPr>
              <a:t>社區真實類化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458199" y="3255264"/>
            <a:ext cx="3401568" cy="0"/>
          </a:xfrm>
          <a:prstGeom prst="line">
            <a:avLst/>
          </a:prstGeom>
          <a:ln w="11430">
            <a:solidFill>
              <a:srgbClr val="C043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458199" y="3328416"/>
            <a:ext cx="349300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教師 3 公尺外靜態觀察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逐步褪除支持提示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真實設備實地操作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社區技能類化確認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終極目標：完全獨立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79" y="5440680"/>
            <a:ext cx="3493008" cy="512064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0495" y="5532120"/>
            <a:ext cx="32369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重點：類化窗口開啟
終極成效確認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6108192"/>
            <a:ext cx="11539728" cy="347472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8056" y="6199632"/>
            <a:ext cx="112836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✦ 三段設計呼應課綱「社區功能性技能」目標・《特殊教育法》§24 輔助科技條款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1A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技術規格與配套系統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無障礙設計・作業單系統・獎勵系統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15568"/>
            <a:ext cx="64008" cy="292608"/>
          </a:xfrm>
          <a:prstGeom prst="rect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68B8"/>
                </a:solidFill>
                <a:latin typeface="Microsoft JhengHei"/>
              </a:rPr>
              <a:t>技術規格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81328"/>
            <a:ext cx="5486400" cy="475488"/>
          </a:xfrm>
          <a:prstGeom prst="roundRect">
            <a:avLst>
              <a:gd name="adj" fmla="val 4000"/>
            </a:avLst>
          </a:prstGeom>
          <a:solidFill>
            <a:srgbClr val="D6E9F8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63624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latin typeface="Microsoft JhengHei"/>
              </a:rPr>
              <a:t>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5727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8B8"/>
                </a:solidFill>
                <a:latin typeface="Microsoft JhengHei"/>
              </a:rPr>
              <a:t>平台技術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157276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814"/>
                </a:solidFill>
                <a:latin typeface="Microsoft JhengHei"/>
              </a:rPr>
              <a:t>HTML5 + 純 JavaScript（無框架依賴・純靜態頁面）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29968"/>
            <a:ext cx="5486400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112264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latin typeface="Microsoft JhengHei"/>
              </a:rPr>
              <a:t>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1214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8B8"/>
                </a:solidFill>
                <a:latin typeface="Microsoft JhengHei"/>
              </a:rPr>
              <a:t>部署方式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1408" y="212140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814"/>
                </a:solidFill>
                <a:latin typeface="Microsoft JhengHei"/>
              </a:rPr>
              <a:t>完全離線・免安裝・免伺服器・USB 隨身碟即可使用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578608"/>
            <a:ext cx="5486400" cy="475488"/>
          </a:xfrm>
          <a:prstGeom prst="roundRect">
            <a:avLst>
              <a:gd name="adj" fmla="val 4000"/>
            </a:avLst>
          </a:prstGeom>
          <a:solidFill>
            <a:srgbClr val="D6E9F8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660904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latin typeface="Microsoft JhengHei"/>
              </a:rPr>
              <a:t>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670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8B8"/>
                </a:solidFill>
                <a:latin typeface="Microsoft JhengHei"/>
              </a:rPr>
              <a:t>授權費用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21408" y="267004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814"/>
                </a:solidFill>
                <a:latin typeface="Microsoft JhengHei"/>
              </a:rPr>
              <a:t>NT$ 0・原始碼完整開放・可自由改作用於教育目的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27248"/>
            <a:ext cx="5486400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209544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latin typeface="Microsoft JhengHei"/>
              </a:rPr>
              <a:t>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2186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8B8"/>
                </a:solidFill>
                <a:latin typeface="Microsoft JhengHei"/>
              </a:rPr>
              <a:t>程式規模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1408" y="321868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814"/>
                </a:solidFill>
                <a:latin typeface="Microsoft JhengHei"/>
              </a:rPr>
              <a:t>150,000+ 行程式碼・24 個教學單元・4 個配套系統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675887"/>
            <a:ext cx="5486400" cy="475488"/>
          </a:xfrm>
          <a:prstGeom prst="roundRect">
            <a:avLst>
              <a:gd name="adj" fmla="val 4000"/>
            </a:avLst>
          </a:prstGeom>
          <a:solidFill>
            <a:srgbClr val="D6E9F8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758183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latin typeface="Microsoft JhengHei"/>
              </a:rPr>
              <a:t>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76732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8B8"/>
                </a:solidFill>
                <a:latin typeface="Microsoft JhengHei"/>
              </a:rPr>
              <a:t>設備相容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21408" y="3767327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814"/>
                </a:solidFill>
                <a:latin typeface="Microsoft JhengHei"/>
              </a:rPr>
              <a:t>平板・桌機・手機全相容・觸控與滑鼠均支援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224528"/>
            <a:ext cx="5486400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306824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latin typeface="Microsoft JhengHei"/>
              </a:rPr>
              <a:t>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3159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8B8"/>
                </a:solidFill>
                <a:latin typeface="Microsoft JhengHei"/>
              </a:rPr>
              <a:t>語音系統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21408" y="431596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814"/>
                </a:solidFill>
                <a:latin typeface="Microsoft JhengHei"/>
              </a:rPr>
              <a:t>Web Speech API 繁體中文・雅婷語音優先・速率可調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773168"/>
            <a:ext cx="5486400" cy="475488"/>
          </a:xfrm>
          <a:prstGeom prst="roundRect">
            <a:avLst>
              <a:gd name="adj" fmla="val 4000"/>
            </a:avLst>
          </a:prstGeom>
          <a:solidFill>
            <a:srgbClr val="D6E9F8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855464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latin typeface="Microsoft JhengHei"/>
              </a:rPr>
              <a:t>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8646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8B8"/>
                </a:solidFill>
                <a:latin typeface="Microsoft JhengHei"/>
              </a:rPr>
              <a:t>無障礙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21408" y="486460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814"/>
                </a:solidFill>
                <a:latin typeface="Microsoft JhengHei"/>
              </a:rPr>
              <a:t>視覺2倍縮放・高對比・語音全程引導・輔助點擊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321808"/>
            <a:ext cx="5486400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5404104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latin typeface="Microsoft JhengHei"/>
              </a:rPr>
              <a:t>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413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8B8"/>
                </a:solidFill>
                <a:latin typeface="Microsoft JhengHei"/>
              </a:rPr>
              <a:t>評量整合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21408" y="541324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814"/>
                </a:solidFill>
                <a:latin typeface="Microsoft JhengHei"/>
              </a:rPr>
              <a:t>作業單 PDF 下載・獎勵系統・步驟評量記錄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1115568"/>
            <a:ext cx="64008" cy="292608"/>
          </a:xfrm>
          <a:prstGeom prst="rect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111556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04310"/>
                </a:solidFill>
                <a:latin typeface="Microsoft JhengHei"/>
              </a:rPr>
              <a:t>作業單系統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72200" y="1481328"/>
            <a:ext cx="2834640" cy="1426464"/>
          </a:xfrm>
          <a:prstGeom prst="roundRect">
            <a:avLst>
              <a:gd name="adj" fmla="val 8000"/>
            </a:avLst>
          </a:prstGeom>
          <a:solidFill>
            <a:srgbClr val="FDE7D5"/>
          </a:solidFill>
          <a:ln w="1651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1618488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latin typeface="Microsoft JhengHei"/>
              </a:rPr>
              <a:t>🖨️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0568" y="1645920"/>
            <a:ext cx="2048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04310"/>
                </a:solidFill>
                <a:latin typeface="Microsoft JhengHei"/>
              </a:rPr>
              <a:t>一鍵 PDF 生成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2029968"/>
            <a:ext cx="252374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即時產生對應單元個人化作業單</a:t>
            </a:r>
          </a:p>
          <a:p>
            <a:pPr algn="l">
              <a:lnSpc>
                <a:spcPts val="14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題目・答案版雙版本切換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0" y="1481328"/>
            <a:ext cx="2834640" cy="1426464"/>
          </a:xfrm>
          <a:prstGeom prst="roundRect">
            <a:avLst>
              <a:gd name="adj" fmla="val 8000"/>
            </a:avLst>
          </a:prstGeom>
          <a:solidFill>
            <a:srgbClr val="FDE7D5"/>
          </a:solidFill>
          <a:ln w="1651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81160" y="1618488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latin typeface="Microsoft JhengHei"/>
              </a:rPr>
              <a:t>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02368" y="1645920"/>
            <a:ext cx="2048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04310"/>
                </a:solidFill>
                <a:latin typeface="Microsoft JhengHei"/>
              </a:rPr>
              <a:t>智慧題目生成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26880" y="2029968"/>
            <a:ext cx="252374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自動依難度調整題型與數量</a:t>
            </a:r>
          </a:p>
          <a:p>
            <a:pPr algn="l">
              <a:lnSpc>
                <a:spcPts val="14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看圖填空・付款找零多元題型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72200" y="3054096"/>
            <a:ext cx="2834640" cy="1426464"/>
          </a:xfrm>
          <a:prstGeom prst="roundRect">
            <a:avLst>
              <a:gd name="adj" fmla="val 8000"/>
            </a:avLst>
          </a:prstGeom>
          <a:solidFill>
            <a:srgbClr val="FDE7D5"/>
          </a:solidFill>
          <a:ln w="1651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3191256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latin typeface="Microsoft JhengHei"/>
              </a:rPr>
              <a:t>🏪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30568" y="3218688"/>
            <a:ext cx="2048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04310"/>
                </a:solidFill>
                <a:latin typeface="Microsoft JhengHei"/>
              </a:rPr>
              <a:t>商店客製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55080" y="3602736"/>
            <a:ext cx="252374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A4 依 12 種商店類型對應題目</a:t>
            </a:r>
          </a:p>
          <a:p>
            <a:pPr algn="l">
              <a:lnSpc>
                <a:spcPts val="14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B 系列依主題生成場景題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00" y="3054096"/>
            <a:ext cx="2834640" cy="1426464"/>
          </a:xfrm>
          <a:prstGeom prst="roundRect">
            <a:avLst>
              <a:gd name="adj" fmla="val 8000"/>
            </a:avLst>
          </a:prstGeom>
          <a:solidFill>
            <a:srgbClr val="FDE7D5"/>
          </a:solidFill>
          <a:ln w="1651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81160" y="3191256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latin typeface="Microsoft JhengHei"/>
              </a:rPr>
              <a:t>🏆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02368" y="3218688"/>
            <a:ext cx="2048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04310"/>
                </a:solidFill>
                <a:latin typeface="Microsoft JhengHei"/>
              </a:rPr>
              <a:t>獎勵系統整合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26880" y="3602736"/>
            <a:ext cx="252374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完成任務解鎖貼紙徽章</a:t>
            </a:r>
          </a:p>
          <a:p>
            <a:pPr algn="l">
              <a:lnSpc>
                <a:spcPts val="14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照片上傳・成就累積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1A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教案摘要（一）——F 系列・C 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教案一：F1/F2 數學先備　教案二：C4/C5/C6 貨幣認知整合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1078992"/>
            <a:ext cx="5577840" cy="5193792"/>
          </a:xfrm>
          <a:prstGeom prst="roundRect">
            <a:avLst>
              <a:gd name="adj" fmla="val 10000"/>
            </a:avLst>
          </a:prstGeom>
          <a:solidFill>
            <a:srgbClr val="D6E9F8"/>
          </a:solidFill>
          <a:ln w="2286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8B8"/>
                </a:solidFill>
                <a:latin typeface="Microsoft JhengHei"/>
              </a:rPr>
              <a:t>📚 教案一：F 系列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72768"/>
            <a:ext cx="5212080" cy="329184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1664208"/>
            <a:ext cx="4956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適用：國中特教班・資源班　3節×45分鐘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93392"/>
            <a:ext cx="1682496" cy="40050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993392"/>
            <a:ext cx="1682496" cy="365760"/>
          </a:xfrm>
          <a:prstGeom prst="roundRect">
            <a:avLst>
              <a:gd name="adj" fmla="val 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011680"/>
            <a:ext cx="1682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第一節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432304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68B8"/>
                </a:solidFill>
                <a:latin typeface="Microsoft JhengHei"/>
              </a:rPr>
              <a:t>F1 一對一對應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61488"/>
            <a:ext cx="1499616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導入：實物配對引發生活連結</a:t>
            </a:r>
          </a:p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示範：教師操作 F1 展示步驟</a:t>
            </a:r>
          </a:p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引導：輔助點擊模式學生嘗試</a:t>
            </a:r>
          </a:p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評量：步驟完成記錄 I/VP/PP/FP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49424" y="1993392"/>
            <a:ext cx="1682496" cy="40050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49424" y="1993392"/>
            <a:ext cx="1682496" cy="365760"/>
          </a:xfrm>
          <a:prstGeom prst="roundRect">
            <a:avLst>
              <a:gd name="adj" fmla="val 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49424" y="2011680"/>
            <a:ext cx="1682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第二節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0864" y="2432304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68B8"/>
                </a:solidFill>
                <a:latin typeface="Microsoft JhengHei"/>
              </a:rPr>
              <a:t>F2 唱數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0864" y="2761488"/>
            <a:ext cx="1499616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複習：F1 連結「幾個就說幾」</a:t>
            </a:r>
          </a:p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示範：逐步唱數視覺化操作</a:t>
            </a:r>
          </a:p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引導：語音輔助模式跟讀練習</a:t>
            </a:r>
          </a:p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評量：錄音樣本建立基線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41648" y="1993392"/>
            <a:ext cx="1682496" cy="40050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41648" y="1993392"/>
            <a:ext cx="1682496" cy="365760"/>
          </a:xfrm>
          <a:prstGeom prst="roundRect">
            <a:avLst>
              <a:gd name="adj" fmla="val 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41648" y="2011680"/>
            <a:ext cx="1682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第三節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3088" y="2432304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68B8"/>
                </a:solidFill>
                <a:latin typeface="Microsoft JhengHei"/>
              </a:rPr>
              <a:t>整合評量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33088" y="2761488"/>
            <a:ext cx="1499616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整合：F1+F2 混合任務</a:t>
            </a:r>
          </a:p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紙本：PDF 作業單形成性評量</a:t>
            </a:r>
          </a:p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融合：普通班同儕互相示範</a:t>
            </a:r>
          </a:p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更新：IEP 短期目標記錄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1078992"/>
            <a:ext cx="5870448" cy="5193792"/>
          </a:xfrm>
          <a:prstGeom prst="roundRect">
            <a:avLst>
              <a:gd name="adj" fmla="val 10000"/>
            </a:avLst>
          </a:prstGeom>
          <a:solidFill>
            <a:srgbClr val="D2F0E4"/>
          </a:solidFill>
          <a:ln w="228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2" y="11704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7A52"/>
                </a:solidFill>
                <a:latin typeface="Microsoft JhengHei"/>
              </a:rPr>
              <a:t>🪙 教案二：C 系列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9632" y="1572768"/>
            <a:ext cx="5394960" cy="329184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1664208"/>
            <a:ext cx="51389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C4 付款・C5 夠不夠・C6 找零　核心融合節次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9632" y="1993392"/>
            <a:ext cx="1737360" cy="40050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9632" y="1993392"/>
            <a:ext cx="1737360" cy="365760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9632" y="201168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第一節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1072" y="243230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27A52"/>
                </a:solidFill>
                <a:latin typeface="Microsoft JhengHei"/>
              </a:rPr>
              <a:t>C4 付款技能建立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91072" y="2761488"/>
            <a:ext cx="1554480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付款面額組合策略訓練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拖曳操作程序記憶建立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三難度漸進挑戰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83296" y="1993392"/>
            <a:ext cx="1737360" cy="40050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83296" y="1993392"/>
            <a:ext cx="1737360" cy="365760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83296" y="201168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第二節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74736" y="243230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27A52"/>
                </a:solidFill>
                <a:latin typeface="Microsoft JhengHei"/>
              </a:rPr>
              <a:t>C5+C6 整合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74736" y="2761488"/>
            <a:ext cx="1554480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C5：足額判斷比較思維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C6：找零計算驗收閉環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多步驟序列程序記憶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966960" y="1993392"/>
            <a:ext cx="1737360" cy="40050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966960" y="1993392"/>
            <a:ext cx="1737360" cy="365760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66960" y="201168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第三節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243230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27A52"/>
                </a:solidFill>
                <a:latin typeface="Microsoft JhengHei"/>
              </a:rPr>
              <a:t>融合情境評量🏆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2761488"/>
            <a:ext cx="1554480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普通班同儕擔任「收銀員」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特殊需求學生擔任「顧客」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雙向融合目標同步實現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C043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教案摘要（二）——A 系列真實情境類化模組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教案三：A1 自動販賣機（核心融合節次）・A5 ATM 操作精要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1078992"/>
            <a:ext cx="7223760" cy="5212080"/>
          </a:xfrm>
          <a:prstGeom prst="roundRect">
            <a:avLst>
              <a:gd name="adj" fmla="val 10000"/>
            </a:avLst>
          </a:prstGeom>
          <a:solidFill>
            <a:srgbClr val="FDE7D5"/>
          </a:solidFill>
          <a:ln w="2286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170432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4310"/>
                </a:solidFill>
                <a:latin typeface="Microsoft JhengHei"/>
              </a:rPr>
              <a:t>🥤 A1 自動販賣機教案（3 節）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572768"/>
            <a:ext cx="6858000" cy="329184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664208"/>
            <a:ext cx="66019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核心任務：建立 7 步驟完整操作程序記憶・達成社區真實類化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993392"/>
            <a:ext cx="2231136" cy="4023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993392"/>
            <a:ext cx="2231136" cy="384048"/>
          </a:xfrm>
          <a:prstGeom prst="roundRect">
            <a:avLst>
              <a:gd name="adj" fmla="val 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011680"/>
            <a:ext cx="22311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第一節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24505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8B8"/>
                </a:solidFill>
                <a:latin typeface="Microsoft JhengHei"/>
              </a:rPr>
              <a:t>流程建立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2779776"/>
            <a:ext cx="2011680" cy="3072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工作分析 7 步驟逐一教導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輔助點擊全程引導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語音提示每步操作要點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簡單模式→普通模式過渡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52928" y="1993392"/>
            <a:ext cx="2231136" cy="4023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52928" y="1993392"/>
            <a:ext cx="2231136" cy="384048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2928" y="2011680"/>
            <a:ext cx="22311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第二節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656" y="24505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7A52"/>
                </a:solidFill>
                <a:latin typeface="Microsoft JhengHei"/>
              </a:rPr>
              <a:t>投幣找零強化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62656" y="2779776"/>
            <a:ext cx="2011680" cy="3072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面額選擇策略訓練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找零驗收程序建立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三難度循序挑戰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coinFirst 先投幣模式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30368" y="1993392"/>
            <a:ext cx="2231136" cy="4023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30368" y="1993392"/>
            <a:ext cx="2231136" cy="384048"/>
          </a:xfrm>
          <a:prstGeom prst="roundRect">
            <a:avLst>
              <a:gd name="adj" fmla="val 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30368" y="2011680"/>
            <a:ext cx="22311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第三節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0096" y="24505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4310"/>
                </a:solidFill>
                <a:latin typeface="Microsoft JhengHei"/>
              </a:rPr>
              <a:t>融合教育頂點 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0096" y="2779776"/>
            <a:ext cx="2011680" cy="3072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邀請普通班同儕為夥伴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在校園真實販賣機操作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教師 3 公尺外靜態觀察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→ 類化窗口開啟關鍵節次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1078992"/>
            <a:ext cx="4206240" cy="5212080"/>
          </a:xfrm>
          <a:prstGeom prst="roundRect">
            <a:avLst>
              <a:gd name="adj" fmla="val 10000"/>
            </a:avLst>
          </a:prstGeom>
          <a:solidFill>
            <a:srgbClr val="EEDFFB"/>
          </a:solidFill>
          <a:ln w="2286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117043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E28B4"/>
                </a:solidFill>
                <a:latin typeface="Microsoft JhengHei"/>
              </a:rPr>
              <a:t>🏧 A5 ATM 操作精要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3840" y="1609344"/>
            <a:ext cx="3749039" cy="5303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73568" y="169164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E28B4"/>
                </a:solidFill>
                <a:latin typeface="Microsoft JhengHei"/>
              </a:rPr>
              <a:t>教學時間：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79408" y="16916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3節×45分鐘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0" y="2176272"/>
            <a:ext cx="3749039" cy="530352"/>
          </a:xfrm>
          <a:prstGeom prst="roundRect">
            <a:avLst>
              <a:gd name="adj" fmla="val 3000"/>
            </a:avLst>
          </a:prstGeom>
          <a:solidFill>
            <a:srgbClr val="EEDFFB"/>
          </a:solidFill>
          <a:ln w="762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73568" y="22585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E28B4"/>
                </a:solidFill>
                <a:latin typeface="Microsoft JhengHei"/>
              </a:rPr>
              <a:t>學習階段：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79408" y="225856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高中特教班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63840" y="2743200"/>
            <a:ext cx="3749039" cy="5303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73568" y="282549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E28B4"/>
                </a:solidFill>
                <a:latin typeface="Microsoft JhengHei"/>
              </a:rPr>
              <a:t>學習目標：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79408" y="282549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獨立完成提款（I）</a:t>
            </a:r>
          </a:p>
          <a:p>
            <a:pPr algn="l">
              <a:lnSpc>
                <a:spcPts val="13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部分提示下存款/轉帳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63840" y="3310128"/>
            <a:ext cx="3749039" cy="530352"/>
          </a:xfrm>
          <a:prstGeom prst="roundRect">
            <a:avLst>
              <a:gd name="adj" fmla="val 3000"/>
            </a:avLst>
          </a:prstGeom>
          <a:solidFill>
            <a:srgbClr val="EEDFFB"/>
          </a:solidFill>
          <a:ln w="762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73568" y="339242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E28B4"/>
                </a:solidFill>
                <a:latin typeface="Microsoft JhengHei"/>
              </a:rPr>
              <a:t>第一節：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79408" y="339242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介面認識・提款流程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63840" y="3877056"/>
            <a:ext cx="3749039" cy="5303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73568" y="395935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E28B4"/>
                </a:solidFill>
                <a:latin typeface="Microsoft JhengHei"/>
              </a:rPr>
              <a:t>第二節：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79408" y="39593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存款・轉帳流程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63840" y="4443984"/>
            <a:ext cx="3749039" cy="530352"/>
          </a:xfrm>
          <a:prstGeom prst="roundRect">
            <a:avLst>
              <a:gd name="adj" fmla="val 3000"/>
            </a:avLst>
          </a:prstGeom>
          <a:solidFill>
            <a:srgbClr val="EEDFFB"/>
          </a:solidFill>
          <a:ln w="762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73568" y="452628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E28B4"/>
                </a:solidFill>
                <a:latin typeface="Microsoft JhengHei"/>
              </a:rPr>
              <a:t>第三節：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79408" y="45262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真實 ATM 社區演練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63840" y="5010912"/>
            <a:ext cx="3749039" cy="5303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73568" y="509320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E28B4"/>
                </a:solidFill>
                <a:latin typeface="Microsoft JhengHei"/>
              </a:rPr>
              <a:t>融合設計：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79408" y="50932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普通班同學擔任</a:t>
            </a:r>
          </a:p>
          <a:p>
            <a:pPr algn="l">
              <a:lnSpc>
                <a:spcPts val="13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「等候示範者」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63840" y="5577840"/>
            <a:ext cx="3749039" cy="530352"/>
          </a:xfrm>
          <a:prstGeom prst="roundRect">
            <a:avLst>
              <a:gd name="adj" fmla="val 3000"/>
            </a:avLst>
          </a:prstGeom>
          <a:solidFill>
            <a:srgbClr val="EEDFFB"/>
          </a:solidFill>
          <a:ln w="762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73568" y="566013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E28B4"/>
                </a:solidFill>
                <a:latin typeface="Microsoft JhengHei"/>
              </a:rPr>
              <a:t>評量工具：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79408" y="566013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8步驟評量表</a:t>
            </a:r>
          </a:p>
          <a:p>
            <a:pPr algn="l">
              <a:lnSpc>
                <a:spcPts val="13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IEP 轉銜目標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6E2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核心創新——四大首創特色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填補台灣特殊教育金融素養教材十年空白</a:t>
            </a:r>
          </a:p>
        </p:txBody>
      </p:sp>
      <p:sp>
        <p:nvSpPr>
          <p:cNvPr id="8" name="Oval 7"/>
          <p:cNvSpPr/>
          <p:nvPr/>
        </p:nvSpPr>
        <p:spPr>
          <a:xfrm>
            <a:off x="1234440" y="1051560"/>
            <a:ext cx="914400" cy="914400"/>
          </a:xfrm>
          <a:prstGeom prst="ellipse">
            <a:avLst/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078992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latin typeface="Microsoft JhengHei"/>
              </a:rPr>
              <a:t>🖱️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029968"/>
            <a:ext cx="2743200" cy="4462272"/>
          </a:xfrm>
          <a:prstGeom prst="roundRect">
            <a:avLst>
              <a:gd name="adj" fmla="val 10000"/>
            </a:avLst>
          </a:prstGeom>
          <a:solidFill>
            <a:srgbClr val="EEDFFB"/>
          </a:solidFill>
          <a:ln w="2286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029968"/>
            <a:ext cx="2743200" cy="475488"/>
          </a:xfrm>
          <a:prstGeom prst="roundRect">
            <a:avLst>
              <a:gd name="adj" fmla="val 0"/>
            </a:avLst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066543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首創
輔助點擊模式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5420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26B60"/>
                </a:solidFill>
                <a:latin typeface="Microsoft JhengHei"/>
              </a:rPr>
              <a:t>精細動作障礙解方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2871216"/>
            <a:ext cx="2377440" cy="0"/>
          </a:xfrm>
          <a:prstGeom prst="line">
            <a:avLst/>
          </a:prstGeom>
          <a:ln w="10160">
            <a:solidFill>
              <a:srgbClr val="6E2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84632" y="2944368"/>
            <a:ext cx="2468880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全 24 單元均支援單一點擊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不需拖曳・不需精確觸控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可疊加任何難度層級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全台同類型特教軟體首例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102352"/>
            <a:ext cx="2468880" cy="237744"/>
          </a:xfrm>
          <a:prstGeom prst="roundRect">
            <a:avLst>
              <a:gd name="adj" fmla="val 22000"/>
            </a:avLst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102352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icrosoft JhengHei"/>
              </a:rPr>
              <a:t>腦性麻痺・脊損・肌萎・ADHD</a:t>
            </a:r>
          </a:p>
        </p:txBody>
      </p:sp>
      <p:sp>
        <p:nvSpPr>
          <p:cNvPr id="18" name="Oval 17"/>
          <p:cNvSpPr/>
          <p:nvPr/>
        </p:nvSpPr>
        <p:spPr>
          <a:xfrm>
            <a:off x="4206240" y="1051560"/>
            <a:ext cx="914400" cy="914400"/>
          </a:xfrm>
          <a:prstGeom prst="ellipse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1078992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latin typeface="Microsoft JhengHei"/>
              </a:rPr>
              <a:t>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029968"/>
            <a:ext cx="2743200" cy="4462272"/>
          </a:xfrm>
          <a:prstGeom prst="roundRect">
            <a:avLst>
              <a:gd name="adj" fmla="val 10000"/>
            </a:avLst>
          </a:prstGeom>
          <a:solidFill>
            <a:srgbClr val="FDE7D5"/>
          </a:solidFill>
          <a:ln w="2286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0" y="2029968"/>
            <a:ext cx="2743200" cy="475488"/>
          </a:xfrm>
          <a:prstGeom prst="roundRect">
            <a:avLst>
              <a:gd name="adj" fmla="val 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2066543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首創
六場景仿真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25420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26B60"/>
                </a:solidFill>
                <a:latin typeface="Microsoft JhengHei"/>
              </a:rPr>
              <a:t>社區設備互動模擬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474720" y="2871216"/>
            <a:ext cx="2377440" cy="0"/>
          </a:xfrm>
          <a:prstGeom prst="line">
            <a:avLst/>
          </a:prstGeom>
          <a:ln w="10160">
            <a:solidFill>
              <a:srgbClr val="C043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456432" y="2944368"/>
            <a:ext cx="2468880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自動販賣機・理髮廳・麥當勞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ATM・超市收銀台・火車票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像素到流程忠實仿真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降低真實場域焦慮的過渡橋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29000" y="5102352"/>
            <a:ext cx="2468880" cy="237744"/>
          </a:xfrm>
          <a:prstGeom prst="roundRect">
            <a:avLst>
              <a:gd name="adj" fmla="val 2200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9000" y="5102352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icrosoft JhengHei"/>
              </a:rPr>
              <a:t>類化轉移・社區獨立操作</a:t>
            </a:r>
          </a:p>
        </p:txBody>
      </p:sp>
      <p:sp>
        <p:nvSpPr>
          <p:cNvPr id="28" name="Oval 27"/>
          <p:cNvSpPr/>
          <p:nvPr/>
        </p:nvSpPr>
        <p:spPr>
          <a:xfrm>
            <a:off x="7178040" y="1051560"/>
            <a:ext cx="914400" cy="914400"/>
          </a:xfrm>
          <a:prstGeom prst="ellipse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78040" y="1078992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latin typeface="Microsoft JhengHei"/>
              </a:rPr>
              <a:t>📚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2029968"/>
            <a:ext cx="2743200" cy="4462272"/>
          </a:xfrm>
          <a:prstGeom prst="roundRect">
            <a:avLst>
              <a:gd name="adj" fmla="val 10000"/>
            </a:avLst>
          </a:prstGeom>
          <a:solidFill>
            <a:srgbClr val="D2F0E4"/>
          </a:solidFill>
          <a:ln w="228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2029968"/>
            <a:ext cx="2743200" cy="475488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2066543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首創
完整序階課程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25420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26B60"/>
                </a:solidFill>
                <a:latin typeface="Microsoft JhengHei"/>
              </a:rPr>
              <a:t>24單元×4系列系統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446520" y="2871216"/>
            <a:ext cx="2377440" cy="0"/>
          </a:xfrm>
          <a:prstGeom prst="line">
            <a:avLst/>
          </a:prstGeom>
          <a:ln w="10160">
            <a:solidFill>
              <a:srgbClr val="127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428232" y="2944368"/>
            <a:ext cx="2468880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F→C→A→B 完整學習序階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從數學先備到預算規劃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全台首個完整金融素養套件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課綱全部學習主題完整覆蓋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5102352"/>
            <a:ext cx="2468880" cy="237744"/>
          </a:xfrm>
          <a:prstGeom prst="roundRect">
            <a:avLst>
              <a:gd name="adj" fmla="val 2200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5102352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icrosoft JhengHei"/>
              </a:rPr>
              <a:t>國小至高中完整學習路徑</a:t>
            </a:r>
          </a:p>
        </p:txBody>
      </p:sp>
      <p:sp>
        <p:nvSpPr>
          <p:cNvPr id="38" name="Oval 37"/>
          <p:cNvSpPr/>
          <p:nvPr/>
        </p:nvSpPr>
        <p:spPr>
          <a:xfrm>
            <a:off x="10149840" y="1051560"/>
            <a:ext cx="914400" cy="914400"/>
          </a:xfrm>
          <a:prstGeom prst="ellipse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49840" y="1078992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latin typeface="Microsoft JhengHei"/>
              </a:rPr>
              <a:t>🎯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35440" y="2029968"/>
            <a:ext cx="2743200" cy="4462272"/>
          </a:xfrm>
          <a:prstGeom prst="roundRect">
            <a:avLst>
              <a:gd name="adj" fmla="val 10000"/>
            </a:avLst>
          </a:prstGeom>
          <a:solidFill>
            <a:srgbClr val="D6E9F8"/>
          </a:solidFill>
          <a:ln w="2286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35440" y="2029968"/>
            <a:ext cx="2743200" cy="475488"/>
          </a:xfrm>
          <a:prstGeom prst="roundRect">
            <a:avLst>
              <a:gd name="adj" fmla="val 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40" y="2066543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首創
IEP 整合設計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25420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26B60"/>
                </a:solidFill>
                <a:latin typeface="Microsoft JhengHei"/>
              </a:rPr>
              <a:t>評量-作業單-獎勵三合一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418320" y="2871216"/>
            <a:ext cx="2377440" cy="0"/>
          </a:xfrm>
          <a:prstGeom prst="line">
            <a:avLst/>
          </a:prstGeom>
          <a:ln w="10160">
            <a:solidFill>
              <a:srgbClr val="1A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9400032" y="2944368"/>
            <a:ext cx="2468880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工作分析法步驟評量格式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PDF 作業單一鍵生成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獎勵系統強化學習動機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教師行政負擔降低 50%+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72600" y="5102352"/>
            <a:ext cx="2468880" cy="237744"/>
          </a:xfrm>
          <a:prstGeom prst="roundRect">
            <a:avLst>
              <a:gd name="adj" fmla="val 2200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72600" y="5102352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icrosoft JhengHei"/>
              </a:rPr>
              <a:t>IEP目標・形成性評量・激勵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43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C8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19456"/>
            <a:ext cx="4114800" cy="6638544"/>
          </a:xfrm>
          <a:prstGeom prst="rect">
            <a:avLst/>
          </a:prstGeom>
          <a:solidFill>
            <a:srgbClr val="143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371600"/>
            <a:ext cx="4114800" cy="73152"/>
          </a:xfrm>
          <a:prstGeom prst="rect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743200"/>
            <a:ext cx="4114800" cy="73152"/>
          </a:xfrm>
          <a:prstGeom prst="rect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4114800" cy="73152"/>
          </a:xfrm>
          <a:prstGeom prst="rect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4114800" cy="73152"/>
          </a:xfrm>
          <a:prstGeom prst="rect">
            <a:avLst/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91440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Microsoft JhengHei"/>
              </a:rPr>
              <a:t>感謝聆聽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173736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DC870"/>
                </a:solidFill>
                <a:latin typeface="Microsoft JhengHei"/>
              </a:rPr>
              <a:t>金錢小達人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2423160"/>
            <a:ext cx="37490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BBBDD"/>
                </a:solidFill>
                <a:latin typeface="Microsoft JhengHei"/>
              </a:rPr>
              <a:t>互動式特殊教育
生活數學暨金融素養教學軟體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310128"/>
            <a:ext cx="3749039" cy="640080"/>
          </a:xfrm>
          <a:prstGeom prst="roundRect">
            <a:avLst>
              <a:gd name="adj" fmla="val 6000"/>
            </a:avLst>
          </a:prstGeom>
          <a:solidFill>
            <a:srgbClr val="1E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334670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68B8"/>
                </a:solidFill>
                <a:latin typeface="Microsoft JhengHei"/>
              </a:rPr>
              <a:t>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49300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Microsoft JhengHei"/>
              </a:rPr>
              <a:t>教學單元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4041648"/>
            <a:ext cx="3749039" cy="640080"/>
          </a:xfrm>
          <a:prstGeom prst="roundRect">
            <a:avLst>
              <a:gd name="adj" fmla="val 6000"/>
            </a:avLst>
          </a:prstGeom>
          <a:solidFill>
            <a:srgbClr val="1E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407822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27A52"/>
                </a:solidFill>
                <a:latin typeface="Microsoft Jheng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22452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Microsoft JhengHei"/>
              </a:rPr>
              <a:t>課程系列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4773168"/>
            <a:ext cx="3749039" cy="640080"/>
          </a:xfrm>
          <a:prstGeom prst="roundRect">
            <a:avLst>
              <a:gd name="adj" fmla="val 6000"/>
            </a:avLst>
          </a:prstGeom>
          <a:solidFill>
            <a:srgbClr val="1E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" y="480974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04310"/>
                </a:solidFill>
                <a:latin typeface="Microsoft JhengHei"/>
              </a:rPr>
              <a:t>150K+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95604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Microsoft JhengHei"/>
              </a:rPr>
              <a:t>程式碼行數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5504688"/>
            <a:ext cx="3749039" cy="640080"/>
          </a:xfrm>
          <a:prstGeom prst="roundRect">
            <a:avLst>
              <a:gd name="adj" fmla="val 6000"/>
            </a:avLst>
          </a:prstGeom>
          <a:solidFill>
            <a:srgbClr val="1E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" y="554126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E28B4"/>
                </a:solidFill>
                <a:latin typeface="Microsoft JhengHei"/>
              </a:rPr>
              <a:t>$0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6875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Microsoft JhengHei"/>
              </a:rPr>
              <a:t>授權費用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" y="6510528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7A9A"/>
                </a:solidFill>
                <a:latin typeface="Microsoft JhengHei"/>
              </a:rPr>
              <a:t>中華民國 115 年 3 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0233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3D6F"/>
                </a:solidFill>
                <a:latin typeface="Microsoft JhengHei"/>
              </a:rPr>
              <a:t>核心訴求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822960"/>
            <a:ext cx="3566160" cy="2633472"/>
          </a:xfrm>
          <a:prstGeom prst="roundRect">
            <a:avLst>
              <a:gd name="adj" fmla="val 10000"/>
            </a:avLst>
          </a:prstGeom>
          <a:solidFill>
            <a:srgbClr val="EEDFFB"/>
          </a:solidFill>
          <a:ln w="2286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107899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Microsoft JhengHei"/>
              </a:rPr>
              <a:t>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1115568"/>
            <a:ext cx="2487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E28B4"/>
                </a:solidFill>
                <a:latin typeface="Microsoft JhengHei"/>
              </a:rPr>
              <a:t>填補十年空白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645152" y="1572768"/>
            <a:ext cx="3236976" cy="0"/>
          </a:xfrm>
          <a:prstGeom prst="line">
            <a:avLst/>
          </a:prstGeom>
          <a:ln w="10160">
            <a:solidFill>
              <a:srgbClr val="6E2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645152" y="1700784"/>
            <a:ext cx="323697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全台首個完整系統化特殊教育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金融素養互動教學軟體套件（24單元）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5320" y="822960"/>
            <a:ext cx="3566160" cy="2633472"/>
          </a:xfrm>
          <a:prstGeom prst="roundRect">
            <a:avLst>
              <a:gd name="adj" fmla="val 10000"/>
            </a:avLst>
          </a:prstGeom>
          <a:solidFill>
            <a:srgbClr val="FDE7D5"/>
          </a:solidFill>
          <a:ln w="2286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8200" y="107899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Microsoft JhengHei"/>
              </a:rPr>
              <a:t>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1115568"/>
            <a:ext cx="2487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4310"/>
                </a:solidFill>
                <a:latin typeface="Microsoft JhengHei"/>
              </a:rPr>
              <a:t>零門檻推廣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439912" y="1572768"/>
            <a:ext cx="3236976" cy="0"/>
          </a:xfrm>
          <a:prstGeom prst="line">
            <a:avLst/>
          </a:prstGeom>
          <a:ln w="10160">
            <a:solidFill>
              <a:srgbClr val="C043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439912" y="1700784"/>
            <a:ext cx="323697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NT$0 授權・完全離線・免安裝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讓每位特教教師立即可用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80560" y="3675888"/>
            <a:ext cx="3566160" cy="2633472"/>
          </a:xfrm>
          <a:prstGeom prst="roundRect">
            <a:avLst>
              <a:gd name="adj" fmla="val 10000"/>
            </a:avLst>
          </a:prstGeom>
          <a:solidFill>
            <a:srgbClr val="D2F0E4"/>
          </a:solidFill>
          <a:ln w="228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0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Microsoft JhengHei"/>
              </a:rPr>
              <a:t>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4960" y="3968496"/>
            <a:ext cx="2487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7A52"/>
                </a:solidFill>
                <a:latin typeface="Microsoft JhengHei"/>
              </a:rPr>
              <a:t>真實成效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645152" y="4425696"/>
            <a:ext cx="3236976" cy="0"/>
          </a:xfrm>
          <a:prstGeom prst="line">
            <a:avLst/>
          </a:prstGeom>
          <a:ln w="10160">
            <a:solidFill>
              <a:srgbClr val="127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645152" y="4553712"/>
            <a:ext cx="323697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三個個案的類化轉折紀錄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從情境迴避到社區獨立操作的突破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75320" y="3675888"/>
            <a:ext cx="3566160" cy="2633472"/>
          </a:xfrm>
          <a:prstGeom prst="roundRect">
            <a:avLst>
              <a:gd name="adj" fmla="val 10000"/>
            </a:avLst>
          </a:prstGeom>
          <a:solidFill>
            <a:srgbClr val="D6E9F8"/>
          </a:solidFill>
          <a:ln w="2286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58200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Microsoft JhengHei"/>
              </a:rPr>
              <a:t>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20" y="3968496"/>
            <a:ext cx="2487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8B8"/>
                </a:solidFill>
                <a:latin typeface="Microsoft JhengHei"/>
              </a:rPr>
              <a:t>完整支持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439912" y="4425696"/>
            <a:ext cx="3236976" cy="0"/>
          </a:xfrm>
          <a:prstGeom prst="line">
            <a:avLst/>
          </a:prstGeom>
          <a:ln w="10160">
            <a:solidFill>
              <a:srgbClr val="1A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439912" y="4553712"/>
            <a:ext cx="323697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IEP整合・作業單・獎勵・融合教育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提供教師全方位教學支援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80560" y="6492240"/>
            <a:ext cx="7452360" cy="310896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08576" y="6583680"/>
            <a:ext cx="71963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✦ 程式碼逾 15 萬行，完全由教師個人研發，零外部資金，零商業目的，只為讓特殊需求學生平等享有數位學習機會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