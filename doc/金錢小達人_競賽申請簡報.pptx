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875520" y="-457200"/>
            <a:ext cx="2926080" cy="2926080"/>
          </a:xfrm>
          <a:prstGeom prst="ellipse">
            <a:avLst/>
          </a:prstGeom>
          <a:solidFill>
            <a:srgbClr val="0B2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515600" y="4754880"/>
            <a:ext cx="2194560" cy="2194560"/>
          </a:xfrm>
          <a:prstGeom prst="ellipse">
            <a:avLst/>
          </a:prstGeom>
          <a:solidFill>
            <a:srgbClr val="0132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686800" y="3200400"/>
            <a:ext cx="1463040" cy="1463040"/>
          </a:xfrm>
          <a:prstGeom prst="ellipse">
            <a:avLst/>
          </a:prstGeom>
          <a:solidFill>
            <a:srgbClr val="2913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914400"/>
            <a:ext cx="5669280" cy="384048"/>
          </a:xfrm>
          <a:prstGeom prst="roundRect">
            <a:avLst>
              <a:gd name="adj" fmla="val 2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914400"/>
            <a:ext cx="5669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軟正黑體"/>
              </a:rPr>
              <a:t>第八屆教育部獎助研發特殊教育教材教具競賽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5087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000" b="1" i="0">
                <a:solidFill>
                  <a:srgbClr val="FFFFFF"/>
                </a:solidFill>
                <a:latin typeface="微軟正黑體"/>
              </a:rPr>
              <a:t>金 錢 小 達 人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560320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FDBA74"/>
                </a:solidFill>
                <a:latin typeface="微軟正黑體"/>
              </a:rPr>
              <a:t>互動式特殊教育生活數學暨金融素養教學軟體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3063240"/>
            <a:ext cx="8686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94A3B8"/>
                </a:solidFill>
                <a:latin typeface="Arial"/>
              </a:rPr>
              <a:t>Money Tutor: Interactive Software for Financial Literacy in Special Education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02920" y="3566160"/>
            <a:ext cx="7909560" cy="0"/>
          </a:xfrm>
          <a:prstGeom prst="line">
            <a:avLst/>
          </a:prstGeom>
          <a:ln w="19050">
            <a:solidFill>
              <a:srgbClr val="334A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502920" y="3749039"/>
            <a:ext cx="1783080" cy="868680"/>
          </a:xfrm>
          <a:prstGeom prst="roundRect">
            <a:avLst>
              <a:gd name="adj" fmla="val 12000"/>
            </a:avLst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749039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97706"/>
                </a:solidFill>
                <a:latin typeface="微軟正黑體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33087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微軟正黑體"/>
              </a:rPr>
              <a:t>互動
教學單元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3749039"/>
            <a:ext cx="1783080" cy="868680"/>
          </a:xfrm>
          <a:prstGeom prst="roundRect">
            <a:avLst>
              <a:gd name="adj" fmla="val 12000"/>
            </a:avLst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468880" y="3749039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97706"/>
                </a:solidFill>
                <a:latin typeface="微軟正黑體"/>
              </a:rPr>
              <a:t>150,000+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4133087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微軟正黑體"/>
              </a:rPr>
              <a:t>程式碼行數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34840" y="3749039"/>
            <a:ext cx="1783080" cy="868680"/>
          </a:xfrm>
          <a:prstGeom prst="roundRect">
            <a:avLst>
              <a:gd name="adj" fmla="val 12000"/>
            </a:avLst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3749039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97706"/>
                </a:solidFill>
                <a:latin typeface="微軟正黑體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4133087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微軟正黑體"/>
              </a:rPr>
              <a:t>研發月份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799" y="3749039"/>
            <a:ext cx="1783080" cy="868680"/>
          </a:xfrm>
          <a:prstGeom prst="roundRect">
            <a:avLst>
              <a:gd name="adj" fmla="val 12000"/>
            </a:avLst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799" y="3749039"/>
            <a:ext cx="1783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97706"/>
                </a:solidFill>
                <a:latin typeface="微軟正黑體"/>
              </a:rPr>
              <a:t>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799" y="4133087"/>
            <a:ext cx="1783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94A3B8"/>
                </a:solidFill>
                <a:latin typeface="微軟正黑體"/>
              </a:rPr>
              <a:t>授權費
（新台幣）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4892040"/>
            <a:ext cx="164592" cy="292608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微軟正黑體"/>
              </a:rPr>
              <a:t>F 系列  數學基礎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154680" y="4892040"/>
            <a:ext cx="164592" cy="292608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83280" y="48920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微軟正黑體"/>
              </a:rPr>
              <a:t>C 系列  貨幣認知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806440" y="4892040"/>
            <a:ext cx="164592" cy="292608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35040" y="4892040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BD5E1"/>
                </a:solidFill>
                <a:latin typeface="微軟正黑體"/>
              </a:rPr>
              <a:t>A 系列  情境類化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53949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7C8DA8"/>
                </a:solidFill>
                <a:latin typeface="微軟正黑體"/>
              </a:rPr>
              <a:t>適用對象：國中至高中特教班・資源班
輕度至中度智能障礙・自閉症・學習障礙・多重障礙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2920" y="61722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75A73"/>
                </a:solidFill>
                <a:latin typeface="微軟正黑體"/>
              </a:rPr>
              <a:t>中華民國 115 年 3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簡報綱要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微軟正黑體"/>
              </a:rPr>
              <a:t>Table of 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234440"/>
            <a:ext cx="36576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1234440"/>
            <a:ext cx="3657600" cy="109728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C2626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4173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微軟正黑體"/>
              </a:rPr>
              <a:t>設計動機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07008" y="180136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微軟正黑體"/>
              </a:rPr>
              <a:t>特教現場的三重結構性困境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61688" y="1234440"/>
            <a:ext cx="36576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61688" y="1234440"/>
            <a:ext cx="3657600" cy="109728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97706"/>
                </a:solidFill>
                <a:latin typeface="Arial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11496" y="14173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微軟正黑體"/>
              </a:rPr>
              <a:t>設計理念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1496" y="180136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微軟正黑體"/>
              </a:rPr>
              <a:t>UDL × 工作分析法 × 直接教學法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66175" y="1234440"/>
            <a:ext cx="36576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66175" y="1234440"/>
            <a:ext cx="3657600" cy="109728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7" y="14173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63EB"/>
                </a:solidFill>
                <a:latin typeface="Arial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15983" y="14173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微軟正黑體"/>
              </a:rPr>
              <a:t>F 系列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15983" y="180136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微軟正黑體"/>
              </a:rPr>
              <a:t>數學基礎先備（6 個單元）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017520"/>
            <a:ext cx="36576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3017520"/>
            <a:ext cx="3657600" cy="109728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59669"/>
                </a:solidFill>
                <a:latin typeface="Arial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07008" y="32004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微軟正黑體"/>
              </a:rPr>
              <a:t>C 系列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358444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微軟正黑體"/>
              </a:rPr>
              <a:t>貨幣認知建立（6 個單元）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61688" y="3017520"/>
            <a:ext cx="36576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361688" y="3017520"/>
            <a:ext cx="3657600" cy="109728"/>
          </a:xfrm>
          <a:prstGeom prst="roundRect">
            <a:avLst>
              <a:gd name="adj" fmla="val 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26280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A580C"/>
                </a:solidFill>
                <a:latin typeface="Arial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11496" y="32004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微軟正黑體"/>
              </a:rPr>
              <a:t>A 系列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11496" y="358444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微軟正黑體"/>
              </a:rPr>
              <a:t>真實情境類化（6 個單元）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66175" y="3017520"/>
            <a:ext cx="36576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66175" y="3017520"/>
            <a:ext cx="3657600" cy="109728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0767" y="320040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7C3AED"/>
                </a:solidFill>
                <a:latin typeface="Arial"/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015983" y="320040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微軟正黑體"/>
              </a:rPr>
              <a:t>特色功能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15983" y="358444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微軟正黑體"/>
              </a:rPr>
              <a:t>輔助點擊・語音・深色模式・作業單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800600"/>
            <a:ext cx="36576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" y="4800600"/>
            <a:ext cx="3657600" cy="109728"/>
          </a:xfrm>
          <a:prstGeom prst="roundRect">
            <a:avLst>
              <a:gd name="adj" fmla="val 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21792" y="4983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D9488"/>
                </a:solidFill>
                <a:latin typeface="Arial"/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07008" y="49834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微軟正黑體"/>
              </a:rPr>
              <a:t>三段學習歷程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207008" y="536752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微軟正黑體"/>
              </a:rPr>
              <a:t>數位練習 → 紙本評量 → 社區類化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61688" y="4800600"/>
            <a:ext cx="36576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361688" y="4800600"/>
            <a:ext cx="3657600" cy="109728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26280" y="4983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263EB"/>
                </a:solidFill>
                <a:latin typeface="Arial"/>
              </a:rPr>
              <a:t>08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111496" y="49834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微軟正黑體"/>
              </a:rPr>
              <a:t>課程法規依據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11496" y="536752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微軟正黑體"/>
              </a:rPr>
              <a:t>IEP / 特教法 / 課綱對應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66175" y="4800600"/>
            <a:ext cx="3657600" cy="1600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266175" y="4800600"/>
            <a:ext cx="3657600" cy="109728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430767" y="498348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59669"/>
                </a:solidFill>
                <a:latin typeface="Arial"/>
              </a:rPr>
              <a:t>09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015983" y="498348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1E293B"/>
                </a:solidFill>
                <a:latin typeface="微軟正黑體"/>
              </a:rPr>
              <a:t>試教觀察與預期成效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15983" y="5367528"/>
            <a:ext cx="2743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微軟正黑體"/>
              </a:rPr>
              <a:t>個案轉化 · 成效指標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設計動機 ─── 特教現場的三重結構性困境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794760" cy="5349240"/>
          </a:xfrm>
          <a:prstGeom prst="roundRect">
            <a:avLst>
              <a:gd name="adj" fmla="val 15000"/>
            </a:avLst>
          </a:prstGeom>
          <a:solidFill>
            <a:srgbClr val="FEE2E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502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微軟正黑體"/>
              </a:rP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2618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C2626"/>
                </a:solidFill>
                <a:latin typeface="微軟正黑體"/>
              </a:rPr>
              <a:t>困境一：交易序列的意義理解障礙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572768"/>
            <a:ext cx="2971800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能計算 100−35=65，卻無法判斷「給哪幾枚硬幣」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靜態紙本缺乏即時個別化回饋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幣值辨識 ≠ 交易序列理解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188720"/>
            <a:ext cx="3794760" cy="534924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34840" y="1280160"/>
            <a:ext cx="502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微軟正黑體"/>
              </a:rPr>
              <a:t>⚠️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12618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7706"/>
                </a:solidFill>
                <a:latin typeface="微軟正黑體"/>
              </a:rPr>
              <a:t>困境二：安全練習場域的長期缺位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83480" y="1572768"/>
            <a:ext cx="2971800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真實場景試誤 → 消費糾紛 + 情緒失調風險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一次挫折 → 長期情境迴避（小俊・速食店、小雯・販賣機）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需要「失敗不帶社會後果」的數位練習環境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188720"/>
            <a:ext cx="3794760" cy="53492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60" y="1280160"/>
            <a:ext cx="502920" cy="5166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latin typeface="微軟正黑體"/>
              </a:rPr>
              <a:t>📚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0" y="1261872"/>
            <a:ext cx="2971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263EB"/>
                </a:solidFill>
                <a:latin typeface="微軟正黑體"/>
              </a:rPr>
              <a:t>困境三：系統性課程工具的十年缺口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572768"/>
            <a:ext cx="2971800" cy="4873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課綱已列財務管理為核心主題（生管-Ⅳ-E-1～E-4）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市場鮮有系統性・個別化可調整的中學特教電腦輔助教材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教師普遍依賴自製圖卡，備課耗時且課程銜接脆弱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6400800"/>
            <a:ext cx="11430000" cy="32004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19088"/>
            <a:ext cx="11155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DC2626"/>
                </a:solidFill>
                <a:latin typeface="微軟正黑體"/>
              </a:rPr>
              <a:t>《十二年國教特殊需求領域課程綱要》生活管理・財務管理主題 ／《特殊教育法》第 28 條 ／《身心障礙者權利公約》第 9、19 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真實個案──為何需要數位安全練習場域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3794760" cy="438912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794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7C3AED"/>
                </a:solidFill>
                <a:latin typeface="微軟正黑體"/>
              </a:rPr>
              <a:t>🧒 小涵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691640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C3AED"/>
                </a:solidFill>
                <a:latin typeface="微軟正黑體"/>
              </a:rPr>
              <a:t>輕度智能障礙・14 歲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40080" y="2057400"/>
            <a:ext cx="3246120" cy="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1488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能穩定計算 100－35＝65，卻在模擬購物中反覆困惑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「我有多少錢」與「這個東西多少錢」的連結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錯誤模式在缺乏即時回饋的環境中持續固化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188720"/>
            <a:ext cx="3794760" cy="438912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254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97680" y="1188720"/>
            <a:ext cx="3794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D97706"/>
                </a:solidFill>
                <a:latin typeface="微軟正黑體"/>
              </a:rPr>
              <a:t>🧒 小俊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1691640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D97706"/>
                </a:solidFill>
                <a:latin typeface="微軟正黑體"/>
              </a:rPr>
              <a:t>輕度自閉症・中學生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572000" y="2057400"/>
            <a:ext cx="3246120" cy="0"/>
          </a:xfrm>
          <a:prstGeom prst="line">
            <a:avLst/>
          </a:prstGeom>
          <a:ln w="1270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526280" y="21488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在速食店自助點餐機前，因「漢堡要選哪個類別」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陷入選擇迴路，後方催促誘發情緒失調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此後長達一學期拒絕接觸相關學習活動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188720"/>
            <a:ext cx="3794760" cy="4389120"/>
          </a:xfrm>
          <a:prstGeom prst="roundRect">
            <a:avLst>
              <a:gd name="adj" fmla="val 15000"/>
            </a:avLst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188720"/>
            <a:ext cx="3794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EA580C"/>
                </a:solidFill>
                <a:latin typeface="微軟正黑體"/>
              </a:rPr>
              <a:t>🧒 小雯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691640"/>
            <a:ext cx="3794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EA580C"/>
                </a:solidFill>
                <a:latin typeface="微軟正黑體"/>
              </a:rPr>
              <a:t>特殊需求學生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03920" y="2057400"/>
            <a:ext cx="3246120" cy="0"/>
          </a:xfrm>
          <a:prstGeom prst="line">
            <a:avLst/>
          </a:prstGeom>
          <a:ln w="127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8458200" y="2148840"/>
            <a:ext cx="333756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在走廊販賣機反覆因硬幣面額選錯而失敗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主動繞道迴避所有自助設備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告訴老師：「那個機器我不會用」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715000"/>
            <a:ext cx="11430000" cy="914400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76072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59669"/>
                </a:solidFill>
                <a:latin typeface="微軟正黑體"/>
              </a:rPr>
              <a:t>✅  小雯完成 A1 十五次練習後，第一次在真實販賣機前完整購買，並說：「我下次自己來。」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設計理念 ─── UDL × 工作分析法 × 直接教學法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微軟正黑體"/>
              </a:rPr>
              <a:t>UDL 通用設計學習三大原則（CAST, 2018）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508760"/>
            <a:ext cx="2834640" cy="365760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254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5544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微軟正黑體"/>
              </a:rPr>
              <a:t>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1031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2263EB"/>
                </a:solidFill>
                <a:latin typeface="微軟正黑體"/>
              </a:rPr>
              <a:t>多元表徵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2560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微軟正黑體"/>
              </a:rPr>
              <a:t>Multiple Means of
Representation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40080" y="3017520"/>
            <a:ext cx="2286000" cy="0"/>
          </a:xfrm>
          <a:prstGeom prst="line">
            <a:avLst/>
          </a:prstGeom>
          <a:ln w="12700">
            <a:solidFill>
              <a:srgbClr val="22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8640" y="3127248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全程中文語音引導（雅婷優先）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高解析商品／服務圖片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介面仿真真實設備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短句操作提示（≤5 字）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83279" y="1508760"/>
            <a:ext cx="2834640" cy="365760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83279" y="15544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微軟正黑體"/>
              </a:rPr>
              <a:t>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79" y="21031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059669"/>
                </a:solidFill>
                <a:latin typeface="微軟正黑體"/>
              </a:rPr>
              <a:t>多元行動
與表達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79" y="2560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微軟正黑體"/>
              </a:rPr>
              <a:t>Action &amp;
Expression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657599" y="3017520"/>
            <a:ext cx="2286000" cy="0"/>
          </a:xfrm>
          <a:prstGeom prst="line">
            <a:avLst/>
          </a:prstGeom>
          <a:ln w="1270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3566159" y="3127248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觸控拖曳（平板）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滑鼠點擊（電腦）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輔助點擊模式（首創）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三種難度對應褪除序列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00800" y="1508760"/>
            <a:ext cx="2834640" cy="365760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54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55448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微軟正黑體"/>
              </a:rPr>
              <a:t>🎯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210312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7C3AED"/>
                </a:solidFill>
                <a:latin typeface="微軟正黑體"/>
              </a:rPr>
              <a:t>多元參與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5603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4748B"/>
                </a:solidFill>
                <a:latin typeface="微軟正黑體"/>
              </a:rPr>
              <a:t>Engagement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675120" y="3017520"/>
            <a:ext cx="2286000" cy="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6583680" y="3127248"/>
            <a:ext cx="246888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支援自訂商品圖片上傳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即時語音讚美 + 煙火動畫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獎勵積分系統整合 IEP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深色模式（視覺敏感適用）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81160" y="1097280"/>
            <a:ext cx="2743200" cy="5440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72600" y="11704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⚙️ 工作分析法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72600" y="1572768"/>
            <a:ext cx="25146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A 系列 6 情境均以工作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分析法（Gold, 1980）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拆解真實設備操作流程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步數：5～8 步/單元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每步驟均可單獨評量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完整對應 IEP 目標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281160" y="3611880"/>
            <a:ext cx="2743200" cy="73152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72600" y="370332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📊 直接教學法三階段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372600" y="4133087"/>
            <a:ext cx="2514600" cy="64008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27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36608" y="4206239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63EB"/>
                </a:solidFill>
                <a:latin typeface="微軟正黑體"/>
              </a:rPr>
              <a:t>簡單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058400" y="4169663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明示教學</a:t>
            </a:r>
          </a:p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光暈+語音引導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72600" y="4846320"/>
            <a:ext cx="2514600" cy="640080"/>
          </a:xfrm>
          <a:prstGeom prst="roundRect">
            <a:avLst>
              <a:gd name="adj" fmla="val 8000"/>
            </a:avLst>
          </a:prstGeom>
          <a:solidFill>
            <a:srgbClr val="FEF3C7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436608" y="4919472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微軟正黑體"/>
              </a:rPr>
              <a:t>普通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058400" y="4882896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引導練習</a:t>
            </a:r>
          </a:p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三次錯誤後提示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372600" y="5559552"/>
            <a:ext cx="2514600" cy="640080"/>
          </a:xfrm>
          <a:prstGeom prst="roundRect">
            <a:avLst>
              <a:gd name="adj" fmla="val 8000"/>
            </a:avLst>
          </a:prstGeom>
          <a:solidFill>
            <a:srgbClr val="FEE2E2"/>
          </a:solidFill>
          <a:ln w="1270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436608" y="5632704"/>
            <a:ext cx="594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微軟正黑體"/>
              </a:rPr>
              <a:t>困難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058400" y="559612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獨立練習</a:t>
            </a:r>
          </a:p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完全無提示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三層次螺旋序階課程架構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微軟正黑體"/>
              </a:rPr>
              <a:t>數學先備 → 貨幣認知 → 真實情境類化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3442716" y="1371600"/>
            <a:ext cx="5303520" cy="1234440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17036" y="1481328"/>
            <a:ext cx="4754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A 系列  ·  真實情境類化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17036" y="199339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E0"/>
                </a:solidFill>
                <a:latin typeface="微軟正黑體"/>
              </a:rPr>
              <a:t>社區設備操作 · 類化應用</a:t>
            </a:r>
          </a:p>
        </p:txBody>
      </p:sp>
      <p:sp>
        <p:nvSpPr>
          <p:cNvPr id="9" name="Rectangle 8"/>
          <p:cNvSpPr/>
          <p:nvPr/>
        </p:nvSpPr>
        <p:spPr>
          <a:xfrm>
            <a:off x="2528316" y="2743200"/>
            <a:ext cx="7132320" cy="1234440"/>
          </a:xfrm>
          <a:prstGeom prst="roundRect">
            <a:avLst>
              <a:gd name="adj" fmla="val 8000"/>
            </a:avLst>
          </a:prstGeom>
          <a:solidFill>
            <a:srgbClr val="059669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02636" y="2852928"/>
            <a:ext cx="6583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C 系列  ·  貨幣認知建立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02636" y="3364992"/>
            <a:ext cx="6583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E0"/>
                </a:solidFill>
                <a:latin typeface="微軟正黑體"/>
              </a:rPr>
              <a:t>認識幣值 · 付款找零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3916" y="4114800"/>
            <a:ext cx="8961120" cy="1234440"/>
          </a:xfrm>
          <a:prstGeom prst="roundRect">
            <a:avLst>
              <a:gd name="adj" fmla="val 8000"/>
            </a:avLst>
          </a:prstGeom>
          <a:solidFill>
            <a:srgbClr val="2263EB"/>
          </a:solidFill>
          <a:ln w="254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88236" y="4224528"/>
            <a:ext cx="8412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微軟正黑體"/>
              </a:rPr>
              <a:t>F 系列  ·  數學基礎先備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88236" y="4736592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E0"/>
                </a:solidFill>
                <a:latin typeface="微軟正黑體"/>
              </a:rPr>
              <a:t>對應 · 唱數 · 排序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1737360"/>
            <a:ext cx="1417320" cy="347472"/>
          </a:xfrm>
          <a:prstGeom prst="roundRect">
            <a:avLst>
              <a:gd name="adj" fmla="val 1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17373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軟正黑體"/>
              </a:rPr>
              <a:t>6 個單元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108960"/>
            <a:ext cx="1417320" cy="347472"/>
          </a:xfrm>
          <a:prstGeom prst="roundRect">
            <a:avLst>
              <a:gd name="adj" fmla="val 1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1089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軟正黑體"/>
              </a:rPr>
              <a:t>6 個單元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4480560"/>
            <a:ext cx="1417320" cy="347472"/>
          </a:xfrm>
          <a:prstGeom prst="roundRect">
            <a:avLst>
              <a:gd name="adj" fmla="val 10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4480560"/>
            <a:ext cx="1417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軟正黑體"/>
              </a:rPr>
              <a:t>6 個單元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412480" y="1234440"/>
            <a:ext cx="3474720" cy="5303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0" y="1325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E293B"/>
                </a:solidFill>
                <a:latin typeface="微軟正黑體"/>
              </a:rPr>
              <a:t>課程設計原則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95360" y="1783080"/>
            <a:ext cx="54864" cy="68580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59952" y="1783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63EB"/>
                </a:solidFill>
                <a:latin typeface="微軟正黑體"/>
              </a:rPr>
              <a:t>螺旋序階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759952" y="210312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由具體到抽象，由簡單到</a:t>
            </a:r>
          </a:p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複雜的漸進式學習序列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95360" y="2834639"/>
            <a:ext cx="54864" cy="6858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759952" y="283463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微軟正黑體"/>
              </a:rPr>
              <a:t>個別差異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59952" y="3154679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三種難度 × 輔助點擊，</a:t>
            </a:r>
          </a:p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確保不同能力學生成功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595360" y="3886200"/>
            <a:ext cx="54864" cy="68580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759952" y="38862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微軟正黑體"/>
              </a:rPr>
              <a:t>情境類化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59952" y="4206240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最終目標：社區真實場景</a:t>
            </a:r>
          </a:p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獨立完成消費交易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595360" y="4937759"/>
            <a:ext cx="54864" cy="6858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759952" y="4937759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微軟正黑體"/>
              </a:rPr>
              <a:t>IEP 對應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759952" y="5257799"/>
            <a:ext cx="2880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各單元提供評量基準，</a:t>
            </a:r>
          </a:p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直接對應轉銜目標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5577840"/>
            <a:ext cx="7772400" cy="100584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5623560"/>
            <a:ext cx="7315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E293B"/>
                </a:solidFill>
                <a:latin typeface="微軟正黑體"/>
              </a:rPr>
              <a:t>學習路徑建議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5961888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64748B"/>
                </a:solidFill>
                <a:latin typeface="微軟正黑體"/>
              </a:rPr>
              <a:t>F1→F2→F3→F4→F5→F6  ➡  C1→C2→C3→C4→C5→C6  ➡  A1→A2→A3→A4→A5→A6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F 系列 ─── 數學基礎先備（6 個單元）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微軟正黑體"/>
              </a:rPr>
              <a:t>適用：國小中高年級至國中 ／ 先備能力：能執行觸控動作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657600" cy="502920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930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F1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3167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一對一對應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2880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拖曳物件配對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建立數量等量直觀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3108959"/>
            <a:ext cx="3328416" cy="3657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127247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63EB"/>
                </a:solidFill>
                <a:latin typeface="微軟正黑體"/>
              </a:rPr>
              <a:t>先備：能執行觸控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234440"/>
            <a:ext cx="36576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234440"/>
            <a:ext cx="3657600" cy="502920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28930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F2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3167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唱數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82880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依序點擊計數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語音同步播報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3108959"/>
            <a:ext cx="3328416" cy="3657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127247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63EB"/>
                </a:solidFill>
                <a:latin typeface="微軟正黑體"/>
              </a:rPr>
              <a:t>先備：能識別圖片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6" y="1234440"/>
            <a:ext cx="36576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74736" y="1234440"/>
            <a:ext cx="3657600" cy="502920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128930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F3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1976" y="13167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數字認讀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182880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看圖選數字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支援自訂主題上傳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39328" y="3108959"/>
            <a:ext cx="3328416" cy="3657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3127247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63EB"/>
                </a:solidFill>
                <a:latin typeface="微軟正黑體"/>
              </a:rPr>
              <a:t>先備：能辨識 1–10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840480"/>
            <a:ext cx="36576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840480"/>
            <a:ext cx="3657600" cy="502920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89534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F4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9227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數字排序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443484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拖曳數字由小到大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或由大到小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5714999"/>
            <a:ext cx="3328416" cy="3657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5733287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63EB"/>
                </a:solidFill>
                <a:latin typeface="微軟正黑體"/>
              </a:rPr>
              <a:t>先備：能完成 F3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0248" y="3840480"/>
            <a:ext cx="36576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0248" y="3840480"/>
            <a:ext cx="3657600" cy="502920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07408" y="389534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F5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39227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量比較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43484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比較兩組多寡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建立大小概念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34840" y="5714999"/>
            <a:ext cx="3328416" cy="3657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5733287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63EB"/>
                </a:solidFill>
                <a:latin typeface="微軟正黑體"/>
              </a:rPr>
              <a:t>先備：能完成 F2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74736" y="3840480"/>
            <a:ext cx="36576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BEA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74736" y="3840480"/>
            <a:ext cx="3657600" cy="502920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11896" y="389534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F6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51976" y="39227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數的組成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443484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合成與分解概念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理解數的結構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39328" y="5714999"/>
            <a:ext cx="3328416" cy="36576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0768" y="5733287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263EB"/>
                </a:solidFill>
                <a:latin typeface="微軟正黑體"/>
              </a:rPr>
              <a:t>先備：能完成 F4/F5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C 系列 ─── 貨幣認知建立（6 個單元）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微軟正黑體"/>
              </a:rPr>
              <a:t>適用：國中至高中 ／ 台灣 9 種面額・拖曳操作・三難度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234440"/>
            <a:ext cx="36576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1234440"/>
            <a:ext cx="3657600" cy="50292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28930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C1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3167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認識錢幣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0352" y="182880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辨識台灣 9 種面額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看圖選字 / 看字選幣 / 聽音選幣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0352" y="3108959"/>
            <a:ext cx="3328416" cy="36576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3127247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微軟正黑體"/>
              </a:rPr>
              <a:t>先備：能完成 F3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70248" y="1234440"/>
            <a:ext cx="36576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70248" y="1234440"/>
            <a:ext cx="3657600" cy="50292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07408" y="128930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C2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13167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數錢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182880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點擊錢幣依序累加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語音播報累計金額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34840" y="3108959"/>
            <a:ext cx="3328416" cy="36576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26280" y="3127247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微軟正黑體"/>
              </a:rPr>
              <a:t>先備：能完成 C1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74736" y="1234440"/>
            <a:ext cx="36576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74736" y="1234440"/>
            <a:ext cx="3657600" cy="50292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11896" y="128930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C3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51976" y="131673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換錢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39328" y="182880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以不同面額組合等值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大換小 / 小換大 / 隨機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39328" y="3108959"/>
            <a:ext cx="3328416" cy="36576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30768" y="3127247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微軟正黑體"/>
              </a:rPr>
              <a:t>先備：能完成 C2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840480"/>
            <a:ext cx="36576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65760" y="3840480"/>
            <a:ext cx="3657600" cy="50292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89534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C4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" y="39227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付款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443484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拖曳正確金額完成付款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自動判定超額/不足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30352" y="5714999"/>
            <a:ext cx="3328416" cy="36576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" y="5733287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微軟正黑體"/>
              </a:rPr>
              <a:t>先備：能完成 C3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70248" y="3840480"/>
            <a:ext cx="36576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70248" y="3840480"/>
            <a:ext cx="3657600" cy="50292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407408" y="389534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C5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7488" y="39227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夠不夠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434840" y="443484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判斷錢包金額能否購買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差額視覺化顯示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434840" y="5714999"/>
            <a:ext cx="3328416" cy="36576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26280" y="5733287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微軟正黑體"/>
              </a:rPr>
              <a:t>先備：能完成 C4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74736" y="3840480"/>
            <a:ext cx="3657600" cy="2423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74736" y="3840480"/>
            <a:ext cx="3657600" cy="50292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311896" y="3895344"/>
            <a:ext cx="6400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微軟正黑體"/>
              </a:rPr>
              <a:t>C6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951976" y="3922776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微軟正黑體"/>
              </a:rPr>
              <a:t>找零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339328" y="4434840"/>
            <a:ext cx="332841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拖曳找零錢幣至對應格</a:t>
            </a:r>
          </a:p>
          <a:p>
            <a:pPr algn="l"/>
            <a:r>
              <a:rPr sz="1300">
                <a:solidFill>
                  <a:srgbClr val="1E293B"/>
                </a:solidFill>
                <a:latin typeface="微軟正黑體"/>
              </a:rPr>
              <a:t>驗收完整交易閉環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39328" y="5714999"/>
            <a:ext cx="3328416" cy="365760"/>
          </a:xfrm>
          <a:prstGeom prst="roundRect">
            <a:avLst>
              <a:gd name="adj" fmla="val 8000"/>
            </a:avLst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30768" y="5733287"/>
            <a:ext cx="314553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59669"/>
                </a:solidFill>
                <a:latin typeface="微軟正黑體"/>
              </a:rPr>
              <a:t>先備：能完成 C5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A 系列 ─── 真實情境類化（6 個單元）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微軟正黑體"/>
              </a:rPr>
              <a:t>工作分析法拆解 5～8 個操作步驟 ／ 台灣在地化仿真介面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234440"/>
            <a:ext cx="804672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234440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A1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128016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微軟正黑體"/>
              </a:rPr>
              <a:t>自動販賣機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07008" y="1691640"/>
            <a:ext cx="685800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169164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  <a:latin typeface="微軟正黑體"/>
              </a:rPr>
              <a:t>5步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169164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微軟正黑體"/>
              </a:rPr>
              <a:t>★ 幣值累計・找零驗收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38988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選商品→投幣→確認→取貨→核對找零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2130552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0040" y="2130552"/>
            <a:ext cx="804672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130552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A2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07008" y="217627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微軟正黑體"/>
              </a:rPr>
              <a:t>理髮廳自助機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07008" y="2587752"/>
            <a:ext cx="685800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07008" y="2587752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  <a:latin typeface="微軟正黑體"/>
              </a:rPr>
              <a:t>6步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07008" y="2587752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微軟正黑體"/>
              </a:rPr>
              <a:t>★ 服務辨識・等候規範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91840" y="228600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選類別→選服務→確認→付款→取號→等候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026664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026664"/>
            <a:ext cx="804672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0040" y="3026664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A3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07008" y="3072384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微軟正黑體"/>
              </a:rPr>
              <a:t>速食店點餐機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07008" y="3483864"/>
            <a:ext cx="685800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07008" y="3483864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  <a:latin typeface="微軟正黑體"/>
              </a:rPr>
              <a:t>7步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07008" y="3483864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微軟正黑體"/>
              </a:rPr>
              <a:t>★ 分類導覽・多品項加總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91840" y="318211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瀏覽→加購物車→確認→選付款→付款→等號→取餐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3922776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3922776"/>
            <a:ext cx="804672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3922776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A4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07008" y="3968496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微軟正黑體"/>
              </a:rPr>
              <a:t>超市購物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207008" y="4379976"/>
            <a:ext cx="685800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207008" y="4379976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  <a:latin typeface="微軟正黑體"/>
              </a:rPr>
              <a:t>6步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07008" y="4379976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微軟正黑體"/>
              </a:rPr>
              <a:t>★ 購物清單執行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407822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選商品→確認價格→選付款→付款→找零→完成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818888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4818888"/>
            <a:ext cx="804672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4818888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A5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07008" y="486460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微軟正黑體"/>
              </a:rPr>
              <a:t>ATM 操作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207008" y="5276088"/>
            <a:ext cx="685800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207008" y="5276088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  <a:latin typeface="微軟正黑體"/>
              </a:rPr>
              <a:t>7步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07008" y="5276088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微軟正黑體"/>
              </a:rPr>
              <a:t>★ 密碼保護・金融流程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291840" y="4974336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插卡→密碼→選功能→輸金額→取款→退卡→取收據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20040" y="5715000"/>
            <a:ext cx="11521440" cy="8046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240">
            <a:solidFill>
              <a:srgbClr val="FFED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20040" y="5715000"/>
            <a:ext cx="804672" cy="804672"/>
          </a:xfrm>
          <a:prstGeom prst="roundRect">
            <a:avLst>
              <a:gd name="adj" fmla="val 8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20040" y="5715000"/>
            <a:ext cx="804672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A6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07008" y="576072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微軟正黑體"/>
              </a:rPr>
              <a:t>火車票購票機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207008" y="6172200"/>
            <a:ext cx="685800" cy="256032"/>
          </a:xfrm>
          <a:prstGeom prst="roundRect">
            <a:avLst>
              <a:gd name="adj" fmla="val 20000"/>
            </a:avLst>
          </a:prstGeom>
          <a:solidFill>
            <a:srgbClr val="FFED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207008" y="6172200"/>
            <a:ext cx="685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A580C"/>
                </a:solidFill>
                <a:latin typeface="微軟正黑體"/>
              </a:rPr>
              <a:t>8步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207008" y="6172200"/>
            <a:ext cx="1920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4748B"/>
                </a:solidFill>
                <a:latin typeface="微軟正黑體"/>
              </a:rPr>
              <a:t>★ 路線規劃・多步驟整合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291840" y="587044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93B"/>
                </a:solidFill>
                <a:latin typeface="微軟正黑體"/>
              </a:rPr>
              <a:t>選出發站→目的地→票種→確認票價→付款→取票→找零→完成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核心特色功能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微軟正黑體"/>
              </a:rPr>
              <a:t>四大創新設計 × 全 18 單元整合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657600" cy="2423160"/>
          </a:xfrm>
          <a:prstGeom prst="roundRect">
            <a:avLst>
              <a:gd name="adj" fmla="val 15000"/>
            </a:avLst>
          </a:prstGeom>
          <a:solidFill>
            <a:srgbClr val="EDE9FE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34416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微軟正黑體"/>
              </a:rPr>
              <a:t>🖱️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C3AED"/>
                </a:solidFill>
                <a:latin typeface="微軟正黑體"/>
              </a:rPr>
              <a:t>輔助點擊模式（首創）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" y="2350008"/>
            <a:ext cx="3108960" cy="0"/>
          </a:xfrm>
          <a:prstGeom prst="line">
            <a:avLst/>
          </a:prstGeom>
          <a:ln w="101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48640" y="2423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精細動作障礙學生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任意位置點擊 → 自動執行正確步驟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全 18 單元支援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「位置無關」點擊推進流程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51959" y="1234440"/>
            <a:ext cx="3657600" cy="242316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2286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51959" y="134416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微軟正黑體"/>
              </a:rPr>
              <a:t>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59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2263EB"/>
                </a:solidFill>
                <a:latin typeface="微軟正黑體"/>
              </a:rPr>
              <a:t>全程語音引導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26279" y="2350008"/>
            <a:ext cx="3108960" cy="0"/>
          </a:xfrm>
          <a:prstGeom prst="line">
            <a:avLst/>
          </a:prstGeom>
          <a:ln w="10160">
            <a:solidFill>
              <a:srgbClr val="22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4480559" y="2423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Web Speech API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Microsoft 雅婷優先（Windows）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台灣語境金額唸法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即時讚美音效 + 語音回饋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83879" y="1234440"/>
            <a:ext cx="3657600" cy="2423160"/>
          </a:xfrm>
          <a:prstGeom prst="roundRect">
            <a:avLst>
              <a:gd name="adj" fmla="val 15000"/>
            </a:avLst>
          </a:prstGeom>
          <a:solidFill>
            <a:srgbClr val="CCFBF1"/>
          </a:solidFill>
          <a:ln w="2286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79" y="134416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微軟正黑體"/>
              </a:rPr>
              <a:t>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192024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D9488"/>
                </a:solidFill>
                <a:latin typeface="微軟正黑體"/>
              </a:rPr>
              <a:t>深色模式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458199" y="2350008"/>
            <a:ext cx="3108960" cy="0"/>
          </a:xfrm>
          <a:prstGeom prst="line">
            <a:avLst/>
          </a:prstGeom>
          <a:ln w="10160">
            <a:solidFill>
              <a:srgbClr val="0D94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412479" y="242316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全 18 單元支援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適合視覺敏感學生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一鍵切換，無需重載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自動偵測系統偏好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840480"/>
            <a:ext cx="3657600" cy="2423160"/>
          </a:xfrm>
          <a:prstGeom prst="roundRect">
            <a:avLst>
              <a:gd name="adj" fmla="val 15000"/>
            </a:avLst>
          </a:prstGeom>
          <a:solidFill>
            <a:srgbClr val="FEF3C7"/>
          </a:solidFill>
          <a:ln w="228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95020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微軟正黑體"/>
              </a:rPr>
              <a:t>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0040" y="4526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D97706"/>
                </a:solidFill>
                <a:latin typeface="微軟正黑體"/>
              </a:rPr>
              <a:t>配套作業單系統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4360" y="4956048"/>
            <a:ext cx="3108960" cy="0"/>
          </a:xfrm>
          <a:prstGeom prst="line">
            <a:avLst/>
          </a:prstGeom>
          <a:ln w="10160">
            <a:solidFill>
              <a:srgbClr val="D9770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18 單元 × 10 種題型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一鍵列印 / PDF 下載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看圖填空・找零計算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完整對應 IEP 評量記錄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51959" y="3840480"/>
            <a:ext cx="3657600" cy="242316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51959" y="395020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微軟正黑體"/>
              </a:rPr>
              <a:t>🏆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51959" y="4526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059669"/>
                </a:solidFill>
                <a:latin typeface="微軟正黑體"/>
              </a:rPr>
              <a:t>獎勵積分系統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26279" y="4956048"/>
            <a:ext cx="3108960" cy="0"/>
          </a:xfrm>
          <a:prstGeom prst="line">
            <a:avLst/>
          </a:prstGeom>
          <a:ln w="1016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4480559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獨立模組（reward/）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學生照片 + 積分管理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整合 IEP 行為正增強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教師課堂即時操作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183879" y="3840480"/>
            <a:ext cx="3657600" cy="2423160"/>
          </a:xfrm>
          <a:prstGeom prst="roundRect">
            <a:avLst>
              <a:gd name="adj" fmla="val 15000"/>
            </a:avLst>
          </a:prstGeom>
          <a:solidFill>
            <a:srgbClr val="FFEDD5"/>
          </a:solidFill>
          <a:ln w="228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83879" y="3950208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latin typeface="微軟正黑體"/>
              </a:rPr>
              <a:t>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83879" y="452628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EA580C"/>
                </a:solidFill>
                <a:latin typeface="微軟正黑體"/>
              </a:rPr>
              <a:t>跨裝置支援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8458199" y="4956048"/>
            <a:ext cx="3108960" cy="0"/>
          </a:xfrm>
          <a:prstGeom prst="line">
            <a:avLst/>
          </a:prstGeom>
          <a:ln w="1016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8412479" y="5029200"/>
            <a:ext cx="3200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Windows 電腦（推薦）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iPad / Android 平板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觸控拖曳 × 滑鼠點擊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完全離線 · 授權費 0 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三段式學習歷程設計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微軟正黑體"/>
              </a:rPr>
              <a:t>數位練習 → 紙本評量 → 社區類化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3566160" cy="5349240"/>
          </a:xfrm>
          <a:prstGeom prst="roundRect">
            <a:avLst>
              <a:gd name="adj" fmla="val 15000"/>
            </a:avLst>
          </a:prstGeom>
          <a:solidFill>
            <a:srgbClr val="DBEAFE"/>
          </a:solidFill>
          <a:ln w="2540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783080" y="123444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83080" y="12344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第一段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240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263EB"/>
                </a:solidFill>
                <a:latin typeface="微軟正黑體"/>
              </a:rPr>
              <a:t>數位模擬練習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6974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微軟正黑體"/>
              </a:rPr>
              <a:t>課堂主軸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31520" y="3090672"/>
            <a:ext cx="3017520" cy="0"/>
          </a:xfrm>
          <a:prstGeom prst="line">
            <a:avLst/>
          </a:prstGeom>
          <a:ln w="12700">
            <a:solidFill>
              <a:srgbClr val="22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85800" y="3282696"/>
            <a:ext cx="109728" cy="256032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96112" y="320040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軟體情境操作（18 個互動單元）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85800" y="3758183"/>
            <a:ext cx="109728" cy="256032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3675887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即時觀察錯誤類型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85800" y="4233672"/>
            <a:ext cx="109728" cy="256032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6112" y="4151376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三種難度對應個別需求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800" y="4709160"/>
            <a:ext cx="109728" cy="256032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4626864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輔助點擊支援精細動作障礙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5800" y="5184648"/>
            <a:ext cx="109728" cy="256032"/>
          </a:xfrm>
          <a:prstGeom prst="rect">
            <a:avLst/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10235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調整教學策略依據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97680" y="1188720"/>
            <a:ext cx="3566160" cy="5349240"/>
          </a:xfrm>
          <a:prstGeom prst="roundRect">
            <a:avLst>
              <a:gd name="adj" fmla="val 15000"/>
            </a:avLst>
          </a:prstGeom>
          <a:solidFill>
            <a:srgbClr val="D1FAE5"/>
          </a:solidFill>
          <a:ln w="2540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23560" y="123444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23560" y="12344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第二段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2240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59669"/>
                </a:solidFill>
                <a:latin typeface="微軟正黑體"/>
              </a:rPr>
              <a:t>紙本形成性評量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0" y="26974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微軟正黑體"/>
              </a:rPr>
              <a:t>課後作業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4572000" y="3090672"/>
            <a:ext cx="3017520" cy="0"/>
          </a:xfrm>
          <a:prstGeom prst="line">
            <a:avLst/>
          </a:prstGeom>
          <a:ln w="12700">
            <a:solidFill>
              <a:srgbClr val="05966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ectangle 27"/>
          <p:cNvSpPr/>
          <p:nvPr/>
        </p:nvSpPr>
        <p:spPr>
          <a:xfrm>
            <a:off x="4526280" y="3282696"/>
            <a:ext cx="109728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36592" y="320040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列印對應作業單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26280" y="3758183"/>
            <a:ext cx="109728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736592" y="3675887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各單元備有 10 種題型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526280" y="4233672"/>
            <a:ext cx="109728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736592" y="4151376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PDF 下載 / 直接列印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26280" y="4709160"/>
            <a:ext cx="109728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36592" y="4626864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評估數位學習是否遷移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26280" y="5184648"/>
            <a:ext cx="109728" cy="256032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736592" y="510235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至紙筆形式（IEP 記錄）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38160" y="1188720"/>
            <a:ext cx="3566160" cy="5349240"/>
          </a:xfrm>
          <a:prstGeom prst="roundRect">
            <a:avLst>
              <a:gd name="adj" fmla="val 15000"/>
            </a:avLst>
          </a:prstGeom>
          <a:solidFill>
            <a:srgbClr val="FFEDD5"/>
          </a:solidFill>
          <a:ln w="254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464040" y="1234440"/>
            <a:ext cx="914400" cy="914400"/>
          </a:xfrm>
          <a:prstGeom prst="roundRect">
            <a:avLst>
              <a:gd name="adj" fmla="val 5000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464040" y="123444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軟正黑體"/>
              </a:rPr>
              <a:t>第三段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138160" y="2240280"/>
            <a:ext cx="35661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A580C"/>
                </a:solidFill>
                <a:latin typeface="微軟正黑體"/>
              </a:rPr>
              <a:t>實地類化應用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138160" y="2697480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64748B"/>
                </a:solidFill>
                <a:latin typeface="微軟正黑體"/>
              </a:rPr>
              <a:t>社區轉銜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8412480" y="3090672"/>
            <a:ext cx="3017520" cy="0"/>
          </a:xfrm>
          <a:prstGeom prst="line">
            <a:avLst/>
          </a:prstGeom>
          <a:ln w="12700">
            <a:solidFill>
              <a:srgbClr val="EA580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8366760" y="3282696"/>
            <a:ext cx="109728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577072" y="3200400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真實場景操作演練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366760" y="3758183"/>
            <a:ext cx="109728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77072" y="3675887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行為檢核表記錄達成程度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366760" y="4233672"/>
            <a:ext cx="109728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77072" y="4151376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教師逐步褪除支持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366760" y="4709160"/>
            <a:ext cx="109728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577072" y="4626864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最終目標：教師 3 公尺外觀察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66760" y="5184648"/>
            <a:ext cx="109728" cy="256032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77072" y="5102352"/>
            <a:ext cx="29718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1E293B"/>
                </a:solidFill>
                <a:latin typeface="微軟正黑體"/>
              </a:rPr>
              <a:t>IEP 轉銜評估依據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60520" y="3749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64748B"/>
                </a:solidFill>
                <a:latin typeface="微軟正黑體"/>
              </a:rPr>
              <a:t>➡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001000" y="3749039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64748B"/>
                </a:solidFill>
                <a:latin typeface="微軟正黑體"/>
              </a:rPr>
              <a:t>➡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5760" y="6492240"/>
            <a:ext cx="11430000" cy="27432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48640" y="6510528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0D9488"/>
                </a:solidFill>
                <a:latin typeface="微軟正黑體"/>
              </a:rPr>
              <a:t>三段設計確保學習由「數位情境」遷移至「真實社區」，完整支援 IEP 轉銜目標的評量、介入與成效記錄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課程法規依據與 IEP 對應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234440"/>
            <a:ext cx="562356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109728" cy="1691640"/>
          </a:xfrm>
          <a:prstGeom prst="roundRect">
            <a:avLst>
              <a:gd name="adj" fmla="val 0"/>
            </a:avLst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3441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微軟正黑體"/>
              </a:rPr>
              <a:t>🏛️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307592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C2626"/>
                </a:solidFill>
                <a:latin typeface="微軟正黑體"/>
              </a:rPr>
              <a:t>特殊教育法 第 28 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" y="17830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應為身心障礙學生訂定個別化教育計畫（IEP）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931920" y="1600200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77640" y="161848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C2626"/>
                </a:solidFill>
                <a:latin typeface="微軟正黑體"/>
              </a:rPr>
              <a:t>▶ 本軟體對應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40" y="1892808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本軟體各單元提供</a:t>
            </a:r>
          </a:p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IEP 年度目標範本及評量基準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72200" y="1234440"/>
            <a:ext cx="562356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72200" y="1234440"/>
            <a:ext cx="109728" cy="1691640"/>
          </a:xfrm>
          <a:prstGeom prst="roundRect">
            <a:avLst>
              <a:gd name="adj" fmla="val 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441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微軟正黑體"/>
              </a:rP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307592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微軟正黑體"/>
              </a:rPr>
              <a:t>特殊需求領域課綱
生活管理・財務管理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03720" y="17830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生管-Ⅳ-E-1 認識貨幣</a:t>
            </a:r>
          </a:p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生管-Ⅳ-E-2 選取適當幣值完成付款</a:t>
            </a:r>
          </a:p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生管-Ⅳ-E-3 驗收找零</a:t>
            </a:r>
          </a:p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生管-Ⅳ-F-1 使用自動化設備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784080" y="1600200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29800" y="161848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A580C"/>
                </a:solidFill>
                <a:latin typeface="微軟正黑體"/>
              </a:rPr>
              <a:t>▶ 本軟體對應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29800" y="1892808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F/C/A 三系列 18 單元</a:t>
            </a:r>
          </a:p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完整對應財務管理學習序階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3063240"/>
            <a:ext cx="562356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3063240"/>
            <a:ext cx="109728" cy="1691640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3172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微軟正黑體"/>
              </a:rPr>
              <a:t>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136392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263EB"/>
                </a:solidFill>
                <a:latin typeface="微軟正黑體"/>
              </a:rPr>
              <a:t>身心障礙者權利公約
第 9・19 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6118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無障礙近用設施</a:t>
            </a:r>
          </a:p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獨立生活於社區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931920" y="3429000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977640" y="344728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263EB"/>
                </a:solidFill>
                <a:latin typeface="微軟正黑體"/>
              </a:rPr>
              <a:t>▶ 本軟體對應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40" y="3721608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輔助點擊消除動作障礙</a:t>
            </a:r>
          </a:p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A 系列六種真實場景</a:t>
            </a:r>
          </a:p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服務社區轉銜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72200" y="3063240"/>
            <a:ext cx="562356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72200" y="3063240"/>
            <a:ext cx="109728" cy="169164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55080" y="31729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微軟正黑體"/>
              </a:rPr>
              <a:t>📚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20" y="3136392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微軟正黑體"/>
              </a:rPr>
              <a:t>十二年國教課綱總綱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903720" y="36118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自主行動・社會參與核心素養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784080" y="3429000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29800" y="344728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59669"/>
                </a:solidFill>
                <a:latin typeface="微軟正黑體"/>
              </a:rPr>
              <a:t>▶ 本軟體對應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29800" y="3721608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A 系列六種真實場景</a:t>
            </a:r>
          </a:p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F 系列數概念建構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20040" y="4892040"/>
            <a:ext cx="562356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20040" y="4892040"/>
            <a:ext cx="109728" cy="169164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920" y="5001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微軟正黑體"/>
              </a:rPr>
              <a:t>⚖️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51560" y="4965192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7C3AED"/>
                </a:solidFill>
                <a:latin typeface="微軟正黑體"/>
              </a:rPr>
              <a:t>高中以下特教課程
教材教法及評量辦法 第 6 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4406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教材應符合學生個別學習需求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931920" y="5257800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977640" y="527608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7C3AED"/>
                </a:solidFill>
                <a:latin typeface="微軟正黑體"/>
              </a:rPr>
              <a:t>▶ 本軟體對應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77640" y="5550408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三種難度 × 輔助點擊</a:t>
            </a:r>
          </a:p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支援個別化差異教學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72200" y="4892040"/>
            <a:ext cx="5623560" cy="1691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72200" y="4892040"/>
            <a:ext cx="109728" cy="1691640"/>
          </a:xfrm>
          <a:prstGeom prst="roundRect">
            <a:avLst>
              <a:gd name="adj" fmla="val 0"/>
            </a:avLst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55080" y="5001768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latin typeface="微軟正黑體"/>
              </a:rPr>
              <a:t>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903720" y="4965192"/>
            <a:ext cx="46634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微軟正黑體"/>
              </a:rPr>
              <a:t>十二年國教
特殊需求領域課綱（2019）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903720" y="5440680"/>
            <a:ext cx="28346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財務管理主題</a:t>
            </a:r>
          </a:p>
          <a:p>
            <a:pPr algn="l"/>
            <a:r>
              <a:rPr sz="1100">
                <a:solidFill>
                  <a:srgbClr val="64748B"/>
                </a:solidFill>
                <a:latin typeface="微軟正黑體"/>
              </a:rPr>
              <a:t>（頁 45–52）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784080" y="5257800"/>
            <a:ext cx="1874519" cy="1188720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01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829800" y="527608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7706"/>
                </a:solidFill>
                <a:latin typeface="微軟正黑體"/>
              </a:rPr>
              <a:t>▶ 本軟體對應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829800" y="5550408"/>
            <a:ext cx="1737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系統性對應課綱架構</a:t>
            </a:r>
          </a:p>
          <a:p>
            <a:pPr algn="l"/>
            <a:r>
              <a:rPr sz="1100">
                <a:solidFill>
                  <a:srgbClr val="1E293B"/>
                </a:solidFill>
                <a:latin typeface="微軟正黑體"/>
              </a:rPr>
              <a:t>提供教學目標與評量規準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試教觀察與預期成效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微軟正黑體"/>
              </a:rPr>
              <a:t>類化窗口的關鍵時刻 × 三階段成效指標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88720"/>
            <a:ext cx="5029200" cy="534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188720"/>
            <a:ext cx="5029200" cy="475488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225296"/>
            <a:ext cx="47548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🔬  試教觀察：類化窗口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7373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微軟正黑體"/>
              </a:rPr>
              <a:t>🎯 共同轉折點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14884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學生在第 5～7 次軟體操作後，開始在啟動前
主動低聲說出下一步名稱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65176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→ 程序性記憶語言化的信號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154680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→ 類化窗口即將開啟的前兆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76732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微軟正黑體"/>
              </a:rPr>
              <a:t>✅ A2 自閉症學生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178808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社區實地操作時，面對真實理髮廳觸控機：
完成完整流程 + 主動說出等待規則
「我是 7 號，還沒叫到我，我要繼續等」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79145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微軟正黑體"/>
              </a:rPr>
              <a:t>✅ A1 個案（小雯）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202936"/>
            <a:ext cx="46634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93B"/>
                </a:solidFill>
                <a:latin typeface="微軟正黑體"/>
              </a:rPr>
              <a:t>完成 15 次軟體練習後：
第一次在真實販賣機前完整購買
主動說：「我下次自己來。」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623560" y="1188720"/>
            <a:ext cx="6263640" cy="53492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23560" y="1188720"/>
            <a:ext cx="6263640" cy="475488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60720" y="1225296"/>
            <a:ext cx="5943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微軟正黑體"/>
              </a:rPr>
              <a:t>📊  預期成效指標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1783080"/>
            <a:ext cx="5943600" cy="1417320"/>
          </a:xfrm>
          <a:prstGeom prst="roundRect">
            <a:avLst>
              <a:gd name="adj" fmla="val 10000"/>
            </a:avLst>
          </a:prstGeom>
          <a:solidFill>
            <a:srgbClr val="D1FAE5"/>
          </a:solidFill>
          <a:ln w="1524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97880" y="1874520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59669"/>
                </a:solidFill>
                <a:latin typeface="微軟正黑體"/>
              </a:rPr>
              <a:t>短期（1～2 個月）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240280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認知：9 種面額正確辨識 ≥80%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技能：A1～A3 普通模式完成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情意：面對自助設備焦慮降低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3355848"/>
            <a:ext cx="5943600" cy="1417320"/>
          </a:xfrm>
          <a:prstGeom prst="roundRect">
            <a:avLst>
              <a:gd name="adj" fmla="val 10000"/>
            </a:avLst>
          </a:prstGeom>
          <a:solidFill>
            <a:srgbClr val="FEF3C7"/>
          </a:solidFill>
          <a:ln w="1524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97880" y="3447288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97706"/>
                </a:solidFill>
                <a:latin typeface="微軟正黑體"/>
              </a:rPr>
              <a:t>中期（3～6 個月）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813048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認知：找零計算正確率 ≥70%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技能：A4～A6 普通模式；ATM 獨立操作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情意：不再迴避社區場景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4928616"/>
            <a:ext cx="5943600" cy="1417320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1524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97880" y="502005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A580C"/>
                </a:solidFill>
                <a:latin typeface="微軟正黑體"/>
              </a:rPr>
              <a:t>長期（6 個月以上）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5385816"/>
            <a:ext cx="5669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認知：能向他人說明消費流程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技能：真實場景（理髮廳/超市/ATM）</a:t>
            </a:r>
          </a:p>
          <a:p>
            <a:pPr algn="l"/>
            <a:r>
              <a:rPr sz="1200">
                <a:solidFill>
                  <a:srgbClr val="1E293B"/>
                </a:solidFill>
                <a:latin typeface="微軟正黑體"/>
              </a:rPr>
              <a:t>情意：建立社區消費自主信心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1136599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微軟正黑體"/>
              </a:rPr>
              <a:t>技術規格與無障礙設計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621792"/>
            <a:ext cx="1136599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BFDBFF"/>
                </a:solidFill>
                <a:latin typeface="微軟正黑體"/>
              </a:rPr>
              <a:t>Technical Specifications &amp; Accessibility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234440"/>
            <a:ext cx="365760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441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🖥️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441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開發技術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73736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HTML5 / CSS3 / JavaScript（ES6+）</a:t>
            </a:r>
          </a:p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無需安裝任何外掛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51959" y="1234440"/>
            <a:ext cx="365760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19" y="13441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199" y="13441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程式規模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199" y="173736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18 個主程式，超過 15 萬行程式碼</a:t>
            </a:r>
          </a:p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研發歷時約 4 個月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83879" y="1234440"/>
            <a:ext cx="365760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39" y="134416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19" y="134416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支援裝置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173736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Windows 電腦（推薦）</a:t>
            </a:r>
          </a:p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iPad / Android 平板（9.7 吋以上）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017520"/>
            <a:ext cx="365760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1272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1272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支援瀏覽器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35204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Google Chrome / Microsoft Edge</a:t>
            </a:r>
          </a:p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（最新版）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51959" y="3017520"/>
            <a:ext cx="365760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19" y="31272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199" y="31272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離線使用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199" y="35204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完整支援</a:t>
            </a:r>
          </a:p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首次語音啟動後可完全離線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183879" y="3017520"/>
            <a:ext cx="365760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39" y="31272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🔊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61119" y="312724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語音引擎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961119" y="352044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Web Speech API</a:t>
            </a:r>
          </a:p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優先 Microsoft 雅婷（Windows）</a:t>
            </a:r>
          </a:p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台灣語境金額唸法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4800600"/>
            <a:ext cx="365760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9103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🖱️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7280" y="49103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輔助點擊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53035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全 18 單元支援</a:t>
            </a:r>
          </a:p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精細動作障礙學生任意位置點擊</a:t>
            </a:r>
          </a:p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自動執行正確步驟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51959" y="4800600"/>
            <a:ext cx="365760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19" y="49103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🌙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199" y="49103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深色模式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199" y="53035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全 18 單元支援</a:t>
            </a:r>
          </a:p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適合視覺敏感或視覺疲勞學生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183879" y="4800600"/>
            <a:ext cx="3657600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24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21039" y="491032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latin typeface="微軟正黑體"/>
              </a:rPr>
              <a:t>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61119" y="4910328"/>
            <a:ext cx="2651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293B"/>
                </a:solidFill>
                <a:latin typeface="微軟正黑體"/>
              </a:rPr>
              <a:t>製作費用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961119" y="5303520"/>
            <a:ext cx="2651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新臺幣 0 元</a:t>
            </a:r>
          </a:p>
          <a:p>
            <a:pPr algn="l"/>
            <a:r>
              <a:rPr sz="1200">
                <a:solidFill>
                  <a:srgbClr val="64748B"/>
                </a:solidFill>
                <a:latin typeface="微軟正黑體"/>
              </a:rPr>
              <a:t>教師自主研發，無任何商業授權費用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微軟正黑體"/>
              </a:rPr>
              <a:t>核心創新摘要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94A3B8"/>
                </a:solidFill>
                <a:latin typeface="Arial"/>
              </a:rPr>
              <a:t>Key Innovations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1E3A5C"/>
          </a:solidFill>
          <a:ln w="19050">
            <a:solidFill>
              <a:srgbClr val="22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02920" y="1600200"/>
            <a:ext cx="548640" cy="2011680"/>
          </a:xfrm>
          <a:prstGeom prst="roundRect">
            <a:avLst>
              <a:gd name="adj" fmla="val 0"/>
            </a:avLst>
          </a:prstGeom>
          <a:solidFill>
            <a:srgbClr val="22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600200"/>
            <a:ext cx="548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微軟正黑體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73736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263EB"/>
                </a:solidFill>
                <a:latin typeface="微軟正黑體"/>
              </a:rPr>
              <a:t>全台首套三層次序階
數位金融素養課程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4688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CBD5E1"/>
                </a:solidFill>
                <a:latin typeface="微軟正黑體"/>
              </a:rPr>
              <a:t>F→C→A 18 個互動教學單元，系統覆蓋</a:t>
            </a:r>
          </a:p>
          <a:p>
            <a:pPr algn="l"/>
            <a:r>
              <a:rPr sz="1300">
                <a:solidFill>
                  <a:srgbClr val="CBD5E1"/>
                </a:solidFill>
                <a:latin typeface="微軟正黑體"/>
              </a:rPr>
              <a:t>「數學先備→貨幣認知→情境類化」完整序列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60020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1E3A5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600200"/>
            <a:ext cx="548640" cy="2011680"/>
          </a:xfrm>
          <a:prstGeom prst="roundRect">
            <a:avLst>
              <a:gd name="adj" fmla="val 0"/>
            </a:avLst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63640" y="1600200"/>
            <a:ext cx="548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微軟正黑體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73736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59669"/>
                </a:solidFill>
                <a:latin typeface="微軟正黑體"/>
              </a:rPr>
              <a:t>輔助點擊模式
（特教數位教材首創）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03720" y="24688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CBD5E1"/>
                </a:solidFill>
                <a:latin typeface="微軟正黑體"/>
              </a:rPr>
              <a:t>精細動作障礙學生任意位置點擊</a:t>
            </a:r>
          </a:p>
          <a:p>
            <a:pPr algn="l"/>
            <a:r>
              <a:rPr sz="1300">
                <a:solidFill>
                  <a:srgbClr val="CBD5E1"/>
                </a:solidFill>
                <a:latin typeface="微軟正黑體"/>
              </a:rPr>
              <a:t>即自動執行正確步驟，全 18 單元支援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8620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1E3A5C"/>
          </a:solidFill>
          <a:ln w="1905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886200"/>
            <a:ext cx="548640" cy="2011680"/>
          </a:xfrm>
          <a:prstGeom prst="roundRect">
            <a:avLst>
              <a:gd name="adj" fmla="val 0"/>
            </a:avLst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3886200"/>
            <a:ext cx="548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微軟正黑體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402336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A580C"/>
                </a:solidFill>
                <a:latin typeface="微軟正黑體"/>
              </a:rPr>
              <a:t>六種台灣在地化
真實情境仿真介面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" y="47548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CBD5E1"/>
                </a:solidFill>
                <a:latin typeface="微軟正黑體"/>
              </a:rPr>
              <a:t>自動販賣機・理髮廳・速食店</a:t>
            </a:r>
          </a:p>
          <a:p>
            <a:pPr algn="l"/>
            <a:r>
              <a:rPr sz="1300">
                <a:solidFill>
                  <a:srgbClr val="CBD5E1"/>
                </a:solidFill>
                <a:latin typeface="微軟正黑體"/>
              </a:rPr>
              <a:t>超市・ATM・台鐵售票機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3886200"/>
            <a:ext cx="5394960" cy="2011680"/>
          </a:xfrm>
          <a:prstGeom prst="roundRect">
            <a:avLst>
              <a:gd name="adj" fmla="val 12000"/>
            </a:avLst>
          </a:prstGeom>
          <a:solidFill>
            <a:srgbClr val="1E3A5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3886200"/>
            <a:ext cx="548640" cy="2011680"/>
          </a:xfrm>
          <a:prstGeom prst="roundRect">
            <a:avLst>
              <a:gd name="adj" fmla="val 0"/>
            </a:avLst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3886200"/>
            <a:ext cx="548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微軟正黑體"/>
              </a:rP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03720" y="4023360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7C3AED"/>
                </a:solidFill>
                <a:latin typeface="微軟正黑體"/>
              </a:rPr>
              <a:t>完整配套系統
對應 IEP 各功能向度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20" y="4754880"/>
            <a:ext cx="4572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>
                <a:solidFill>
                  <a:srgbClr val="CBD5E1"/>
                </a:solidFill>
                <a:latin typeface="微軟正黑體"/>
              </a:rPr>
              <a:t>作業單（18 × 10 題型）</a:t>
            </a:r>
          </a:p>
          <a:p>
            <a:pPr algn="l"/>
            <a:r>
              <a:rPr sz="1300">
                <a:solidFill>
                  <a:srgbClr val="CBD5E1"/>
                </a:solidFill>
                <a:latin typeface="微軟正黑體"/>
              </a:rPr>
              <a:t>獎勵積分・深色模式・語音引導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6263640"/>
            <a:ext cx="11155680" cy="411480"/>
          </a:xfrm>
          <a:prstGeom prst="roundRect">
            <a:avLst>
              <a:gd name="adj" fmla="val 10000"/>
            </a:avLst>
          </a:prstGeom>
          <a:solidFill>
            <a:srgbClr val="1E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6281928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微軟正黑體"/>
              </a:rPr>
              <a:t>身心障礙類・國民中學及高級中等學校組　｜　製作費用 NT$0　｜　完全離線・免安裝　｜　中華民國 115 年 3 月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