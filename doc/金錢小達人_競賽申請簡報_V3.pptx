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26880" y="-548640"/>
            <a:ext cx="3474720" cy="3474720"/>
          </a:xfrm>
          <a:prstGeom prst="ellipse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0" y="4206240"/>
            <a:ext cx="2560320" cy="2560320"/>
          </a:xfrm>
          <a:prstGeom prst="ellipse">
            <a:avLst/>
          </a:prstGeom>
          <a:solidFill>
            <a:srgbClr val="064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321040" y="2926080"/>
            <a:ext cx="1645920" cy="1645920"/>
          </a:xfrm>
          <a:prstGeom prst="ellipse">
            <a:avLst/>
          </a:prstGeom>
          <a:solidFill>
            <a:srgbClr val="302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02920"/>
            <a:ext cx="7498079" cy="402336"/>
          </a:xfrm>
          <a:prstGeom prst="roundRect">
            <a:avLst>
              <a:gd name="adj" fmla="val 20000"/>
            </a:avLst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02920"/>
            <a:ext cx="74980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587"/>
                </a:solidFill>
                <a:latin typeface="Microsoft JhengHei"/>
              </a:rPr>
              <a:t>第八屆教育部獎助研發特殊教育教材教具競賽  ·  身心障礙類  ·  國民中學及高級中等學校組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78992"/>
            <a:ext cx="8686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Microsoft JhengHei"/>
              </a:rPr>
              <a:t>金 錢 小 達 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042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DBA74"/>
                </a:solidFill>
                <a:latin typeface="Microsoft JhengHei"/>
              </a:rPr>
              <a:t>互動式特殊教育生活數學暨金融素養教學軟體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C8DA8"/>
                </a:solidFill>
                <a:latin typeface="Arial"/>
              </a:rPr>
              <a:t>Money Tutor: Interactive Software for Financial Literacy in Special Education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3337560"/>
            <a:ext cx="7909560" cy="0"/>
          </a:xfrm>
          <a:prstGeom prst="line">
            <a:avLst/>
          </a:prstGeom>
          <a:ln w="19050">
            <a:solidFill>
              <a:srgbClr val="33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02920" y="3520440"/>
            <a:ext cx="1828800" cy="960120"/>
          </a:xfrm>
          <a:prstGeom prst="roundRect">
            <a:avLst>
              <a:gd name="adj" fmla="val 12000"/>
            </a:avLst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9359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97706"/>
                </a:solidFill>
                <a:latin typeface="Microsoft JhengHei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0507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Microsoft JhengHei"/>
              </a:rPr>
              <a:t>互動教學單元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3520440"/>
            <a:ext cx="1828800" cy="960120"/>
          </a:xfrm>
          <a:prstGeom prst="roundRect">
            <a:avLst>
              <a:gd name="adj" fmla="val 12000"/>
            </a:avLst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359359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97706"/>
                </a:solidFill>
                <a:latin typeface="Microsoft JhengHei"/>
              </a:rPr>
              <a:t>150,000+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0507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Microsoft JhengHei"/>
              </a:rPr>
              <a:t>程式碼行數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3520440"/>
            <a:ext cx="1828800" cy="960120"/>
          </a:xfrm>
          <a:prstGeom prst="roundRect">
            <a:avLst>
              <a:gd name="adj" fmla="val 12000"/>
            </a:avLst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359359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97706"/>
                </a:solidFill>
                <a:latin typeface="Microsoft JhengHei"/>
              </a:rPr>
              <a:t>4 個月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0507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Microsoft JhengHei"/>
              </a:rPr>
              <a:t>研發歷時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520440"/>
            <a:ext cx="1828800" cy="960120"/>
          </a:xfrm>
          <a:prstGeom prst="roundRect">
            <a:avLst>
              <a:gd name="adj" fmla="val 12000"/>
            </a:avLst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59359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D97706"/>
                </a:solidFill>
                <a:latin typeface="Microsoft JhengHei"/>
              </a:rPr>
              <a:t>NT$ 0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0507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Microsoft JhengHei"/>
              </a:rPr>
              <a:t>授權費用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754880"/>
            <a:ext cx="7955279" cy="54864"/>
          </a:xfrm>
          <a:prstGeom prst="rect">
            <a:avLst/>
          </a:prstGeom>
          <a:solidFill>
            <a:srgbClr val="33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89204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Microsoft JhengHei"/>
              </a:rPr>
              <a:t>適用對象：國中～高中特教班・資源班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230368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Microsoft JhengHei"/>
              </a:rPr>
              <a:t>輕度至中度智能障礙・自閉症・學習障礙・多重障礙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715000"/>
            <a:ext cx="182880" cy="347472"/>
          </a:xfrm>
          <a:prstGeom prst="roundRect">
            <a:avLst>
              <a:gd name="adj" fmla="val 6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" y="571500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Microsoft JhengHei"/>
              </a:rPr>
              <a:t>F 系列  數學基礎先備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5715000"/>
            <a:ext cx="182880" cy="347472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56432" y="571500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Microsoft JhengHei"/>
              </a:rPr>
              <a:t>C 系列  貨幣認知建立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97880" y="5715000"/>
            <a:ext cx="182880" cy="347472"/>
          </a:xfrm>
          <a:prstGeom prst="roundRect">
            <a:avLst>
              <a:gd name="adj" fmla="val 6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53912" y="571500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Microsoft JhengHei"/>
              </a:rPr>
              <a:t>A 系列  真實情境類化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2636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A73"/>
                </a:solidFill>
                <a:latin typeface="Microsoft JhengHei"/>
              </a:rPr>
              <a:t>中華民國 115 年 3 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Microsoft JhengHei"/>
              </a:rP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JhengHei"/>
              </a:rPr>
              <a:t>簡報綱要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1548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AD8FF"/>
                </a:solidFill>
                <a:latin typeface="Microsoft JhengHei"/>
              </a:rPr>
              <a:t>Table of 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" y="1078992"/>
            <a:ext cx="37673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2608" y="1078992"/>
            <a:ext cx="3767328" cy="73152"/>
          </a:xfrm>
          <a:prstGeom prst="roundRect">
            <a:avLst>
              <a:gd name="adj" fmla="val 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1188720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C2626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1188720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Microsoft JhengHei"/>
              </a:rPr>
              <a:t>設計動機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1572768"/>
            <a:ext cx="2880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Microsoft JhengHei"/>
              </a:rPr>
              <a:t>特教現場三重結構性困境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1078992"/>
            <a:ext cx="37673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0248" y="1078992"/>
            <a:ext cx="3767328" cy="73152"/>
          </a:xfrm>
          <a:prstGeom prst="roundRect">
            <a:avLst>
              <a:gd name="adj" fmla="val 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9976" y="1188720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A580C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0056" y="1188720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Microsoft JhengHei"/>
              </a:rPr>
              <a:t>設計理念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0056" y="1572768"/>
            <a:ext cx="2880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Microsoft JhengHei"/>
              </a:rPr>
              <a:t>UDL × 工作分析法 × 直接教學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47888" y="1078992"/>
            <a:ext cx="37673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078992"/>
            <a:ext cx="3767328" cy="73152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1188720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263EB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1188720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Microsoft JhengHei"/>
              </a:rPr>
              <a:t>F 系列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7696" y="1572768"/>
            <a:ext cx="2880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Microsoft JhengHei"/>
              </a:rPr>
              <a:t>數學基礎先備 6 單元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" y="2194560"/>
            <a:ext cx="37673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2608" y="2194560"/>
            <a:ext cx="3767328" cy="73152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" y="2304288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59669"/>
                </a:solidFill>
                <a:latin typeface="Arial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" y="2304288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Microsoft JhengHei"/>
              </a:rPr>
              <a:t>C 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" y="2688336"/>
            <a:ext cx="2880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Microsoft JhengHei"/>
              </a:rPr>
              <a:t>貨幣認知建立 6 單元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70248" y="2194560"/>
            <a:ext cx="37673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70248" y="2194560"/>
            <a:ext cx="3767328" cy="73152"/>
          </a:xfrm>
          <a:prstGeom prst="roundRect">
            <a:avLst>
              <a:gd name="adj" fmla="val 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9976" y="2304288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A580C"/>
                </a:solidFill>
                <a:latin typeface="Arial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0056" y="2304288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Microsoft JhengHei"/>
              </a:rPr>
              <a:t>A 系列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0056" y="2688336"/>
            <a:ext cx="2880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Microsoft JhengHei"/>
              </a:rPr>
              <a:t>真實情境類化 6 單元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47888" y="2194560"/>
            <a:ext cx="37673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47888" y="2194560"/>
            <a:ext cx="3767328" cy="73152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7616" y="2304288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C3AED"/>
                </a:solidFill>
                <a:latin typeface="Arial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97696" y="2304288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Microsoft JhengHei"/>
              </a:rPr>
              <a:t>輔助點擊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97696" y="2688336"/>
            <a:ext cx="2880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Microsoft JhengHei"/>
              </a:rPr>
              <a:t>精細動作障礙首創解方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" y="3310128"/>
            <a:ext cx="37673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92608" y="3310128"/>
            <a:ext cx="3767328" cy="73152"/>
          </a:xfrm>
          <a:prstGeom prst="roundRect">
            <a:avLst>
              <a:gd name="adj" fmla="val 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2336" y="3419856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9488"/>
                </a:solidFill>
                <a:latin typeface="Arial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" y="3419856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Microsoft JhengHei"/>
              </a:rPr>
              <a:t>三段學習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" y="3803904"/>
            <a:ext cx="2880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Microsoft JhengHei"/>
              </a:rPr>
              <a:t>數位→紙本評量→社區類化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0248" y="3310128"/>
            <a:ext cx="37673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70248" y="3310128"/>
            <a:ext cx="3767328" cy="73152"/>
          </a:xfrm>
          <a:prstGeom prst="roundRect">
            <a:avLst>
              <a:gd name="adj" fmla="val 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79976" y="3419856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Arial"/>
              </a:rPr>
              <a:t>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0056" y="3419856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Microsoft JhengHei"/>
              </a:rPr>
              <a:t>課程法規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0056" y="3803904"/>
            <a:ext cx="2880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Microsoft JhengHei"/>
              </a:rPr>
              <a:t>IEP / 特教法 / 課綱對應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47888" y="3310128"/>
            <a:ext cx="37673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47888" y="3310128"/>
            <a:ext cx="3767328" cy="73152"/>
          </a:xfrm>
          <a:prstGeom prst="roundRect">
            <a:avLst>
              <a:gd name="adj" fmla="val 0"/>
            </a:avLst>
          </a:prstGeom>
          <a:solidFill>
            <a:srgbClr val="44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57616" y="3419856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438CA"/>
                </a:solidFill>
                <a:latin typeface="Arial"/>
              </a:rPr>
              <a:t>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97696" y="3419856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Microsoft JhengHei"/>
              </a:rPr>
              <a:t>試教觀察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97696" y="3803904"/>
            <a:ext cx="2880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Microsoft JhengHei"/>
              </a:rPr>
              <a:t>個案轉化 · 類化窗口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2608" y="4425696"/>
            <a:ext cx="37673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92608" y="4425696"/>
            <a:ext cx="3767328" cy="73152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2336" y="4535424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59669"/>
                </a:solidFill>
                <a:latin typeface="Arial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6" y="4535424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Microsoft JhengHei"/>
              </a:rPr>
              <a:t>預期成效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2416" y="4919472"/>
            <a:ext cx="2880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Microsoft JhengHei"/>
              </a:rPr>
              <a:t>三層面 × 短中長期指標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70248" y="4425696"/>
            <a:ext cx="37673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270248" y="4425696"/>
            <a:ext cx="3767328" cy="73152"/>
          </a:xfrm>
          <a:prstGeom prst="roundRect">
            <a:avLst>
              <a:gd name="adj" fmla="val 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79976" y="4535424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Arial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0056" y="4535424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Microsoft JhengHei"/>
              </a:rPr>
              <a:t>B 系列延伸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0056" y="4919472"/>
            <a:ext cx="2880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Microsoft JhengHei"/>
              </a:rPr>
              <a:t>預算規劃 6 個單元介紹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47888" y="4425696"/>
            <a:ext cx="37673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47888" y="4425696"/>
            <a:ext cx="3767328" cy="73152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57616" y="4535424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263EB"/>
                </a:solidFill>
                <a:latin typeface="Arial"/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97696" y="4535424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Microsoft JhengHei"/>
              </a:rPr>
              <a:t>IEP 目標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97696" y="4919472"/>
            <a:ext cx="2880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Microsoft JhengHei"/>
              </a:rPr>
              <a:t>各系列年度目標範本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92608" y="5541264"/>
            <a:ext cx="37673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92608" y="5541264"/>
            <a:ext cx="3767328" cy="73152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02336" y="5650992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C3AED"/>
                </a:solidFill>
                <a:latin typeface="Arial"/>
              </a:rPr>
              <a:t>13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42416" y="5650992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Microsoft JhengHei"/>
              </a:rPr>
              <a:t>三難度比較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2416" y="6035040"/>
            <a:ext cx="2880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Microsoft JhengHei"/>
              </a:rPr>
              <a:t>簡單/普通/困難/輔助點擊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70248" y="5541264"/>
            <a:ext cx="37673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270248" y="5541264"/>
            <a:ext cx="3767328" cy="73152"/>
          </a:xfrm>
          <a:prstGeom prst="roundRect">
            <a:avLst>
              <a:gd name="adj" fmla="val 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79976" y="5650992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4748B"/>
                </a:solidFill>
                <a:latin typeface="Arial"/>
              </a:rPr>
              <a:t>14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20056" y="5650992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Microsoft JhengHei"/>
              </a:rPr>
              <a:t>技術規格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0056" y="6035040"/>
            <a:ext cx="2880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Microsoft JhengHei"/>
              </a:rPr>
              <a:t>無障礙設計 · 配套系統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247888" y="5541264"/>
            <a:ext cx="3767328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247888" y="5541264"/>
            <a:ext cx="3767328" cy="73152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357616" y="5650992"/>
            <a:ext cx="56692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  <a:latin typeface="Arial"/>
              </a:rPr>
              <a:t>15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97696" y="5650992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Microsoft JhengHei"/>
              </a:rPr>
              <a:t>核心創新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97696" y="6035040"/>
            <a:ext cx="2880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Microsoft JhengHei"/>
              </a:rPr>
              <a:t>四大首創特色 · 結語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Microsoft JhengHei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JhengHei"/>
              </a:rPr>
              <a:t>01  設計動機 ── 特教現場的三重結構性困境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3767328" cy="5532120"/>
          </a:xfrm>
          <a:prstGeom prst="roundRect">
            <a:avLst>
              <a:gd name="adj" fmla="val 16000"/>
            </a:avLst>
          </a:prstGeom>
          <a:solidFill>
            <a:srgbClr val="FEE2E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78992"/>
            <a:ext cx="37673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latin typeface="Microsoft JhengHei"/>
              </a:rP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34015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C2626"/>
                </a:solidFill>
                <a:latin typeface="Microsoft JhengHei"/>
              </a:rPr>
              <a:t>困境一</a:t>
            </a:r>
          </a:p>
          <a:p>
            <a:pPr algn="l"/>
            <a:r>
              <a:rPr sz="1500" b="1">
                <a:solidFill>
                  <a:srgbClr val="DC2626"/>
                </a:solidFill>
                <a:latin typeface="Microsoft JhengHei"/>
              </a:rPr>
              <a:t>交易序列的意義理解障礙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487168"/>
            <a:ext cx="3401568" cy="0"/>
          </a:xfrm>
          <a:prstGeom prst="line">
            <a:avLst/>
          </a:prstGeom>
          <a:ln w="127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21208" y="2578608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台灣 9 種面額貨幣──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3017520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挑戰不在「辨識」，在「序列理解」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" y="3456432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找零 = 付出 → 接受 → 驗收 邏輯鏈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3895344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夠不夠 = 幣值辨識 + 數量比較同步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4334256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靜態紙本無法提供即時個別化回饋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4773168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錯誤模式在缺乏回饋中持續固化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1024128"/>
            <a:ext cx="3767328" cy="553212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0248" y="1078992"/>
            <a:ext cx="37673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latin typeface="Microsoft JhengHei"/>
              </a:rPr>
              <a:t>⚠️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1783080"/>
            <a:ext cx="34015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97706"/>
                </a:solidFill>
                <a:latin typeface="Microsoft JhengHei"/>
              </a:rPr>
              <a:t>困境二</a:t>
            </a:r>
          </a:p>
          <a:p>
            <a:pPr algn="l"/>
            <a:r>
              <a:rPr sz="1500" b="1">
                <a:solidFill>
                  <a:srgbClr val="D97706"/>
                </a:solidFill>
                <a:latin typeface="Microsoft JhengHei"/>
              </a:rPr>
              <a:t>安全練習場域的長期缺位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453128" y="2487168"/>
            <a:ext cx="3401568" cy="0"/>
          </a:xfrm>
          <a:prstGeom prst="line">
            <a:avLst/>
          </a:prstGeom>
          <a:ln w="127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471416" y="2578608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真實試誤 → 消費糾紛 + 情緒失調風險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1416" y="3017520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【小俊・速食店】陷入選擇迴路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3456432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97706"/>
                </a:solidFill>
                <a:latin typeface="Microsoft JhengHei"/>
              </a:rPr>
              <a:t>→ 後方催促誘發情緒失調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416" y="3895344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97706"/>
                </a:solidFill>
                <a:latin typeface="Microsoft JhengHei"/>
              </a:rPr>
              <a:t>→ 一學期拒絕接觸相關學習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1416" y="4334256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【小雯・販賣機】反覆失敗後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1416" y="4773168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97706"/>
                </a:solidFill>
                <a:latin typeface="Microsoft JhengHei"/>
              </a:rPr>
              <a:t>→ 主動繞道迴避所有自助設備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0456" y="1024128"/>
            <a:ext cx="3767328" cy="5532120"/>
          </a:xfrm>
          <a:prstGeom prst="roundRect">
            <a:avLst>
              <a:gd name="adj" fmla="val 16000"/>
            </a:avLst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0456" y="1078992"/>
            <a:ext cx="37673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latin typeface="Microsoft JhengHei"/>
              </a:rPr>
              <a:t>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03336" y="1783080"/>
            <a:ext cx="34015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  <a:latin typeface="Microsoft JhengHei"/>
              </a:rPr>
              <a:t>困境三</a:t>
            </a:r>
          </a:p>
          <a:p>
            <a:pPr algn="l"/>
            <a:r>
              <a:rPr sz="1500" b="1">
                <a:solidFill>
                  <a:srgbClr val="7C3AED"/>
                </a:solidFill>
                <a:latin typeface="Microsoft JhengHei"/>
              </a:rPr>
              <a:t>個別差異無法兼顧的教材斷層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403336" y="2487168"/>
            <a:ext cx="3401568" cy="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421624" y="2578608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市售教材：一難度・一題型・無回饋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1624" y="3017520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認知差距 3～5 年的班級共用同份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21624" y="3456432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精細動作障礙學生無法操作觸控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1624" y="3895344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教師自製：耗時且難以系統性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1624" y="4334256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每次上課重複製作 → 教師疲憊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1624" y="4773168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缺乏系統化序階課程整合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Microsoft JhengHei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JhengHei"/>
              </a:rPr>
              <a:t>02  設計理念 ── 三大教育理論架構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1548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AD8FF"/>
                </a:solidFill>
                <a:latin typeface="Microsoft JhengHei"/>
              </a:rPr>
              <a:t>UDL 通用學習設計 × 工作分析法 × 直接教學法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24128"/>
            <a:ext cx="3767328" cy="5440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24128"/>
            <a:ext cx="3767328" cy="530352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51560"/>
            <a:ext cx="37673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UDL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通用學習設計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1627632"/>
            <a:ext cx="3364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Microsoft JhengHei"/>
              </a:rPr>
              <a:t>理論核心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" y="1965960"/>
            <a:ext cx="3364992" cy="320040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1965960"/>
            <a:ext cx="3364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C3AED"/>
                </a:solidFill>
                <a:latin typeface="Microsoft JhengHei"/>
              </a:rPr>
              <a:t>多元表徵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" y="2350008"/>
            <a:ext cx="3364992" cy="320040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2350008"/>
            <a:ext cx="3364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C3AED"/>
                </a:solidFill>
                <a:latin typeface="Microsoft JhengHei"/>
              </a:rPr>
              <a:t>多元行動與表達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" y="2734056"/>
            <a:ext cx="3364992" cy="320040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2734056"/>
            <a:ext cx="3364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C3AED"/>
                </a:solidFill>
                <a:latin typeface="Microsoft JhengHei"/>
              </a:rPr>
              <a:t>多元參與方式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1208" y="3154680"/>
            <a:ext cx="3364992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21208" y="3246120"/>
            <a:ext cx="3364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Microsoft JhengHei"/>
              </a:rPr>
              <a:t>軟體落實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584448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▸ 三種難度對應認知差異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3950208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▸ 語音+視覺+觸控多管道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" y="4315968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▸ 輔助點擊降低動作門檻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" y="4681728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▸ 深色模式視覺無障礙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" y="5047488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▸ 自訂圖片個人化學習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0248" y="1024128"/>
            <a:ext cx="3767328" cy="5440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70248" y="1024128"/>
            <a:ext cx="3767328" cy="530352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0248" y="1051560"/>
            <a:ext cx="37673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工作分析法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Task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71416" y="1627632"/>
            <a:ext cx="3364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Microsoft JhengHei"/>
              </a:rPr>
              <a:t>理論核心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71416" y="1965960"/>
            <a:ext cx="3364992" cy="32004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71416" y="1965960"/>
            <a:ext cx="3364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59669"/>
                </a:solidFill>
                <a:latin typeface="Microsoft JhengHei"/>
              </a:rPr>
              <a:t>複雜行為分解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71416" y="2350008"/>
            <a:ext cx="3364992" cy="32004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71416" y="2350008"/>
            <a:ext cx="3364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59669"/>
                </a:solidFill>
                <a:latin typeface="Microsoft JhengHei"/>
              </a:rPr>
              <a:t>序列步驟教學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71416" y="2734056"/>
            <a:ext cx="3364992" cy="32004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71416" y="2734056"/>
            <a:ext cx="3364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59669"/>
                </a:solidFill>
                <a:latin typeface="Microsoft JhengHei"/>
              </a:rPr>
              <a:t>系統化訓練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471416" y="3154680"/>
            <a:ext cx="3364992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471416" y="3246120"/>
            <a:ext cx="3364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Microsoft JhengHei"/>
              </a:rPr>
              <a:t>軟體落實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1416" y="3584448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▸ A 系列 5～8 步驟拆解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71416" y="3950208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▸ 每步驟語音引導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71416" y="4315968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▸ 步驟高亮視覺提示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71416" y="4681728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▸ 輔助點擊步驟自動推進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71416" y="5047488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▸ 完整流程記錄回饋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0456" y="1024128"/>
            <a:ext cx="3767328" cy="5440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0456" y="1024128"/>
            <a:ext cx="3767328" cy="530352"/>
          </a:xfrm>
          <a:prstGeom prst="roundRect">
            <a:avLst>
              <a:gd name="adj" fmla="val 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0456" y="1051560"/>
            <a:ext cx="376732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直接教學法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Direct Instruction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21624" y="1627632"/>
            <a:ext cx="3364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580C"/>
                </a:solidFill>
                <a:latin typeface="Microsoft JhengHei"/>
              </a:rPr>
              <a:t>理論核心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21624" y="1965960"/>
            <a:ext cx="3364992" cy="320040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21624" y="1965960"/>
            <a:ext cx="3364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A580C"/>
                </a:solidFill>
                <a:latin typeface="Microsoft JhengHei"/>
              </a:rPr>
              <a:t>明確示範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21624" y="2350008"/>
            <a:ext cx="3364992" cy="320040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21624" y="2350008"/>
            <a:ext cx="3364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A580C"/>
                </a:solidFill>
                <a:latin typeface="Microsoft JhengHei"/>
              </a:rPr>
              <a:t>引導練習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21624" y="2734056"/>
            <a:ext cx="3364992" cy="320040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21624" y="2734056"/>
            <a:ext cx="3364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A580C"/>
                </a:solidFill>
                <a:latin typeface="Microsoft JhengHei"/>
              </a:rPr>
              <a:t>獨立操作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421624" y="3154680"/>
            <a:ext cx="3364992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421624" y="3246120"/>
            <a:ext cx="3364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580C"/>
                </a:solidFill>
                <a:latin typeface="Microsoft JhengHei"/>
              </a:rPr>
              <a:t>軟體落實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21624" y="3584448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▸ 即時正確/錯誤回饋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21624" y="3950208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▸ 錯誤三次自動提示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21624" y="4315968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▸ 語音讚美正向增強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21624" y="4681728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▸ 漸進撤除支持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21624" y="5047488"/>
            <a:ext cx="3364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▸ IEP 目標導向評量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Microsoft JhengHei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JhengHei"/>
              </a:rPr>
              <a:t>02  設計理念 ── 個別差異因應矩陣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1548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AD8FF"/>
                </a:solidFill>
                <a:latin typeface="Microsoft JhengHei"/>
              </a:rPr>
              <a:t>三種難度 × 輔助點擊 × 多元評量模式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11521440" cy="5440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2907792" cy="658368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78992"/>
            <a:ext cx="2907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227832" y="1051560"/>
            <a:ext cx="2907792" cy="658368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27832" y="1078992"/>
            <a:ext cx="2907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簡單模式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Easy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35624" y="1051560"/>
            <a:ext cx="2907792" cy="658368"/>
          </a:xfrm>
          <a:prstGeom prst="roundRect">
            <a:avLst>
              <a:gd name="adj" fmla="val 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35624" y="1078992"/>
            <a:ext cx="2907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普通模式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Normal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43416" y="1051560"/>
            <a:ext cx="2907792" cy="658368"/>
          </a:xfrm>
          <a:prstGeom prst="roundRect">
            <a:avLst>
              <a:gd name="adj" fmla="val 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3416" y="1078992"/>
            <a:ext cx="2907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困難模式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Hard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755648"/>
            <a:ext cx="2907792" cy="777240"/>
          </a:xfrm>
          <a:prstGeom prst="roundRect">
            <a:avLst>
              <a:gd name="adj" fmla="val 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1755648"/>
            <a:ext cx="2907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Microsoft JhengHei"/>
              </a:rPr>
              <a:t>視覺提示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7832" y="1810512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E293B"/>
                </a:solidFill>
                <a:latin typeface="Microsoft JhengHei"/>
              </a:rPr>
              <a:t>✓ 高亮目標</a:t>
            </a:r>
          </a:p>
          <a:p>
            <a:pPr algn="ctr"/>
            <a:r>
              <a:rPr sz="1150" b="0">
                <a:solidFill>
                  <a:srgbClr val="1E293B"/>
                </a:solidFill>
                <a:latin typeface="Microsoft JhengHei"/>
              </a:rPr>
              <a:t>✓ 步驟動畫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5624" y="1810512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E293B"/>
                </a:solidFill>
                <a:latin typeface="Microsoft JhengHei"/>
              </a:rPr>
              <a:t>✓ 步驟提示</a:t>
            </a:r>
          </a:p>
          <a:p>
            <a:pPr algn="ctr"/>
            <a:r>
              <a:rPr sz="1150" b="0">
                <a:solidFill>
                  <a:srgbClr val="1E293B"/>
                </a:solidFill>
                <a:latin typeface="Microsoft JhengHei"/>
              </a:rPr>
              <a:t>無動畫輔助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1810512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E293B"/>
                </a:solidFill>
                <a:latin typeface="Microsoft JhengHei"/>
              </a:rPr>
              <a:t>✗ 無提示</a:t>
            </a:r>
          </a:p>
          <a:p>
            <a:pPr algn="ctr"/>
            <a:r>
              <a:rPr sz="1150" b="0">
                <a:solidFill>
                  <a:srgbClr val="1E293B"/>
                </a:solidFill>
                <a:latin typeface="Microsoft JhengHei"/>
              </a:rPr>
              <a:t>記憶策略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596896"/>
            <a:ext cx="2907792" cy="777240"/>
          </a:xfrm>
          <a:prstGeom prst="roundRect">
            <a:avLst>
              <a:gd name="adj" fmla="val 0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596896"/>
            <a:ext cx="2907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Microsoft JhengHei"/>
              </a:rPr>
              <a:t>語音引導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7832" y="2651760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E293B"/>
                </a:solidFill>
                <a:latin typeface="Microsoft JhengHei"/>
              </a:rPr>
              <a:t>✓ 完整語音</a:t>
            </a:r>
          </a:p>
          <a:p>
            <a:pPr algn="ctr"/>
            <a:r>
              <a:rPr sz="1150" b="0">
                <a:solidFill>
                  <a:srgbClr val="1E293B"/>
                </a:solidFill>
                <a:latin typeface="Microsoft JhengHei"/>
              </a:rPr>
              <a:t>每步引導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35624" y="2651760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E293B"/>
                </a:solidFill>
                <a:latin typeface="Microsoft JhengHei"/>
              </a:rPr>
              <a:t>✓ 提示語音</a:t>
            </a:r>
          </a:p>
          <a:p>
            <a:pPr algn="ctr"/>
            <a:r>
              <a:rPr sz="1150" b="0">
                <a:solidFill>
                  <a:srgbClr val="1E293B"/>
                </a:solidFill>
                <a:latin typeface="Microsoft JhengHei"/>
              </a:rPr>
              <a:t>答錯才播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3416" y="2651760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E293B"/>
                </a:solidFill>
                <a:latin typeface="Microsoft JhengHei"/>
              </a:rPr>
              <a:t>✗ 僅回饋</a:t>
            </a:r>
          </a:p>
          <a:p>
            <a:pPr algn="ctr"/>
            <a:r>
              <a:rPr sz="1150" b="0">
                <a:solidFill>
                  <a:srgbClr val="1E293B"/>
                </a:solidFill>
                <a:latin typeface="Microsoft JhengHei"/>
              </a:rPr>
              <a:t>無引導語音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438144"/>
            <a:ext cx="2907792" cy="777240"/>
          </a:xfrm>
          <a:prstGeom prst="roundRect">
            <a:avLst>
              <a:gd name="adj" fmla="val 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438144"/>
            <a:ext cx="2907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Microsoft JhengHei"/>
              </a:rPr>
              <a:t>錯誤容忍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27832" y="3493008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E293B"/>
                </a:solidFill>
                <a:latin typeface="Microsoft JhengHei"/>
              </a:rPr>
              <a:t>無限次數</a:t>
            </a:r>
          </a:p>
          <a:p>
            <a:pPr algn="ctr"/>
            <a:r>
              <a:rPr sz="1150" b="0">
                <a:solidFill>
                  <a:srgbClr val="1E293B"/>
                </a:solidFill>
                <a:latin typeface="Microsoft JhengHei"/>
              </a:rPr>
              <a:t>自動提示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35624" y="3493008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E293B"/>
                </a:solidFill>
                <a:latin typeface="Microsoft JhengHei"/>
              </a:rPr>
              <a:t>三次後</a:t>
            </a:r>
          </a:p>
          <a:p>
            <a:pPr algn="ctr"/>
            <a:r>
              <a:rPr sz="1150" b="0">
                <a:solidFill>
                  <a:srgbClr val="1E293B"/>
                </a:solidFill>
                <a:latin typeface="Microsoft JhengHei"/>
              </a:rPr>
              <a:t>顯示提示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43416" y="3493008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E293B"/>
                </a:solidFill>
                <a:latin typeface="Microsoft JhengHei"/>
              </a:rPr>
              <a:t>三次後</a:t>
            </a:r>
          </a:p>
          <a:p>
            <a:pPr algn="ctr"/>
            <a:r>
              <a:rPr sz="1150" b="0">
                <a:solidFill>
                  <a:srgbClr val="1E293B"/>
                </a:solidFill>
                <a:latin typeface="Microsoft JhengHei"/>
              </a:rPr>
              <a:t>僅語音提示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279392"/>
            <a:ext cx="2907792" cy="777240"/>
          </a:xfrm>
          <a:prstGeom prst="roundRect">
            <a:avLst>
              <a:gd name="adj" fmla="val 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279392"/>
            <a:ext cx="2907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Microsoft JhengHei"/>
              </a:rPr>
              <a:t>輔助點擊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27832" y="4334256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E293B"/>
                </a:solidFill>
                <a:latin typeface="Microsoft JhengHei"/>
              </a:rPr>
              <a:t>✓ 全步驟</a:t>
            </a:r>
          </a:p>
          <a:p>
            <a:pPr algn="ctr"/>
            <a:r>
              <a:rPr sz="1150" b="0">
                <a:solidFill>
                  <a:srgbClr val="1E293B"/>
                </a:solidFill>
                <a:latin typeface="Microsoft JhengHei"/>
              </a:rPr>
              <a:t>自動執行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35624" y="4334256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E293B"/>
                </a:solidFill>
                <a:latin typeface="Microsoft JhengHei"/>
              </a:rPr>
              <a:t>✓ 一般模式</a:t>
            </a:r>
          </a:p>
          <a:p>
            <a:pPr algn="ctr"/>
            <a:r>
              <a:rPr sz="1150" b="0">
                <a:solidFill>
                  <a:srgbClr val="1E293B"/>
                </a:solidFill>
                <a:latin typeface="Microsoft JhengHei"/>
              </a:rPr>
              <a:t>皆可啟用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43416" y="4334256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E293B"/>
                </a:solidFill>
                <a:latin typeface="Microsoft JhengHei"/>
              </a:rPr>
              <a:t>✓ 困難模式</a:t>
            </a:r>
          </a:p>
          <a:p>
            <a:pPr algn="ctr"/>
            <a:r>
              <a:rPr sz="1150" b="0">
                <a:solidFill>
                  <a:srgbClr val="1E293B"/>
                </a:solidFill>
                <a:latin typeface="Microsoft JhengHei"/>
              </a:rPr>
              <a:t>亦可啟用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120640"/>
            <a:ext cx="2907792" cy="777240"/>
          </a:xfrm>
          <a:prstGeom prst="roundRect">
            <a:avLst>
              <a:gd name="adj" fmla="val 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5120640"/>
            <a:ext cx="2907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  <a:latin typeface="Microsoft JhengHei"/>
              </a:rPr>
              <a:t>評量目的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27832" y="5175504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E293B"/>
                </a:solidFill>
                <a:latin typeface="Microsoft JhengHei"/>
              </a:rPr>
              <a:t>初學習得</a:t>
            </a:r>
          </a:p>
          <a:p>
            <a:pPr algn="ctr"/>
            <a:r>
              <a:rPr sz="1150" b="0">
                <a:solidFill>
                  <a:srgbClr val="1E293B"/>
                </a:solidFill>
                <a:latin typeface="Microsoft JhengHei"/>
              </a:rPr>
              <a:t>IEP 基準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35624" y="5175504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E293B"/>
                </a:solidFill>
                <a:latin typeface="Microsoft JhengHei"/>
              </a:rPr>
              <a:t>流暢性建立</a:t>
            </a:r>
          </a:p>
          <a:p>
            <a:pPr algn="ctr"/>
            <a:r>
              <a:rPr sz="1150" b="0">
                <a:solidFill>
                  <a:srgbClr val="1E293B"/>
                </a:solidFill>
                <a:latin typeface="Microsoft JhengHei"/>
              </a:rPr>
              <a:t>IEP 中期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43416" y="5175504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E293B"/>
                </a:solidFill>
                <a:latin typeface="Microsoft JhengHei"/>
              </a:rPr>
              <a:t>獨立熟練</a:t>
            </a:r>
          </a:p>
          <a:p>
            <a:pPr algn="ctr"/>
            <a:r>
              <a:rPr sz="1150" b="0">
                <a:solidFill>
                  <a:srgbClr val="1E293B"/>
                </a:solidFill>
                <a:latin typeface="Microsoft JhengHei"/>
              </a:rPr>
              <a:t>IEP 精熟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Microsoft JhengHei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JhengHei"/>
              </a:rPr>
              <a:t>三段式學習歷程 ── 概覽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1548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AD8FF"/>
                </a:solidFill>
                <a:latin typeface="Microsoft JhengHei"/>
              </a:rPr>
              <a:t>數位模擬 → 紙本評量 → 社區類化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24128"/>
            <a:ext cx="7818120" cy="5440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7452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Microsoft JhengHei"/>
              </a:rPr>
              <a:t>整合設計理念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72768"/>
            <a:ext cx="7452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icrosoft JhengHei"/>
              </a:rPr>
              <a:t>▸ 數位練習提供安全試誤空間，消除真實情境焦慮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7452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icrosoft JhengHei"/>
              </a:rPr>
              <a:t>▸ 紙本作業單評估學習是否從數位遷移至靜態情境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50591"/>
            <a:ext cx="7452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icrosoft JhengHei"/>
              </a:rPr>
              <a:t>▸ 社區類化為 IEP 轉銜目標提供直接評量依據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89504"/>
            <a:ext cx="7452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Microsoft JhengHei"/>
              </a:rPr>
              <a:t>▸ 三段設計讓教師清楚掌握學生在各層次的表現</a:t>
            </a:r>
          </a:p>
        </p:txBody>
      </p:sp>
      <p:sp>
        <p:nvSpPr>
          <p:cNvPr id="13" name="Oval 12"/>
          <p:cNvSpPr/>
          <p:nvPr/>
        </p:nvSpPr>
        <p:spPr>
          <a:xfrm>
            <a:off x="8641080" y="1801368"/>
            <a:ext cx="658368" cy="658368"/>
          </a:xfrm>
          <a:prstGeom prst="ellipse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180136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第一段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1801368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63EB"/>
                </a:solidFill>
                <a:latin typeface="Microsoft JhengHei"/>
              </a:rPr>
              <a:t>數位模擬練習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221992"/>
            <a:ext cx="1600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課堂主軸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即時回饋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0536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  <a:latin typeface="Microsoft JhengHei"/>
              </a:rPr>
              <a:t>↓</a:t>
            </a:r>
          </a:p>
        </p:txBody>
      </p:sp>
      <p:sp>
        <p:nvSpPr>
          <p:cNvPr id="18" name="Oval 17"/>
          <p:cNvSpPr/>
          <p:nvPr/>
        </p:nvSpPr>
        <p:spPr>
          <a:xfrm>
            <a:off x="8641080" y="3374136"/>
            <a:ext cx="658368" cy="65836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3374136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第二段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374136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Microsoft JhengHei"/>
              </a:rPr>
              <a:t>紙本形成性評量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794760"/>
            <a:ext cx="1600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課後作業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評估遷移效果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0536" y="41788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4748B"/>
                </a:solidFill>
                <a:latin typeface="Microsoft JhengHei"/>
              </a:rPr>
              <a:t>↓</a:t>
            </a:r>
          </a:p>
        </p:txBody>
      </p:sp>
      <p:sp>
        <p:nvSpPr>
          <p:cNvPr id="23" name="Oval 22"/>
          <p:cNvSpPr/>
          <p:nvPr/>
        </p:nvSpPr>
        <p:spPr>
          <a:xfrm>
            <a:off x="8641080" y="4946904"/>
            <a:ext cx="658368" cy="65836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4946904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第三段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4946904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580C"/>
                </a:solidFill>
                <a:latin typeface="Microsoft JhengHei"/>
              </a:rPr>
              <a:t>實地類化應用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5367528"/>
            <a:ext cx="1600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社區轉銜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IEP 成效記錄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Microsoft JhengHei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JhengHei"/>
              </a:rPr>
              <a:t>課程架構 ── 三層次螺旋序階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1548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AD8FF"/>
                </a:solidFill>
                <a:latin typeface="Microsoft JhengHei"/>
              </a:rPr>
              <a:t>F 數學基礎先備 → C 貨幣認知建立 → A 真實情境類化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2080260" y="1051560"/>
            <a:ext cx="4389120" cy="1078992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80260" y="114300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</a:rPr>
              <a:t>A 系列  ·  真實情境類化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0260" y="1645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FE0"/>
                </a:solidFill>
                <a:latin typeface="Microsoft JhengHei"/>
              </a:rPr>
              <a:t>6 個單元  ·  國中至高中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1362456"/>
            <a:ext cx="475488" cy="475488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6245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65860" y="2240280"/>
            <a:ext cx="6217920" cy="1078992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 w="19050">
            <a:solidFill>
              <a:srgbClr val="047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5860" y="233172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</a:rPr>
              <a:t>C 系列  ·  貨幣認知建立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5860" y="283464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FE0"/>
                </a:solidFill>
                <a:latin typeface="Microsoft JhengHei"/>
              </a:rPr>
              <a:t>6 個單元  ·  台灣 9 種面額</a:t>
            </a:r>
          </a:p>
        </p:txBody>
      </p:sp>
      <p:sp>
        <p:nvSpPr>
          <p:cNvPr id="15" name="Oval 14"/>
          <p:cNvSpPr/>
          <p:nvPr/>
        </p:nvSpPr>
        <p:spPr>
          <a:xfrm>
            <a:off x="365760" y="2551176"/>
            <a:ext cx="475488" cy="475488"/>
          </a:xfrm>
          <a:prstGeom prst="ellipse">
            <a:avLst/>
          </a:prstGeom>
          <a:solidFill>
            <a:srgbClr val="04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55117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429000"/>
            <a:ext cx="7909560" cy="1078992"/>
          </a:xfrm>
          <a:prstGeom prst="roundRect">
            <a:avLst>
              <a:gd name="adj" fmla="val 8000"/>
            </a:avLst>
          </a:prstGeom>
          <a:solidFill>
            <a:srgbClr val="2263EB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520440"/>
            <a:ext cx="7909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</a:rPr>
              <a:t>F 系列  ·  數學基礎先備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023360"/>
            <a:ext cx="7909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FFE0"/>
                </a:solidFill>
                <a:latin typeface="Microsoft JhengHei"/>
              </a:rPr>
              <a:t>6 個單元  ·  國小至國中</a:t>
            </a:r>
          </a:p>
        </p:txBody>
      </p:sp>
      <p:sp>
        <p:nvSpPr>
          <p:cNvPr id="20" name="Oval 19"/>
          <p:cNvSpPr/>
          <p:nvPr/>
        </p:nvSpPr>
        <p:spPr>
          <a:xfrm>
            <a:off x="365760" y="3739896"/>
            <a:ext cx="475488" cy="475488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73989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176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Microsoft JhengHei"/>
              </a:rPr>
              <a:t>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364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Microsoft JhengHei"/>
              </a:rP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02752" y="1024128"/>
            <a:ext cx="3657600" cy="5321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85632" y="111556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Microsoft JhengHei"/>
              </a:rPr>
              <a:t>課程設計核心原則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85632" y="1572768"/>
            <a:ext cx="3291840" cy="0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485632" y="1691640"/>
            <a:ext cx="54864" cy="713232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50224" y="170992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63EB"/>
                </a:solidFill>
                <a:latin typeface="Microsoft JhengHei"/>
              </a:rPr>
              <a:t>螺旋序階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50224" y="2075688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具體→抽象，簡單→複雜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每系列建立下一系列先備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85632" y="2715768"/>
            <a:ext cx="54864" cy="7132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50224" y="273405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Microsoft JhengHei"/>
              </a:rPr>
              <a:t>個別差異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50224" y="3099816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三種難度 × 輔助點擊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確保不同能力學生成功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85632" y="3739896"/>
            <a:ext cx="54864" cy="7132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50224" y="375818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  <a:latin typeface="Microsoft JhengHei"/>
              </a:rPr>
              <a:t>情境類化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50224" y="4123944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最終目標：真實社區場景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獨立完成消費交易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85632" y="4764024"/>
            <a:ext cx="54864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50224" y="478231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Microsoft JhengHei"/>
              </a:rPr>
              <a:t>IEP 整合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50224" y="5148072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各單元提供評量基準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直接對應轉銜年度目標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645152"/>
            <a:ext cx="7818120" cy="184708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700016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Microsoft JhengHei"/>
              </a:rPr>
              <a:t>建議學習路徑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" y="5074920"/>
            <a:ext cx="457200" cy="301752"/>
          </a:xfrm>
          <a:prstGeom prst="roundRect">
            <a:avLst>
              <a:gd name="adj" fmla="val 20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048" y="5074920"/>
            <a:ext cx="45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688" y="5074920"/>
            <a:ext cx="987552" cy="301752"/>
          </a:xfrm>
          <a:prstGeom prst="roundRect">
            <a:avLst>
              <a:gd name="adj" fmla="val 20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" y="5074920"/>
            <a:ext cx="987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F1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66543" y="5074920"/>
            <a:ext cx="987552" cy="301752"/>
          </a:xfrm>
          <a:prstGeom prst="roundRect">
            <a:avLst>
              <a:gd name="adj" fmla="val 20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66543" y="5074920"/>
            <a:ext cx="987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F2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0" y="5074920"/>
            <a:ext cx="987552" cy="301752"/>
          </a:xfrm>
          <a:prstGeom prst="roundRect">
            <a:avLst>
              <a:gd name="adj" fmla="val 20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0" y="5074920"/>
            <a:ext cx="987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F3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34256" y="5074920"/>
            <a:ext cx="987552" cy="301752"/>
          </a:xfrm>
          <a:prstGeom prst="roundRect">
            <a:avLst>
              <a:gd name="adj" fmla="val 20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34256" y="5074920"/>
            <a:ext cx="987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F4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68112" y="5074920"/>
            <a:ext cx="987552" cy="301752"/>
          </a:xfrm>
          <a:prstGeom prst="roundRect">
            <a:avLst>
              <a:gd name="adj" fmla="val 20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68112" y="5074920"/>
            <a:ext cx="987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F5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01968" y="5074920"/>
            <a:ext cx="987552" cy="301752"/>
          </a:xfrm>
          <a:prstGeom prst="roundRect">
            <a:avLst>
              <a:gd name="adj" fmla="val 20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01968" y="5074920"/>
            <a:ext cx="987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F6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5385816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4048" y="5486400"/>
            <a:ext cx="457200" cy="301752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4048" y="5486400"/>
            <a:ext cx="45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688" y="5486400"/>
            <a:ext cx="987552" cy="301752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2688" y="5486400"/>
            <a:ext cx="987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C1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66543" y="5486400"/>
            <a:ext cx="987552" cy="301752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66543" y="5486400"/>
            <a:ext cx="987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C2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0" y="5486400"/>
            <a:ext cx="987552" cy="301752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00400" y="5486400"/>
            <a:ext cx="987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C3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34256" y="5486400"/>
            <a:ext cx="987552" cy="301752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34256" y="5486400"/>
            <a:ext cx="987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C4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68112" y="5486400"/>
            <a:ext cx="987552" cy="301752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68112" y="5486400"/>
            <a:ext cx="987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C5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01968" y="5486400"/>
            <a:ext cx="987552" cy="301752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01968" y="5486400"/>
            <a:ext cx="987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C6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5797296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4048" y="5897880"/>
            <a:ext cx="457200" cy="301752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84048" y="5897880"/>
            <a:ext cx="45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32688" y="5897880"/>
            <a:ext cx="987552" cy="301752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32688" y="5897880"/>
            <a:ext cx="987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A1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66543" y="5897880"/>
            <a:ext cx="987552" cy="301752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66543" y="5897880"/>
            <a:ext cx="987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A2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0" y="5897880"/>
            <a:ext cx="987552" cy="301752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200400" y="5897880"/>
            <a:ext cx="987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A3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34256" y="5897880"/>
            <a:ext cx="987552" cy="301752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334256" y="5897880"/>
            <a:ext cx="987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A4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68112" y="5897880"/>
            <a:ext cx="987552" cy="301752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68112" y="5897880"/>
            <a:ext cx="987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A5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601968" y="5897880"/>
            <a:ext cx="987552" cy="301752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601968" y="5897880"/>
            <a:ext cx="98755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icrosoft JhengHei"/>
              </a:rPr>
              <a:t>A6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Microsoft JhengHei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JhengHei"/>
              </a:rPr>
              <a:t>03  F 系列 ── 數學基礎先備（6 個單元）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1548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AD8FF"/>
                </a:solidFill>
                <a:latin typeface="Microsoft JhengHei"/>
              </a:rPr>
              <a:t>適用：國小中高年級至國中  ·  先備能力：能執行觸控動作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3767328" cy="24505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3767328" cy="512064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11556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JhengHei"/>
              </a:rPr>
              <a:t>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1143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JhengHei"/>
              </a:rPr>
              <a:t>一對一對應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" y="1645920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64592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63EB"/>
                </a:solidFill>
                <a:latin typeface="Microsoft JhengHei"/>
              </a:rPr>
              <a:t>拖曳配對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039112"/>
            <a:ext cx="3419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拖曳物件配對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建立數量等量直觀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" y="3044952"/>
            <a:ext cx="3419856" cy="3474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81528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JhengHei"/>
              </a:rPr>
              <a:t>先備：能執行觸控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1051560"/>
            <a:ext cx="3767328" cy="24505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0248" y="1051560"/>
            <a:ext cx="3767328" cy="512064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9976" y="111556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JhengHei"/>
              </a:rPr>
              <a:t>F2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143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JhengHei"/>
              </a:rPr>
              <a:t>唱  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9976" y="1645920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9976" y="164592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63EB"/>
                </a:solidFill>
                <a:latin typeface="Microsoft JhengHei"/>
              </a:rPr>
              <a:t>語音計數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039112"/>
            <a:ext cx="3419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依序點擊物件計數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語音同步播報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3044952"/>
            <a:ext cx="3419856" cy="3474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3081528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JhengHei"/>
              </a:rPr>
              <a:t>先備：能識別圖片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0456" y="1051560"/>
            <a:ext cx="3767328" cy="24505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0456" y="1051560"/>
            <a:ext cx="3767328" cy="512064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4" y="111556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JhengHei"/>
              </a:rPr>
              <a:t>F3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5128" y="1143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JhengHei"/>
              </a:rPr>
              <a:t>數字認讀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30184" y="1645920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0184" y="164592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63EB"/>
                </a:solidFill>
                <a:latin typeface="Microsoft JhengHei"/>
              </a:rPr>
              <a:t>選擇配對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2039112"/>
            <a:ext cx="3419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看圖選數字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支援自訂主題上傳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85048" y="3044952"/>
            <a:ext cx="3419856" cy="3474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94776" y="3081528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JhengHei"/>
              </a:rPr>
              <a:t>先備：能辨識 1–10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657600"/>
            <a:ext cx="3767328" cy="24505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3657600"/>
            <a:ext cx="3767328" cy="512064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" y="372160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JhengHei"/>
              </a:rPr>
              <a:t>F4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" y="3749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JhengHei"/>
              </a:rPr>
              <a:t>數字排序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" y="4251960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" y="425196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63EB"/>
                </a:solidFill>
                <a:latin typeface="Microsoft JhengHei"/>
              </a:rPr>
              <a:t>拖曳排序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" y="4645152"/>
            <a:ext cx="3419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拖曳數字由小到大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或由大到小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4632" y="5650992"/>
            <a:ext cx="3419856" cy="3474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5687568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JhengHei"/>
              </a:rPr>
              <a:t>先備：能完成 F3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70248" y="3657600"/>
            <a:ext cx="3767328" cy="24505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70248" y="3657600"/>
            <a:ext cx="3767328" cy="512064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79976" y="372160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JhengHei"/>
              </a:rPr>
              <a:t>F5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4920" y="3749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JhengHei"/>
              </a:rPr>
              <a:t>量  比  較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79976" y="4251960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79976" y="425196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63EB"/>
                </a:solidFill>
                <a:latin typeface="Microsoft JhengHei"/>
              </a:rPr>
              <a:t>比較判斷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4645152"/>
            <a:ext cx="3419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比較兩組物品多寡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建立大小概念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34840" y="5650992"/>
            <a:ext cx="3419856" cy="3474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44568" y="5687568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JhengHei"/>
              </a:rPr>
              <a:t>先備：能完成 F2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0456" y="3657600"/>
            <a:ext cx="3767328" cy="24505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20456" y="3657600"/>
            <a:ext cx="3767328" cy="512064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30184" y="372160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JhengHei"/>
              </a:rPr>
              <a:t>F6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25128" y="3749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JhengHei"/>
              </a:rPr>
              <a:t>數的組成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30184" y="4251960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30184" y="425196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63EB"/>
                </a:solidFill>
                <a:latin typeface="Microsoft JhengHei"/>
              </a:rPr>
              <a:t>合成分解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85048" y="4645152"/>
            <a:ext cx="3419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合成與分解概念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理解數的結構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85048" y="5650992"/>
            <a:ext cx="3419856" cy="3474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94776" y="5687568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JhengHei"/>
              </a:rPr>
              <a:t>先備：能完成 F4/F5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Microsoft JhengHei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JhengHei"/>
              </a:rPr>
              <a:t>04  C 系列 ── 貨幣認知建立（6 個單元）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1548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AD8FF"/>
                </a:solidFill>
                <a:latin typeface="Microsoft JhengHei"/>
              </a:rPr>
              <a:t>適用：國中至高中  ·  台灣 9 種面額  ·  拖曳操作  ·  三種難度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3767328" cy="24505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3767328" cy="512064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11556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JhengHei"/>
              </a:rPr>
              <a:t>C1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1143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JhengHei"/>
              </a:rPr>
              <a:t>認識錢幣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" y="1645920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64592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Microsoft JhengHei"/>
              </a:rPr>
              <a:t>三種模式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039112"/>
            <a:ext cx="3419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辨識台灣 9 種面額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看圖選字 / 看字選幣 / 聽音選幣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" y="3044952"/>
            <a:ext cx="3419856" cy="3474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81528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JhengHei"/>
              </a:rPr>
              <a:t>先備：能完成 F3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1051560"/>
            <a:ext cx="3767328" cy="24505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0248" y="1051560"/>
            <a:ext cx="3767328" cy="512064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9976" y="111556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JhengHei"/>
              </a:rPr>
              <a:t>C2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143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JhengHei"/>
              </a:rPr>
              <a:t>數  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9976" y="1645920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9976" y="164592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Microsoft JhengHei"/>
              </a:rPr>
              <a:t>累加計數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039112"/>
            <a:ext cx="3419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點擊錢幣依序累加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語音播報累計金額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3044952"/>
            <a:ext cx="3419856" cy="3474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3081528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JhengHei"/>
              </a:rPr>
              <a:t>先備：能完成 C1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0456" y="1051560"/>
            <a:ext cx="3767328" cy="24505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0456" y="1051560"/>
            <a:ext cx="3767328" cy="512064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4" y="111556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JhengHei"/>
              </a:rPr>
              <a:t>C3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5128" y="11430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JhengHei"/>
              </a:rPr>
              <a:t>換  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30184" y="1645920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0184" y="164592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Microsoft JhengHei"/>
              </a:rPr>
              <a:t>面額兌換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2039112"/>
            <a:ext cx="3419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以不同面額組合等值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大換小 / 小換大 / 全隨機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85048" y="3044952"/>
            <a:ext cx="3419856" cy="3474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94776" y="3081528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JhengHei"/>
              </a:rPr>
              <a:t>先備：能完成 C2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657600"/>
            <a:ext cx="3767328" cy="24505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3657600"/>
            <a:ext cx="3767328" cy="512064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" y="372160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JhengHei"/>
              </a:rPr>
              <a:t>C4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" y="3749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JhengHei"/>
              </a:rPr>
              <a:t>付  款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" y="4251960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" y="425196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Microsoft JhengHei"/>
              </a:rPr>
              <a:t>付款操作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" y="4645152"/>
            <a:ext cx="3419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拖曳正確金額完成付款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自動判定超額/不足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4632" y="5650992"/>
            <a:ext cx="3419856" cy="3474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5687568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JhengHei"/>
              </a:rPr>
              <a:t>先備：能完成 C3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70248" y="3657600"/>
            <a:ext cx="3767328" cy="24505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70248" y="3657600"/>
            <a:ext cx="3767328" cy="512064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79976" y="372160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JhengHei"/>
              </a:rPr>
              <a:t>C5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4920" y="3749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JhengHei"/>
              </a:rPr>
              <a:t>夠不夠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79976" y="4251960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79976" y="425196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Microsoft JhengHei"/>
              </a:rPr>
              <a:t>比較判斷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4645152"/>
            <a:ext cx="3419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拖曳錢幣至付款區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判斷金額能否購買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34840" y="5650992"/>
            <a:ext cx="3419856" cy="3474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44568" y="5687568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JhengHei"/>
              </a:rPr>
              <a:t>先備：能完成 C4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0456" y="3657600"/>
            <a:ext cx="3767328" cy="24505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20456" y="3657600"/>
            <a:ext cx="3767328" cy="512064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30184" y="372160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JhengHei"/>
              </a:rPr>
              <a:t>C6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25128" y="3749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JhengHei"/>
              </a:rPr>
              <a:t>找  零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30184" y="4251960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30184" y="425196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Microsoft JhengHei"/>
              </a:rPr>
              <a:t>找零驗收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85048" y="4645152"/>
            <a:ext cx="3419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拖曳找零錢幣至對應格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驗收完整交易閉環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85048" y="5650992"/>
            <a:ext cx="3419856" cy="3474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94776" y="5687568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JhengHei"/>
              </a:rPr>
              <a:t>先備：能完成 C5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Microsoft JhengHei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JhengHei"/>
              </a:rPr>
              <a:t>05  A 系列 ── 真實情境類化（6 個單元）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1548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AD8FF"/>
                </a:solidFill>
                <a:latin typeface="Microsoft JhengHei"/>
              </a:rPr>
              <a:t>工作分析法拆解 5～8 個操作步驟  ·  台灣在地化仿真介面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11521440" cy="804672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10160">
            <a:solidFill>
              <a:srgbClr val="FFD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822960" cy="804672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51560"/>
            <a:ext cx="822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A1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097280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  <a:latin typeface="Microsoft JhengHei"/>
              </a:rPr>
              <a:t>🥤 自動販賣機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7008" y="1527048"/>
            <a:ext cx="658368" cy="256032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8" y="1527048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2410C"/>
                </a:solidFill>
                <a:latin typeface="Microsoft JhengHei"/>
              </a:rPr>
              <a:t>5 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8528" y="152704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Microsoft JhengHei"/>
              </a:rPr>
              <a:t>幣值累計・找零驗收</a:t>
            </a:r>
          </a:p>
        </p:txBody>
      </p:sp>
      <p:sp>
        <p:nvSpPr>
          <p:cNvPr id="14" name="Oval 13"/>
          <p:cNvSpPr/>
          <p:nvPr/>
        </p:nvSpPr>
        <p:spPr>
          <a:xfrm>
            <a:off x="3703320" y="1234440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1234440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154533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選商品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32504" y="125272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4965192" y="1234440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65192" y="1234440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154533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投幣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94376" y="125272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6227064" y="1234440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27064" y="1234440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71032" y="154533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確認金額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125272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7488936" y="1234440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88936" y="1234440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2904" y="154533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取貨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125272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30" name="Oval 29"/>
          <p:cNvSpPr/>
          <p:nvPr/>
        </p:nvSpPr>
        <p:spPr>
          <a:xfrm>
            <a:off x="8750808" y="1234440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50808" y="1234440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94776" y="154533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核對找零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1947672"/>
            <a:ext cx="115214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FFD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1947672"/>
            <a:ext cx="822960" cy="804672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1947672"/>
            <a:ext cx="822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A2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07008" y="1993392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  <a:latin typeface="Microsoft JhengHei"/>
              </a:rPr>
              <a:t>✂️ 理髮廳自助機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07008" y="2423160"/>
            <a:ext cx="658368" cy="256032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07008" y="242316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2410C"/>
                </a:solidFill>
                <a:latin typeface="Microsoft JhengHei"/>
              </a:rPr>
              <a:t>6 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38528" y="242316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Microsoft JhengHei"/>
              </a:rPr>
              <a:t>服務辨識・等候社會規範</a:t>
            </a:r>
          </a:p>
        </p:txBody>
      </p:sp>
      <p:sp>
        <p:nvSpPr>
          <p:cNvPr id="40" name="Oval 39"/>
          <p:cNvSpPr/>
          <p:nvPr/>
        </p:nvSpPr>
        <p:spPr>
          <a:xfrm>
            <a:off x="3703320" y="2130552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03320" y="2130552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47288" y="244144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選類別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32504" y="214884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44" name="Oval 43"/>
          <p:cNvSpPr/>
          <p:nvPr/>
        </p:nvSpPr>
        <p:spPr>
          <a:xfrm>
            <a:off x="4965192" y="2130552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65192" y="2130552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9160" y="244144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選服務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94376" y="214884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48" name="Oval 47"/>
          <p:cNvSpPr/>
          <p:nvPr/>
        </p:nvSpPr>
        <p:spPr>
          <a:xfrm>
            <a:off x="6227064" y="2130552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27064" y="2130552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71032" y="244144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確認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56248" y="214884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52" name="Oval 51"/>
          <p:cNvSpPr/>
          <p:nvPr/>
        </p:nvSpPr>
        <p:spPr>
          <a:xfrm>
            <a:off x="7488936" y="2130552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88936" y="2130552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32904" y="244144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付款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18120" y="214884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56" name="Oval 55"/>
          <p:cNvSpPr/>
          <p:nvPr/>
        </p:nvSpPr>
        <p:spPr>
          <a:xfrm>
            <a:off x="8750808" y="2130552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50808" y="2130552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94776" y="244144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取號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79992" y="214884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60" name="Oval 59"/>
          <p:cNvSpPr/>
          <p:nvPr/>
        </p:nvSpPr>
        <p:spPr>
          <a:xfrm>
            <a:off x="10012680" y="2130552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12680" y="2130552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56648" y="244144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等候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2843784"/>
            <a:ext cx="11521440" cy="804672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10160">
            <a:solidFill>
              <a:srgbClr val="FFD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20040" y="2843784"/>
            <a:ext cx="822960" cy="804672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0040" y="2843784"/>
            <a:ext cx="822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A3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07008" y="2889504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  <a:latin typeface="Microsoft JhengHei"/>
              </a:rPr>
              <a:t>🍔 速食店點餐機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07008" y="3319272"/>
            <a:ext cx="658368" cy="256032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07008" y="331927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2410C"/>
                </a:solidFill>
                <a:latin typeface="Microsoft JhengHei"/>
              </a:rPr>
              <a:t>7 步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38528" y="331927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Microsoft JhengHei"/>
              </a:rPr>
              <a:t>分類導覽・多品項加總</a:t>
            </a:r>
          </a:p>
        </p:txBody>
      </p:sp>
      <p:sp>
        <p:nvSpPr>
          <p:cNvPr id="70" name="Oval 69"/>
          <p:cNvSpPr/>
          <p:nvPr/>
        </p:nvSpPr>
        <p:spPr>
          <a:xfrm>
            <a:off x="3703320" y="3026664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03320" y="3026664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47288" y="33375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瀏覽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32504" y="304495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74" name="Oval 73"/>
          <p:cNvSpPr/>
          <p:nvPr/>
        </p:nvSpPr>
        <p:spPr>
          <a:xfrm>
            <a:off x="4965192" y="3026664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965192" y="3026664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33375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加購物車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94376" y="304495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78" name="Oval 77"/>
          <p:cNvSpPr/>
          <p:nvPr/>
        </p:nvSpPr>
        <p:spPr>
          <a:xfrm>
            <a:off x="6227064" y="3026664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27064" y="3026664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71032" y="33375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確認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56248" y="304495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82" name="Oval 81"/>
          <p:cNvSpPr/>
          <p:nvPr/>
        </p:nvSpPr>
        <p:spPr>
          <a:xfrm>
            <a:off x="7488936" y="3026664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88936" y="3026664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32904" y="33375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選付款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18120" y="304495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86" name="Oval 85"/>
          <p:cNvSpPr/>
          <p:nvPr/>
        </p:nvSpPr>
        <p:spPr>
          <a:xfrm>
            <a:off x="8750808" y="3026664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750808" y="3026664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494776" y="33375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付款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79992" y="304495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90" name="Oval 89"/>
          <p:cNvSpPr/>
          <p:nvPr/>
        </p:nvSpPr>
        <p:spPr>
          <a:xfrm>
            <a:off x="10012680" y="3026664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012680" y="3026664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756648" y="33375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等取號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341864" y="304495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94" name="Oval 93"/>
          <p:cNvSpPr/>
          <p:nvPr/>
        </p:nvSpPr>
        <p:spPr>
          <a:xfrm>
            <a:off x="11274551" y="3026664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1274551" y="3026664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018519" y="33375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取餐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20040" y="3739896"/>
            <a:ext cx="115214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FFD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20040" y="3739896"/>
            <a:ext cx="822960" cy="804672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20040" y="3739896"/>
            <a:ext cx="822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A4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207008" y="3785616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  <a:latin typeface="Microsoft JhengHei"/>
              </a:rPr>
              <a:t>🛒 超市購物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207008" y="4215384"/>
            <a:ext cx="658368" cy="256032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207008" y="4215384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2410C"/>
                </a:solidFill>
                <a:latin typeface="Microsoft JhengHei"/>
              </a:rPr>
              <a:t>6 步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938528" y="4215384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Microsoft JhengHei"/>
              </a:rPr>
              <a:t>購物清單執行・找零驗收</a:t>
            </a:r>
          </a:p>
        </p:txBody>
      </p:sp>
      <p:sp>
        <p:nvSpPr>
          <p:cNvPr id="104" name="Oval 103"/>
          <p:cNvSpPr/>
          <p:nvPr/>
        </p:nvSpPr>
        <p:spPr>
          <a:xfrm>
            <a:off x="3703320" y="3922776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703320" y="3922776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447288" y="423367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選商品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032504" y="3941064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108" name="Oval 107"/>
          <p:cNvSpPr/>
          <p:nvPr/>
        </p:nvSpPr>
        <p:spPr>
          <a:xfrm>
            <a:off x="4965192" y="3922776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965192" y="3922776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709160" y="423367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確認價格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294376" y="3941064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112" name="Oval 111"/>
          <p:cNvSpPr/>
          <p:nvPr/>
        </p:nvSpPr>
        <p:spPr>
          <a:xfrm>
            <a:off x="6227064" y="3922776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227064" y="3922776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971032" y="423367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選付款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556248" y="3941064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116" name="Oval 115"/>
          <p:cNvSpPr/>
          <p:nvPr/>
        </p:nvSpPr>
        <p:spPr>
          <a:xfrm>
            <a:off x="7488936" y="3922776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488936" y="3922776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232904" y="423367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付款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818120" y="3941064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120" name="Oval 119"/>
          <p:cNvSpPr/>
          <p:nvPr/>
        </p:nvSpPr>
        <p:spPr>
          <a:xfrm>
            <a:off x="8750808" y="3922776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750808" y="3922776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494776" y="423367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找零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079992" y="3941064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124" name="Oval 123"/>
          <p:cNvSpPr/>
          <p:nvPr/>
        </p:nvSpPr>
        <p:spPr>
          <a:xfrm>
            <a:off x="10012680" y="3922776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012680" y="3922776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756648" y="423367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完成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20040" y="4636008"/>
            <a:ext cx="11521440" cy="804672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10160">
            <a:solidFill>
              <a:srgbClr val="FFD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20040" y="4636008"/>
            <a:ext cx="822960" cy="804672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20040" y="4636008"/>
            <a:ext cx="822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A5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207008" y="4681728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  <a:latin typeface="Microsoft JhengHei"/>
              </a:rPr>
              <a:t>🏧 ATM 操作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207008" y="5111496"/>
            <a:ext cx="658368" cy="256032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207008" y="5111496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2410C"/>
                </a:solidFill>
                <a:latin typeface="Microsoft JhengHei"/>
              </a:rPr>
              <a:t>7 步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938528" y="511149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Microsoft JhengHei"/>
              </a:rPr>
              <a:t>密碼保護意識・金融交易流程</a:t>
            </a:r>
          </a:p>
        </p:txBody>
      </p:sp>
      <p:sp>
        <p:nvSpPr>
          <p:cNvPr id="134" name="Oval 133"/>
          <p:cNvSpPr/>
          <p:nvPr/>
        </p:nvSpPr>
        <p:spPr>
          <a:xfrm>
            <a:off x="3703320" y="4818888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703320" y="481888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447288" y="512978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插卡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032504" y="4837176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138" name="Oval 137"/>
          <p:cNvSpPr/>
          <p:nvPr/>
        </p:nvSpPr>
        <p:spPr>
          <a:xfrm>
            <a:off x="4965192" y="4818888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965192" y="481888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709160" y="512978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密碼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294376" y="4837176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142" name="Oval 141"/>
          <p:cNvSpPr/>
          <p:nvPr/>
        </p:nvSpPr>
        <p:spPr>
          <a:xfrm>
            <a:off x="6227064" y="4818888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227064" y="481888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971032" y="512978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選功能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556248" y="4837176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146" name="Oval 145"/>
          <p:cNvSpPr/>
          <p:nvPr/>
        </p:nvSpPr>
        <p:spPr>
          <a:xfrm>
            <a:off x="7488936" y="4818888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488936" y="481888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232904" y="512978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輸金額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818120" y="4837176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150" name="Oval 149"/>
          <p:cNvSpPr/>
          <p:nvPr/>
        </p:nvSpPr>
        <p:spPr>
          <a:xfrm>
            <a:off x="8750808" y="4818888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750808" y="481888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494776" y="512978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取款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079992" y="4837176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154" name="Oval 153"/>
          <p:cNvSpPr/>
          <p:nvPr/>
        </p:nvSpPr>
        <p:spPr>
          <a:xfrm>
            <a:off x="10012680" y="4818888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0012680" y="481888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756648" y="512978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退卡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341864" y="4837176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158" name="Oval 157"/>
          <p:cNvSpPr/>
          <p:nvPr/>
        </p:nvSpPr>
        <p:spPr>
          <a:xfrm>
            <a:off x="11274551" y="4818888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1274551" y="4818888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7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1018519" y="512978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取收據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320040" y="5532120"/>
            <a:ext cx="115214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FFD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320040" y="5532120"/>
            <a:ext cx="822960" cy="804672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320040" y="5532120"/>
            <a:ext cx="822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A6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207008" y="5577840"/>
            <a:ext cx="187451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  <a:latin typeface="Microsoft JhengHei"/>
              </a:rPr>
              <a:t>🚂 火車票購票機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207008" y="6007608"/>
            <a:ext cx="658368" cy="256032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207008" y="6007608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2410C"/>
                </a:solidFill>
                <a:latin typeface="Microsoft JhengHei"/>
              </a:rPr>
              <a:t>8 步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938528" y="600760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Microsoft JhengHei"/>
              </a:rPr>
              <a:t>路線規劃・多步驟序列整合</a:t>
            </a:r>
          </a:p>
        </p:txBody>
      </p:sp>
      <p:sp>
        <p:nvSpPr>
          <p:cNvPr id="168" name="Oval 167"/>
          <p:cNvSpPr/>
          <p:nvPr/>
        </p:nvSpPr>
        <p:spPr>
          <a:xfrm>
            <a:off x="3703320" y="5715000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3703320" y="5715000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447288" y="602589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選出發站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032504" y="573328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172" name="Oval 171"/>
          <p:cNvSpPr/>
          <p:nvPr/>
        </p:nvSpPr>
        <p:spPr>
          <a:xfrm>
            <a:off x="4965192" y="5715000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965192" y="5715000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709160" y="602589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選目的地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294376" y="573328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176" name="Oval 175"/>
          <p:cNvSpPr/>
          <p:nvPr/>
        </p:nvSpPr>
        <p:spPr>
          <a:xfrm>
            <a:off x="6227064" y="5715000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6227064" y="5715000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971032" y="602589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選票種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556248" y="573328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180" name="Oval 179"/>
          <p:cNvSpPr/>
          <p:nvPr/>
        </p:nvSpPr>
        <p:spPr>
          <a:xfrm>
            <a:off x="7488936" y="5715000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7488936" y="5715000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232904" y="602589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確認票價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818120" y="573328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184" name="Oval 183"/>
          <p:cNvSpPr/>
          <p:nvPr/>
        </p:nvSpPr>
        <p:spPr>
          <a:xfrm>
            <a:off x="8750808" y="5715000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8750808" y="5715000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8494776" y="602589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付款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079992" y="573328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188" name="Oval 187"/>
          <p:cNvSpPr/>
          <p:nvPr/>
        </p:nvSpPr>
        <p:spPr>
          <a:xfrm>
            <a:off x="10012680" y="5715000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10012680" y="5715000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9756648" y="602589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取票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341864" y="573328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192" name="Oval 191"/>
          <p:cNvSpPr/>
          <p:nvPr/>
        </p:nvSpPr>
        <p:spPr>
          <a:xfrm>
            <a:off x="11274551" y="5715000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11274551" y="5715000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7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1018519" y="602589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找零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603735" y="573328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Microsoft JhengHei"/>
              </a:rPr>
              <a:t>→</a:t>
            </a:r>
          </a:p>
        </p:txBody>
      </p:sp>
      <p:sp>
        <p:nvSpPr>
          <p:cNvPr id="196" name="Oval 195"/>
          <p:cNvSpPr/>
          <p:nvPr/>
        </p:nvSpPr>
        <p:spPr>
          <a:xfrm>
            <a:off x="12536424" y="5715000"/>
            <a:ext cx="310896" cy="310896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12536424" y="5715000"/>
            <a:ext cx="3108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8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2280392" y="602589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E293B"/>
                </a:solidFill>
                <a:latin typeface="Microsoft JhengHei"/>
              </a:rPr>
              <a:t>完成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Microsoft JhengHei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JhengHei"/>
              </a:rPr>
              <a:t>06  輔助點擊模式（Click Mode） ── 特教數位教材首創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1548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AD8FF"/>
                </a:solidFill>
                <a:latin typeface="Microsoft JhengHei"/>
              </a:rPr>
              <a:t>精細動作障礙學生：任意位置點擊 → 自動執行下一個正確步驟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24128"/>
            <a:ext cx="5303520" cy="5468112"/>
          </a:xfrm>
          <a:prstGeom prst="roundRect">
            <a:avLst>
              <a:gd name="adj" fmla="val 16000"/>
            </a:avLst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78992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latin typeface="Microsoft JhengHei"/>
              </a:rPr>
              <a:t>🖱️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0195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Microsoft JhengHei"/>
              </a:rPr>
              <a:t>設計理念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0428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Microsoft JhengHei"/>
              </a:rPr>
              <a:t>傳統數位教材要求點擊特定目標元素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517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7C3AED"/>
                </a:solidFill>
                <a:latin typeface="Microsoft JhengHei"/>
              </a:rPr>
              <a:t>→ 精細動作障礙學生難以精確定位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089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Microsoft JhengHei"/>
              </a:rPr>
              <a:t>輔助點擊模式：「位置無關」點擊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5643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7C3AED"/>
                </a:solidFill>
                <a:latin typeface="Microsoft JhengHei"/>
              </a:rPr>
              <a:t>→ 只要在畫面任意位置點擊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0390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7C3AED"/>
                </a:solidFill>
                <a:latin typeface="Microsoft JhengHei"/>
              </a:rPr>
              <a:t>→ 系統自動識別當前應執行的步驟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5137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7C3AED"/>
                </a:solidFill>
                <a:latin typeface="Microsoft JhengHei"/>
              </a:rPr>
              <a:t>→ 並執行該步驟的正確操作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60857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Microsoft JhengHei"/>
              </a:rPr>
              <a:t>效果等同「教師手把手協助」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95604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Microsoft JhengHei"/>
              </a:rPr>
              <a:t>但完全由學生主動觸發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1051560"/>
            <a:ext cx="297180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8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080760" y="1307592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130759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112471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Microsoft JhengHei"/>
              </a:rPr>
              <a:t>全 18 單元支援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1527048"/>
            <a:ext cx="1920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所有教學單元皆可啟用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設定頁一鍵開關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97880" y="2404872"/>
            <a:ext cx="297180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86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80760" y="2660904"/>
            <a:ext cx="640080" cy="640080"/>
          </a:xfrm>
          <a:prstGeom prst="ellipse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2660904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247802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63EB"/>
                </a:solidFill>
                <a:latin typeface="Microsoft JhengHei"/>
              </a:rPr>
              <a:t>三種難度均支援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880360"/>
            <a:ext cx="1920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簡單/普通/困難模式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均可搭配輔助點擊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97880" y="3758183"/>
            <a:ext cx="297180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8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80760" y="4014215"/>
            <a:ext cx="640080" cy="64008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4014215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3831335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Microsoft JhengHei"/>
              </a:rPr>
              <a:t>步驟自動推進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4233671"/>
            <a:ext cx="1920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每次點擊執行下一步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不需精確定位目標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97880" y="5111496"/>
            <a:ext cx="297180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86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080760" y="5367528"/>
            <a:ext cx="640080" cy="64008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60" y="536752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JhengHe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518464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  <a:latin typeface="Microsoft JhengHei"/>
              </a:rPr>
              <a:t>IEP 評量保留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5586984"/>
            <a:ext cx="1920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輔助模式下仍記錄操作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用於形成性評量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98280" y="1024128"/>
            <a:ext cx="2834640" cy="5468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98280" y="1024128"/>
            <a:ext cx="2834640" cy="45720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1160" y="1060704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適用學生類型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81160" y="160020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0" y="16459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Microsoft JhengHei"/>
              </a:rPr>
              <a:t>腦性麻痺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201168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JhengHei"/>
              </a:rPr>
              <a:t>上肢動作控制困難</a:t>
            </a:r>
          </a:p>
          <a:p>
            <a:pPr algn="l"/>
            <a:r>
              <a:rPr sz="1100" b="0">
                <a:solidFill>
                  <a:srgbClr val="1E293B"/>
                </a:solidFill>
                <a:latin typeface="Microsoft JhengHei"/>
              </a:rPr>
              <a:t>難以精確點擊小目標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81160" y="2679191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18320" y="2724911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63EB"/>
                </a:solidFill>
                <a:latin typeface="Microsoft JhengHei"/>
              </a:rPr>
              <a:t>多重障礙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3090671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JhengHei"/>
              </a:rPr>
              <a:t>精細動作合併認知</a:t>
            </a:r>
          </a:p>
          <a:p>
            <a:pPr algn="l"/>
            <a:r>
              <a:rPr sz="1100" b="0">
                <a:solidFill>
                  <a:srgbClr val="1E293B"/>
                </a:solidFill>
                <a:latin typeface="Microsoft JhengHei"/>
              </a:rPr>
              <a:t>需要高度結構支持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81160" y="3758183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18320" y="3803903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Microsoft JhengHei"/>
              </a:rPr>
              <a:t>發展遲緩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20" y="4169663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JhengHei"/>
              </a:rPr>
              <a:t>觸控操作尚在建立</a:t>
            </a:r>
          </a:p>
          <a:p>
            <a:pPr algn="l"/>
            <a:r>
              <a:rPr sz="1100" b="0">
                <a:solidFill>
                  <a:srgbClr val="1E293B"/>
                </a:solidFill>
                <a:latin typeface="Microsoft JhengHei"/>
              </a:rPr>
              <a:t>需要成功經驗鼓勵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81160" y="4837176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18320" y="488289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  <a:latin typeface="Microsoft JhengHei"/>
              </a:rPr>
              <a:t>視覺動作整合困難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18320" y="524865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Microsoft JhengHei"/>
              </a:rPr>
              <a:t>難以手眼協調</a:t>
            </a:r>
          </a:p>
          <a:p>
            <a:pPr algn="l"/>
            <a:r>
              <a:rPr sz="1100" b="0">
                <a:solidFill>
                  <a:srgbClr val="1E293B"/>
                </a:solidFill>
                <a:latin typeface="Microsoft JhengHei"/>
              </a:rPr>
              <a:t>定位特定目標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Microsoft JhengHei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JhengHei"/>
              </a:rPr>
              <a:t>完整配套系統 ── 四大輔助模組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2788920" cy="54681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24128"/>
            <a:ext cx="2788920" cy="475488"/>
          </a:xfrm>
          <a:prstGeom prst="roundRect">
            <a:avLst>
              <a:gd name="adj" fmla="val 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51560"/>
            <a:ext cx="2788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icrosoft JhengHei"/>
              </a:rPr>
              <a:t>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572768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97706"/>
                </a:solidFill>
                <a:latin typeface="Microsoft JhengHei"/>
              </a:rPr>
              <a:t>配套作業單系統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1208" y="2084831"/>
            <a:ext cx="2386584" cy="0"/>
          </a:xfrm>
          <a:prstGeom prst="line">
            <a:avLst/>
          </a:prstGeom>
          <a:ln w="1016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84632" y="2176272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18 個單元 × 10 種題型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569464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一鍵列印 / PDF 下載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962656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Microsoft JhengHei"/>
              </a:rPr>
              <a:t>題型包含：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3355848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Microsoft JhengHei"/>
              </a:rPr>
              <a:t>  • 看圖填空（幣值辨識）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3749039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Microsoft JhengHei"/>
              </a:rPr>
              <a:t>  • 找零計算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4142231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Microsoft JhengHei"/>
              </a:rPr>
              <a:t>  • 付款組合選擇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4535424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Microsoft JhengHei"/>
              </a:rPr>
              <a:t>  • 序列排序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4928616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Microsoft JhengHei"/>
              </a:rPr>
              <a:t>  • 問答計算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5321808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完整對應 IEP 評量記錄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73552" y="1024128"/>
            <a:ext cx="2788920" cy="54681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73552" y="1024128"/>
            <a:ext cx="2788920" cy="475488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73552" y="1051560"/>
            <a:ext cx="2788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icrosoft JhengHei"/>
              </a:rPr>
              <a:t>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73552" y="1572768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C3AED"/>
                </a:solidFill>
                <a:latin typeface="Microsoft JhengHei"/>
              </a:rPr>
              <a:t>獎勵積分系統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474720" y="2084831"/>
            <a:ext cx="2386584" cy="0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438144" y="2176272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獨立模組（reward/）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38144" y="2569464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Microsoft JhengHei"/>
              </a:rPr>
              <a:t>功能：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38144" y="2962656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Microsoft JhengHei"/>
              </a:rPr>
              <a:t>  • 學生照片管理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38144" y="3355848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Microsoft JhengHei"/>
              </a:rPr>
              <a:t>  • 個人積分累計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38144" y="3749039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Microsoft JhengHei"/>
              </a:rPr>
              <a:t>  • 課堂即時頒獎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38144" y="4142231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Microsoft JhengHei"/>
              </a:rPr>
              <a:t>  • 積分記錄查詢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38144" y="4535424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整合 IEP 行為正增強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38144" y="4928616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教師課堂即時操作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27064" y="1024128"/>
            <a:ext cx="2788920" cy="54681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7064" y="1024128"/>
            <a:ext cx="2788920" cy="475488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7064" y="1051560"/>
            <a:ext cx="2788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icrosoft JhengHei"/>
              </a:rPr>
              <a:t>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27064" y="1572768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63EB"/>
                </a:solidFill>
                <a:latin typeface="Microsoft JhengHei"/>
              </a:rPr>
              <a:t>全程語音引導系統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28232" y="2084831"/>
            <a:ext cx="2386584" cy="0"/>
          </a:xfrm>
          <a:prstGeom prst="line">
            <a:avLst/>
          </a:prstGeom>
          <a:ln w="10160">
            <a:solidFill>
              <a:srgbClr val="22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391656" y="2176272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Web Speech API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1656" y="2569464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Microsoft 雅婷優先（Windows）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91656" y="2962656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台灣語境金額唸法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91656" y="3355848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（「兩百元」非「二百元」）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91656" y="3749039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即時讚美語音回饋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91656" y="4142231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錯誤提示語音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91656" y="4535424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步驟引導語音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91656" y="4928616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完全離線語音支援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80576" y="1024128"/>
            <a:ext cx="2788920" cy="546811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80576" y="1024128"/>
            <a:ext cx="2788920" cy="475488"/>
          </a:xfrm>
          <a:prstGeom prst="roundRect">
            <a:avLst>
              <a:gd name="adj" fmla="val 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80576" y="1051560"/>
            <a:ext cx="2788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icrosoft JhengHei"/>
              </a:rPr>
              <a:t>🌙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80576" y="1572768"/>
            <a:ext cx="2788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9488"/>
                </a:solidFill>
                <a:latin typeface="Microsoft JhengHei"/>
              </a:rPr>
              <a:t>深色模式 / 無障礙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381744" y="2084831"/>
            <a:ext cx="2386584" cy="0"/>
          </a:xfrm>
          <a:prstGeom prst="line">
            <a:avLst/>
          </a:prstGeom>
          <a:ln w="1016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345168" y="2176272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全 18 單元支援深色模式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45168" y="2569464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  <a:latin typeface="Microsoft JhengHei"/>
              </a:rPr>
              <a:t>適合：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45168" y="2962656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Microsoft JhengHei"/>
              </a:rPr>
              <a:t>  • 視覺敏感學生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45168" y="3355848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Microsoft JhengHei"/>
              </a:rPr>
              <a:t>  • 視覺疲勞情況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45168" y="3749039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Microsoft JhengHei"/>
              </a:rPr>
              <a:t>  • 弱視輔助需求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45168" y="4142231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一鍵切換，無需重載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45168" y="4535424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跨裝置保持設定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45168" y="4928616"/>
            <a:ext cx="24688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Microsoft JhengHei"/>
              </a:rPr>
              <a:t>零額外安裝費用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Microsoft JhengHei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JhengHei"/>
              </a:rPr>
              <a:t>07  三段式學習歷程設計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1548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AD8FF"/>
                </a:solidFill>
                <a:latin typeface="Microsoft JhengHei"/>
              </a:rPr>
              <a:t>數位模擬練習 → 紙本形成性評量 → 實地類化應用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24128"/>
            <a:ext cx="3749039" cy="553212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317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91640" y="1115568"/>
            <a:ext cx="1005840" cy="1005840"/>
          </a:xfrm>
          <a:prstGeom prst="ellipse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1115568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第一段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D4ED8"/>
                </a:solidFill>
                <a:latin typeface="Microsoft JhengHei"/>
              </a:rPr>
              <a:t>數位模擬練習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67004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Microsoft JhengHei"/>
              </a:rPr>
              <a:t>課堂主軸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3063240"/>
            <a:ext cx="3200400" cy="0"/>
          </a:xfrm>
          <a:prstGeom prst="line">
            <a:avLst/>
          </a:prstGeom>
          <a:ln w="15240">
            <a:solidFill>
              <a:srgbClr val="22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21208" y="3310128"/>
            <a:ext cx="91440" cy="182880"/>
          </a:xfrm>
          <a:prstGeom prst="roundRect">
            <a:avLst>
              <a:gd name="adj" fmla="val 5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182112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軟體情境操作（18 個互動單元）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" y="3749040"/>
            <a:ext cx="91440" cy="182880"/>
          </a:xfrm>
          <a:prstGeom prst="roundRect">
            <a:avLst>
              <a:gd name="adj" fmla="val 5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621024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即時觀察學生錯誤類型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" y="4187951"/>
            <a:ext cx="91440" cy="182880"/>
          </a:xfrm>
          <a:prstGeom prst="roundRect">
            <a:avLst>
              <a:gd name="adj" fmla="val 5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059935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三種難度對應個別需求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8" y="4626864"/>
            <a:ext cx="91440" cy="182880"/>
          </a:xfrm>
          <a:prstGeom prst="roundRect">
            <a:avLst>
              <a:gd name="adj" fmla="val 5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449884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輔助點擊支援精細動作障礙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" y="5065776"/>
            <a:ext cx="91440" cy="182880"/>
          </a:xfrm>
          <a:prstGeom prst="roundRect">
            <a:avLst>
              <a:gd name="adj" fmla="val 5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4937760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提供教師調整教學策略依據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" y="5504688"/>
            <a:ext cx="91440" cy="182880"/>
          </a:xfrm>
          <a:prstGeom prst="roundRect">
            <a:avLst>
              <a:gd name="adj" fmla="val 5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5376672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記錄：答對題數 / 嘗試次數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" y="5897880"/>
            <a:ext cx="3419856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925312"/>
            <a:ext cx="3236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63EB"/>
                </a:solidFill>
                <a:latin typeface="Microsoft JhengHei"/>
              </a:rPr>
              <a:t>💻  主要工具：平板電腦 / Windows 電腦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70248" y="1024128"/>
            <a:ext cx="3749039" cy="5532120"/>
          </a:xfrm>
          <a:prstGeom prst="roundRect">
            <a:avLst>
              <a:gd name="adj" fmla="val 16000"/>
            </a:avLst>
          </a:prstGeom>
          <a:solidFill>
            <a:srgbClr val="D1FAE5"/>
          </a:solidFill>
          <a:ln w="317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41848" y="1115568"/>
            <a:ext cx="1005840" cy="10058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41848" y="1115568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第二段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0248" y="2212848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47A55"/>
                </a:solidFill>
                <a:latin typeface="Microsoft JhengHei"/>
              </a:rPr>
              <a:t>紙本形成性評量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267004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Microsoft JhengHei"/>
              </a:rPr>
              <a:t>課後作業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44568" y="3063240"/>
            <a:ext cx="3200400" cy="0"/>
          </a:xfrm>
          <a:prstGeom prst="line">
            <a:avLst/>
          </a:prstGeom>
          <a:ln w="1524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471416" y="3310128"/>
            <a:ext cx="91440" cy="182880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54296" y="3182112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列印對應作業單（18 單元備有）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71416" y="3749040"/>
            <a:ext cx="91440" cy="182880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54296" y="3621024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每單元 10 種題型可選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71416" y="4187951"/>
            <a:ext cx="91440" cy="182880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54296" y="4059935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PDF 下載或直接列印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71416" y="4626864"/>
            <a:ext cx="91440" cy="182880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54296" y="449884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評估數位學習是否遷移至紙筆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71416" y="5065776"/>
            <a:ext cx="91440" cy="182880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54296" y="4937760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結果可記入 IEP 形成性評量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71416" y="5504688"/>
            <a:ext cx="91440" cy="182880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54296" y="5376672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教師可依能力調整題數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34840" y="5897880"/>
            <a:ext cx="3419856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44568" y="5925312"/>
            <a:ext cx="3236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Microsoft JhengHei"/>
              </a:rPr>
              <a:t>📄  主要工具：作業單 / 評量記錄表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0456" y="1024128"/>
            <a:ext cx="3749039" cy="5532120"/>
          </a:xfrm>
          <a:prstGeom prst="roundRect">
            <a:avLst>
              <a:gd name="adj" fmla="val 16000"/>
            </a:avLst>
          </a:prstGeom>
          <a:solidFill>
            <a:srgbClr val="FFEDD5"/>
          </a:solidFill>
          <a:ln w="317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592056" y="1115568"/>
            <a:ext cx="1005840" cy="100584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92056" y="1115568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第三段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0456" y="2212848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2410C"/>
                </a:solidFill>
                <a:latin typeface="Microsoft JhengHei"/>
              </a:rPr>
              <a:t>實地類化應用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0456" y="267004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Microsoft JhengHei"/>
              </a:rPr>
              <a:t>社區轉銜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494776" y="3063240"/>
            <a:ext cx="3200400" cy="0"/>
          </a:xfrm>
          <a:prstGeom prst="line">
            <a:avLst/>
          </a:prstGeom>
          <a:ln w="1524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8421624" y="3310128"/>
            <a:ext cx="91440" cy="182880"/>
          </a:xfrm>
          <a:prstGeom prst="roundRect">
            <a:avLst>
              <a:gd name="adj" fmla="val 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04504" y="3182112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真實社區場景操作演練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21624" y="3749040"/>
            <a:ext cx="91440" cy="182880"/>
          </a:xfrm>
          <a:prstGeom prst="roundRect">
            <a:avLst>
              <a:gd name="adj" fmla="val 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04504" y="3621024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行為檢核表記錄達成程度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21624" y="4187951"/>
            <a:ext cx="91440" cy="182880"/>
          </a:xfrm>
          <a:prstGeom prst="roundRect">
            <a:avLst>
              <a:gd name="adj" fmla="val 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04504" y="4059935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教師逐步褪除支持策略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21624" y="4626864"/>
            <a:ext cx="91440" cy="182880"/>
          </a:xfrm>
          <a:prstGeom prst="roundRect">
            <a:avLst>
              <a:gd name="adj" fmla="val 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04504" y="449884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最終目標：教師 3 公尺外觀察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21624" y="5065776"/>
            <a:ext cx="91440" cy="182880"/>
          </a:xfrm>
          <a:prstGeom prst="roundRect">
            <a:avLst>
              <a:gd name="adj" fmla="val 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04504" y="4937760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達成完全獨立操作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21624" y="5504688"/>
            <a:ext cx="91440" cy="182880"/>
          </a:xfrm>
          <a:prstGeom prst="roundRect">
            <a:avLst>
              <a:gd name="adj" fmla="val 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04504" y="5376672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Microsoft JhengHei"/>
              </a:rPr>
              <a:t>作為 IEP 轉銜評估依據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85048" y="5897880"/>
            <a:ext cx="3419856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94776" y="5925312"/>
            <a:ext cx="3236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  <a:latin typeface="Microsoft JhengHei"/>
              </a:rPr>
              <a:t>🏘️  場景：超市 / 便利商店 / ATM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87952" y="37033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64748B"/>
                </a:solidFill>
                <a:latin typeface="Microsoft JhengHei"/>
              </a:rPr>
              <a:t>➡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38160" y="37033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64748B"/>
                </a:solidFill>
                <a:latin typeface="Microsoft JhengHei"/>
              </a:rPr>
              <a:t>➡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Microsoft JhengHei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JhengHei"/>
              </a:rPr>
              <a:t>08  課程法規依據與 IEP 對應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5669280" cy="16642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91440" cy="1664208"/>
          </a:xfrm>
          <a:prstGeom prst="roundRect">
            <a:avLst>
              <a:gd name="adj" fmla="val 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161288"/>
            <a:ext cx="530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latin typeface="Microsoft JhengHei"/>
              </a:rPr>
              <a:t>🏛️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106424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DC2626"/>
                </a:solidFill>
                <a:latin typeface="Microsoft JhengHei"/>
              </a:rPr>
              <a:t>特殊教育法 第 28 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1764792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應為身心障礙學生訂定 IEP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20440" y="1188720"/>
            <a:ext cx="0" cy="1389888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30168" y="112471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Microsoft JhengHei"/>
              </a:rPr>
              <a:t>本軟體對應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14356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icrosoft JhengHei"/>
              </a:rPr>
              <a:t>✓ 各單元提供 IEP 年度目標範本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181965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icrosoft JhengHei"/>
              </a:rPr>
              <a:t>✓ 提供評量基準與記錄工具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20370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icrosoft JhengHei"/>
              </a:rPr>
              <a:t>✓ 直接對應轉銜目標格式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1051560"/>
            <a:ext cx="5669280" cy="16642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1051560"/>
            <a:ext cx="91440" cy="1664208"/>
          </a:xfrm>
          <a:prstGeom prst="roundRect">
            <a:avLst>
              <a:gd name="adj" fmla="val 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1161288"/>
            <a:ext cx="530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latin typeface="Microsoft JhengHei"/>
              </a:rPr>
              <a:t>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1106424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EA580C"/>
                </a:solidFill>
                <a:latin typeface="Microsoft JhengHei"/>
              </a:rPr>
              <a:t>特殊需求領域課綱</a:t>
            </a:r>
          </a:p>
          <a:p>
            <a:pPr algn="l"/>
            <a:r>
              <a:rPr sz="1250" b="1">
                <a:solidFill>
                  <a:srgbClr val="EA580C"/>
                </a:solidFill>
                <a:latin typeface="Microsoft JhengHei"/>
              </a:rPr>
              <a:t>生活管理・財務管理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1764792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生管-Ⅳ-E-1 認識貨幣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生管-Ⅳ-E-2 選取幣值付款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生管-Ⅳ-E-3 驗收找零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生管-Ⅳ-F-1 使用自動化設備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45752" y="1188720"/>
            <a:ext cx="0" cy="1389888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555480" y="112471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  <a:latin typeface="Microsoft JhengHei"/>
              </a:rPr>
              <a:t>本軟體對應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14356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icrosoft JhengHei"/>
              </a:rPr>
              <a:t>✓ F/C/A 三系列 18 單元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181965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icrosoft JhengHei"/>
              </a:rPr>
              <a:t>✓ 完整對應財務管理序階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20370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icrosoft JhengHei"/>
              </a:rPr>
              <a:t>✓ B 系列延伸預算規劃主題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834639"/>
            <a:ext cx="5669280" cy="16642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834639"/>
            <a:ext cx="91440" cy="1664208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" y="2944367"/>
            <a:ext cx="530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latin typeface="Microsoft JhengHei"/>
              </a:rPr>
              <a:t>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" y="2889503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263EB"/>
                </a:solidFill>
                <a:latin typeface="Microsoft JhengHei"/>
              </a:rPr>
              <a:t>身心障礙者權利公約</a:t>
            </a:r>
          </a:p>
          <a:p>
            <a:pPr algn="l"/>
            <a:r>
              <a:rPr sz="1250" b="1">
                <a:solidFill>
                  <a:srgbClr val="2263EB"/>
                </a:solidFill>
                <a:latin typeface="Microsoft JhengHei"/>
              </a:rPr>
              <a:t>CRPD 第 9・19 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" y="3547871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無障礙近用設施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獨立生活於社區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520440" y="2971799"/>
            <a:ext cx="0" cy="1389888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630168" y="2907791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63EB"/>
                </a:solidFill>
                <a:latin typeface="Microsoft JhengHei"/>
              </a:rPr>
              <a:t>本軟體對應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30168" y="3218687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icrosoft JhengHei"/>
              </a:rPr>
              <a:t>✓ 輔助點擊消除動作障礙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30168" y="3602735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icrosoft JhengHei"/>
              </a:rPr>
              <a:t>✓ A 系列六種真實社區場景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30168" y="3986783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icrosoft JhengHei"/>
              </a:rPr>
              <a:t>✓ 服務 IEP 轉銜社區獨立目標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45352" y="2834639"/>
            <a:ext cx="5669280" cy="16642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45352" y="2834639"/>
            <a:ext cx="91440" cy="1664208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9944" y="2944367"/>
            <a:ext cx="530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latin typeface="Microsoft JhengHei"/>
              </a:rPr>
              <a:t>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2889503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59669"/>
                </a:solidFill>
                <a:latin typeface="Microsoft JhengHei"/>
              </a:rPr>
              <a:t>十二年國教課綱總綱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3547871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自主行動・社會參與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核心素養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445752" y="2971799"/>
            <a:ext cx="0" cy="1389888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555480" y="2907791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Microsoft JhengHei"/>
              </a:rPr>
              <a:t>本軟體對應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55480" y="3218687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icrosoft JhengHei"/>
              </a:rPr>
              <a:t>✓ A 系列社區真實場景應用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55480" y="3602735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icrosoft JhengHei"/>
              </a:rPr>
              <a:t>✓ F 系列數學概念建構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55480" y="3986783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icrosoft JhengHei"/>
              </a:rPr>
              <a:t>✓ 跨領域融合設計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4617720"/>
            <a:ext cx="5669280" cy="16642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0040" y="4617720"/>
            <a:ext cx="91440" cy="1664208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4632" y="4727448"/>
            <a:ext cx="530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latin typeface="Microsoft JhengHei"/>
              </a:rPr>
              <a:t>⚖️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9848" y="4672584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7C3AED"/>
                </a:solidFill>
                <a:latin typeface="Microsoft JhengHei"/>
              </a:rPr>
              <a:t>高中以下特教</a:t>
            </a:r>
          </a:p>
          <a:p>
            <a:pPr algn="l"/>
            <a:r>
              <a:rPr sz="1250" b="1">
                <a:solidFill>
                  <a:srgbClr val="7C3AED"/>
                </a:solidFill>
                <a:latin typeface="Microsoft JhengHei"/>
              </a:rPr>
              <a:t>教材教法評量辦法 第 6 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9848" y="5330952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教材應符合學生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個別學習需求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520440" y="4754880"/>
            <a:ext cx="0" cy="1389888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630168" y="469087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Microsoft JhengHei"/>
              </a:rPr>
              <a:t>本軟體對應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30168" y="50017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icrosoft JhengHei"/>
              </a:rPr>
              <a:t>✓ 三種難度 × 輔助點擊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30168" y="538581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icrosoft JhengHei"/>
              </a:rPr>
              <a:t>✓ 支援個別化差異教學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30168" y="576986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icrosoft JhengHei"/>
              </a:rPr>
              <a:t>✓ 完全免費、無授權費用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45352" y="4617720"/>
            <a:ext cx="5669280" cy="16642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45352" y="4617720"/>
            <a:ext cx="91440" cy="1664208"/>
          </a:xfrm>
          <a:prstGeom prst="roundRect">
            <a:avLst>
              <a:gd name="adj" fmla="val 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9944" y="4727448"/>
            <a:ext cx="530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latin typeface="Microsoft JhengHei"/>
              </a:rPr>
              <a:t>📖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95160" y="4672584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D97706"/>
                </a:solidFill>
                <a:latin typeface="Microsoft JhengHei"/>
              </a:rPr>
              <a:t>十二年國教</a:t>
            </a:r>
          </a:p>
          <a:p>
            <a:pPr algn="l"/>
            <a:r>
              <a:rPr sz="1250" b="1">
                <a:solidFill>
                  <a:srgbClr val="D97706"/>
                </a:solidFill>
                <a:latin typeface="Microsoft JhengHei"/>
              </a:rPr>
              <a:t>特殊需求領域課綱（2019）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95160" y="5330952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財務管理主題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Microsoft JhengHei"/>
              </a:rPr>
              <a:t>頁 45–52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9445752" y="4754880"/>
            <a:ext cx="0" cy="1389888"/>
          </a:xfrm>
          <a:prstGeom prst="line">
            <a:avLst/>
          </a:prstGeom>
          <a:ln w="1524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9555480" y="469087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Microsoft JhengHei"/>
              </a:rPr>
              <a:t>本軟體對應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55480" y="500176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icrosoft JhengHei"/>
              </a:rPr>
              <a:t>✓ 系統性對應課綱架構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55480" y="538581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icrosoft JhengHei"/>
              </a:rPr>
              <a:t>✓ 提供教學目標與評量規準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55480" y="576986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Microsoft JhengHei"/>
              </a:rPr>
              <a:t>✓ 可作教師自我效能評估依據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Microsoft JhengHei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JhengHei"/>
              </a:rPr>
              <a:t>09  試教觀察 ── 類化窗口的關鍵時刻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42415"/>
            <a:ext cx="11521440" cy="1078992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228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Microsoft JhengHei"/>
              </a:rPr>
              <a:t>🔬  共同轉折點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115568"/>
            <a:ext cx="7406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Microsoft JhengHei"/>
              </a:rPr>
              <a:t>學生在第 5～7 次軟體操作後，開始在啟動前主動低聲說出下一步名稱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499616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059669"/>
                </a:solidFill>
                <a:latin typeface="Microsoft JhengHei"/>
              </a:rPr>
              <a:t>→ 程序性記憶語言化的信號，也是類化窗口即將開啟的前兆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267712"/>
            <a:ext cx="5669280" cy="42793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267712"/>
            <a:ext cx="5669280" cy="457200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0428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</a:rPr>
              <a:t>A2  自閉症學生的突破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78892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Microsoft JhengHei"/>
              </a:rPr>
              <a:t>試教背景：曾因等待焦慮情緒失調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3136391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Microsoft JhengHei"/>
              </a:rPr>
              <a:t>         一學期拒絕接觸相關學習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" y="3483863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Microsoft JhengHei"/>
              </a:rPr>
              <a:t>第三節社區實地操作：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3831335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059669"/>
                </a:solidFill>
                <a:latin typeface="Microsoft JhengHei"/>
              </a:rPr>
              <a:t>→ 面對真實理髮廳觸控機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417880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059669"/>
                </a:solidFill>
                <a:latin typeface="Microsoft JhengHei"/>
              </a:rPr>
              <a:t>→ 獨立完成完整付款流程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4526279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059669"/>
                </a:solidFill>
                <a:latin typeface="Microsoft JhengHei"/>
              </a:rPr>
              <a:t>→ 等待期間主動說：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487375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97706"/>
                </a:solidFill>
                <a:latin typeface="Microsoft JhengHei"/>
              </a:rPr>
              <a:t>   「我是 7 號，還沒叫到我，我要繼續等。」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556869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Microsoft JhengHei"/>
              </a:rPr>
              <a:t>意義：不只技能習得，更是社交規範的內化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78808" y="2944368"/>
            <a:ext cx="1627632" cy="475488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2980944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Microsoft JhengHei"/>
              </a:rPr>
              <a:t>⭐ 跨越性成長指標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78808" y="3511296"/>
            <a:ext cx="1627632" cy="475488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3547872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  <a:latin typeface="Microsoft JhengHei"/>
              </a:rPr>
              <a:t>• 等待行為建立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78808" y="4078224"/>
            <a:ext cx="1627632" cy="475488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60" y="4114800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  <a:latin typeface="Microsoft JhengHei"/>
              </a:rPr>
              <a:t>• 主動語言表達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78808" y="4645152"/>
            <a:ext cx="1627632" cy="475488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4681728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  <a:latin typeface="Microsoft JhengHei"/>
              </a:rPr>
              <a:t>• 情境焦慮顯著下降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5352" y="2267712"/>
            <a:ext cx="5669280" cy="42793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45352" y="2267712"/>
            <a:ext cx="5669280" cy="457200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230428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</a:rPr>
              <a:t>A1  拒絕接觸設備長達六個月的學生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78892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Microsoft JhengHei"/>
              </a:rPr>
              <a:t>試教背景：多次在真實販賣機失敗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136391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Microsoft JhengHei"/>
              </a:rPr>
              <a:t>         主動繞道迴避所有自助設備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483863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Microsoft JhengHei"/>
              </a:rPr>
              <a:t>完成軟體 15 次練習後：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831335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2263EB"/>
                </a:solidFill>
                <a:latin typeface="Microsoft JhengHei"/>
              </a:rPr>
              <a:t>→ 採用「先投幣後選商品」模式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417880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2263EB"/>
                </a:solidFill>
                <a:latin typeface="Microsoft JhengHei"/>
              </a:rPr>
              <a:t>→ 第一次在真實販賣機前完整購買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526279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2263EB"/>
                </a:solidFill>
                <a:latin typeface="Microsoft JhengHei"/>
              </a:rPr>
              <a:t>→ 購買完成後主動說：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87375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D97706"/>
                </a:solidFill>
                <a:latin typeface="Microsoft JhengHei"/>
              </a:rPr>
              <a:t>   「我下次自己來。」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56869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Microsoft JhengHei"/>
              </a:rPr>
              <a:t>意義：從「情境迴避」到「主動自信」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04120" y="2944368"/>
            <a:ext cx="1627632" cy="475488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77272" y="2980944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63EB"/>
                </a:solidFill>
                <a:latin typeface="Microsoft JhengHei"/>
              </a:rPr>
              <a:t>⭐ 突破性轉化指標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04120" y="3511296"/>
            <a:ext cx="1627632" cy="475488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77272" y="3547872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63EB"/>
                </a:solidFill>
                <a:latin typeface="Microsoft JhengHei"/>
              </a:rPr>
              <a:t>• 情境迴避行為消除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04120" y="4078224"/>
            <a:ext cx="1627632" cy="475488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77272" y="4114800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63EB"/>
                </a:solidFill>
                <a:latin typeface="Microsoft JhengHei"/>
              </a:rPr>
              <a:t>• 主動自信表達建立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04120" y="4645152"/>
            <a:ext cx="1627632" cy="475488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77272" y="4681728"/>
            <a:ext cx="1508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63EB"/>
                </a:solidFill>
                <a:latin typeface="Microsoft JhengHei"/>
              </a:rPr>
              <a:t>• 獨立操作意願確立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Microsoft JhengHei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JhengHei"/>
              </a:rPr>
              <a:t>10  預期成效指標 ── 三層面 × 短中長期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360" y="1024128"/>
            <a:ext cx="2926080" cy="457200"/>
          </a:xfrm>
          <a:prstGeom prst="roundRect">
            <a:avLst>
              <a:gd name="adj" fmla="val 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1042415"/>
            <a:ext cx="2926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短期（1～2 個月）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971031" y="1024128"/>
            <a:ext cx="2926080" cy="457200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71031" y="1042415"/>
            <a:ext cx="2926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中期（3～6 個月）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61704" y="1024128"/>
            <a:ext cx="2926080" cy="45720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61704" y="1042415"/>
            <a:ext cx="2926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長期（6 個月以上）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17904"/>
            <a:ext cx="2468880" cy="1627632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62763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Microsoft JhengHei"/>
              </a:rPr>
              <a:t>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249424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263EB"/>
                </a:solidFill>
                <a:latin typeface="Microsoft JhengHei"/>
              </a:rPr>
              <a:t>認知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360" y="1517904"/>
            <a:ext cx="292608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4952" y="1719072"/>
            <a:ext cx="25968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Microsoft JhengHei"/>
              </a:rPr>
              <a:t>9 種面額正確辨識 ≥ 80%</a:t>
            </a:r>
          </a:p>
          <a:p>
            <a:pPr algn="l"/>
            <a:r>
              <a:rPr sz="1250" b="0">
                <a:solidFill>
                  <a:srgbClr val="1E293B"/>
                </a:solidFill>
                <a:latin typeface="Microsoft JhengHei"/>
              </a:rPr>
              <a:t>能說出各 A 系列操作步驟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71031" y="1517904"/>
            <a:ext cx="292608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35623" y="1719072"/>
            <a:ext cx="25968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Microsoft JhengHei"/>
              </a:rPr>
              <a:t>找零計算正確率 ≥ 70%</a:t>
            </a:r>
          </a:p>
          <a:p>
            <a:pPr algn="l"/>
            <a:r>
              <a:rPr sz="1250" b="0">
                <a:solidFill>
                  <a:srgbClr val="1E293B"/>
                </a:solidFill>
                <a:latin typeface="Microsoft JhengHei"/>
              </a:rPr>
              <a:t>能跨情境類化付款概念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61704" y="1517904"/>
            <a:ext cx="292608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26296" y="1719072"/>
            <a:ext cx="25968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Microsoft JhengHei"/>
              </a:rPr>
              <a:t>能向他人說明消費流程</a:t>
            </a:r>
          </a:p>
          <a:p>
            <a:pPr algn="l"/>
            <a:r>
              <a:rPr sz="1250" b="0">
                <a:solidFill>
                  <a:srgbClr val="1E293B"/>
                </a:solidFill>
                <a:latin typeface="Microsoft JhengHei"/>
              </a:rPr>
              <a:t>理解金融安全概念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236976"/>
            <a:ext cx="2468880" cy="1627632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346704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Microsoft JhengHei"/>
              </a:rPr>
              <a:t>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3968496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59669"/>
                </a:solidFill>
                <a:latin typeface="Microsoft JhengHei"/>
              </a:rPr>
              <a:t>技能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3236976"/>
            <a:ext cx="292608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4952" y="3438144"/>
            <a:ext cx="25968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Microsoft JhengHei"/>
              </a:rPr>
              <a:t>A1～A3 普通模式完成</a:t>
            </a:r>
          </a:p>
          <a:p>
            <a:pPr algn="l"/>
            <a:r>
              <a:rPr sz="1250" b="0">
                <a:solidFill>
                  <a:srgbClr val="1E293B"/>
                </a:solidFill>
                <a:latin typeface="Microsoft JhengHei"/>
              </a:rPr>
              <a:t>C4 付款 5 次正確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71031" y="3236976"/>
            <a:ext cx="292608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3" y="3438144"/>
            <a:ext cx="25968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Microsoft JhengHei"/>
              </a:rPr>
              <a:t>A4～A6 普通模式完成</a:t>
            </a:r>
          </a:p>
          <a:p>
            <a:pPr algn="l"/>
            <a:r>
              <a:rPr sz="1250" b="0">
                <a:solidFill>
                  <a:srgbClr val="1E293B"/>
                </a:solidFill>
                <a:latin typeface="Microsoft JhengHei"/>
              </a:rPr>
              <a:t>ATM 提款獨立操作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61704" y="3236976"/>
            <a:ext cx="292608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26296" y="3438144"/>
            <a:ext cx="25968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Microsoft JhengHei"/>
              </a:rPr>
              <a:t>真實場景（理髮廳/超市/ATM）</a:t>
            </a:r>
          </a:p>
          <a:p>
            <a:pPr algn="l"/>
            <a:r>
              <a:rPr sz="1250" b="0">
                <a:solidFill>
                  <a:srgbClr val="1E293B"/>
                </a:solidFill>
                <a:latin typeface="Microsoft JhengHei"/>
              </a:rPr>
              <a:t>獨立完成全流程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956048"/>
            <a:ext cx="2468880" cy="1627632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5065776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Microsoft JhengHei"/>
              </a:rPr>
              <a:t>❤️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568756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  <a:latin typeface="Microsoft JhengHei"/>
              </a:rPr>
              <a:t>情意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80360" y="4956048"/>
            <a:ext cx="292608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44952" y="5157216"/>
            <a:ext cx="25968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Microsoft JhengHei"/>
              </a:rPr>
              <a:t>面對自助設備焦慮降低</a:t>
            </a:r>
          </a:p>
          <a:p>
            <a:pPr algn="l"/>
            <a:r>
              <a:rPr sz="1250" b="0">
                <a:solidFill>
                  <a:srgbClr val="1E293B"/>
                </a:solidFill>
                <a:latin typeface="Microsoft JhengHei"/>
              </a:rPr>
              <a:t>主動要求練習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71031" y="4956048"/>
            <a:ext cx="292608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35623" y="5157216"/>
            <a:ext cx="25968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Microsoft JhengHei"/>
              </a:rPr>
              <a:t>不再迴避社區場景</a:t>
            </a:r>
          </a:p>
          <a:p>
            <a:pPr algn="l"/>
            <a:r>
              <a:rPr sz="1250" b="0">
                <a:solidFill>
                  <a:srgbClr val="1E293B"/>
                </a:solidFill>
                <a:latin typeface="Microsoft JhengHei"/>
              </a:rPr>
              <a:t>主動啟動操作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61704" y="4956048"/>
            <a:ext cx="292608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26296" y="5157216"/>
            <a:ext cx="25968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Microsoft JhengHei"/>
              </a:rPr>
              <a:t>建立社區消費自主信心</a:t>
            </a:r>
          </a:p>
          <a:p>
            <a:pPr algn="l"/>
            <a:r>
              <a:rPr sz="1250" b="0">
                <a:solidFill>
                  <a:srgbClr val="1E293B"/>
                </a:solidFill>
                <a:latin typeface="Microsoft JhengHei"/>
              </a:rPr>
              <a:t>積極規劃獨立生活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Microsoft JhengHei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JhengHei"/>
              </a:rPr>
              <a:t>14  技術規格與無障礙設計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1548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AD8FF"/>
                </a:solidFill>
                <a:latin typeface="Microsoft JhengHei"/>
              </a:rPr>
              <a:t>Technical Specifications &amp; Accessibility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3767328" cy="1664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3767328" cy="109728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icrosoft JhengHei"/>
              </a:rPr>
              <a:t>🖥️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1234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Microsoft JhengHei"/>
              </a:rPr>
              <a:t>開發技術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HTML5 / CSS3 / JavaScript（ES6+）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無需安裝任何外掛程式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1051560"/>
            <a:ext cx="3767328" cy="1664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0248" y="1051560"/>
            <a:ext cx="3767328" cy="109728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2344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icrosoft JhengHei"/>
              </a:rPr>
              <a:t>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1234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Microsoft JhengHei"/>
              </a:rPr>
              <a:t>程式規模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18 個主程式，超過 15 萬行程式碼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研發歷時約 4 個月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0456" y="1051560"/>
            <a:ext cx="3767328" cy="1664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0456" y="1051560"/>
            <a:ext cx="3767328" cy="109728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123444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icrosoft JhengHei"/>
              </a:rPr>
              <a:t>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8" y="1234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Microsoft JhengHei"/>
              </a:rPr>
              <a:t>支援裝置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5128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Windows 電腦（推薦）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iPad / Android 平板（9.7 吋以上）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834639"/>
            <a:ext cx="3767328" cy="1664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2834639"/>
            <a:ext cx="3767328" cy="109728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17519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icrosoft JhengHei"/>
              </a:rPr>
              <a:t>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" y="3017519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Microsoft JhengHei"/>
              </a:rPr>
              <a:t>支援瀏覽器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" y="3428999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Google Chrome / Microsoft Edge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（最新版）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70248" y="2834639"/>
            <a:ext cx="3767328" cy="1664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70248" y="2834639"/>
            <a:ext cx="3767328" cy="109728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07408" y="3017519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icrosoft JhengHei"/>
              </a:rPr>
              <a:t>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3017519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Microsoft JhengHei"/>
              </a:rPr>
              <a:t>離線支援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3428999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完整支援完全離線使用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首次語音啟動後不需網路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0456" y="2834639"/>
            <a:ext cx="3767328" cy="1664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0456" y="2834639"/>
            <a:ext cx="3767328" cy="109728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7616" y="3017519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icrosoft JhengHei"/>
              </a:rPr>
              <a:t>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25128" y="3017519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Microsoft JhengHei"/>
              </a:rPr>
              <a:t>語音引擎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25128" y="3428999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Web Speech API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優先 Microsoft 雅婷（台灣中文）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台灣語境金額唸法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617720"/>
            <a:ext cx="3767328" cy="1664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4617720"/>
            <a:ext cx="3767328" cy="109728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8006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icrosoft JhengHei"/>
              </a:rPr>
              <a:t>🖱️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" y="48006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Microsoft JhengHei"/>
              </a:rPr>
              <a:t>輔助點擊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4712" y="52120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全 18 單元支援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精細動作障礙學生任意位置點擊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自動執行正確步驟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0248" y="4617720"/>
            <a:ext cx="3767328" cy="1664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70248" y="4617720"/>
            <a:ext cx="3767328" cy="109728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07408" y="48006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icrosoft JhengHei"/>
              </a:rPr>
              <a:t>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74920" y="48006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Microsoft JhengHei"/>
              </a:rPr>
              <a:t>深色模式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4920" y="52120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全 18 單元支援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適合視覺敏感或視覺疲勞學生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一鍵切換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0456" y="4617720"/>
            <a:ext cx="3767328" cy="16642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20456" y="4617720"/>
            <a:ext cx="3767328" cy="109728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57616" y="48006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icrosoft JhengHei"/>
              </a:rPr>
              <a:t>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25128" y="48006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Microsoft JhengHei"/>
              </a:rPr>
              <a:t>製作費用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25128" y="52120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新臺幣 0 元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教師自主研發</a:t>
            </a:r>
          </a:p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無任何商業授權費用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Microsoft JhengHei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JhengHei"/>
              </a:rPr>
              <a:t>15  核心創新總結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8580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Arial"/>
              </a:rPr>
              <a:t>Key Innovations  ── 四大首創特色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" y="1115568"/>
            <a:ext cx="11292840" cy="0"/>
          </a:xfrm>
          <a:prstGeom prst="line">
            <a:avLst/>
          </a:prstGeom>
          <a:ln w="12700">
            <a:solidFill>
              <a:srgbClr val="33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11480" y="1234440"/>
            <a:ext cx="5577840" cy="2377440"/>
          </a:xfrm>
          <a:prstGeom prst="roundRect">
            <a:avLst>
              <a:gd name="adj" fmla="val 14000"/>
            </a:avLst>
          </a:prstGeom>
          <a:solidFill>
            <a:srgbClr val="1E3A5C"/>
          </a:solidFill>
          <a:ln w="2540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234440"/>
            <a:ext cx="640080" cy="2377440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34440"/>
            <a:ext cx="640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1307592"/>
            <a:ext cx="4681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63EB"/>
                </a:solidFill>
                <a:latin typeface="Microsoft JhengHei"/>
              </a:rPr>
              <a:t>全台首套三層次序階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1783080"/>
            <a:ext cx="4681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63EB"/>
                </a:solidFill>
                <a:latin typeface="Microsoft JhengHei"/>
              </a:rPr>
              <a:t>數位金融素養課程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24712" y="2313432"/>
            <a:ext cx="4681728" cy="0"/>
          </a:xfrm>
          <a:prstGeom prst="line">
            <a:avLst/>
          </a:prstGeom>
          <a:ln w="12700">
            <a:solidFill>
              <a:srgbClr val="33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24712" y="2423160"/>
            <a:ext cx="4681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Microsoft JhengHei"/>
              </a:rPr>
              <a:t>F→C→A 三系列 18 個互動教學單元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2807208"/>
            <a:ext cx="4681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Microsoft JhengHei"/>
              </a:rPr>
              <a:t>系統覆蓋「數學先備→貨幣認知→情境類化」完整序列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3191256"/>
            <a:ext cx="4681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Microsoft JhengHei"/>
              </a:rPr>
              <a:t>每系列 6 單元，每單元三種難度 × 輔助點擊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234440"/>
            <a:ext cx="5577840" cy="2377440"/>
          </a:xfrm>
          <a:prstGeom prst="roundRect">
            <a:avLst>
              <a:gd name="adj" fmla="val 14000"/>
            </a:avLst>
          </a:prstGeom>
          <a:solidFill>
            <a:srgbClr val="1E3A5C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234440"/>
            <a:ext cx="640080" cy="2377440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234440"/>
            <a:ext cx="640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1307592"/>
            <a:ext cx="4681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59669"/>
                </a:solidFill>
                <a:latin typeface="Microsoft JhengHei"/>
              </a:rPr>
              <a:t>輔助點擊模式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6872" y="1783080"/>
            <a:ext cx="4681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59669"/>
                </a:solidFill>
                <a:latin typeface="Microsoft JhengHei"/>
              </a:rPr>
              <a:t>（特教數位教材首創）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76872" y="2313432"/>
            <a:ext cx="4681728" cy="0"/>
          </a:xfrm>
          <a:prstGeom prst="line">
            <a:avLst/>
          </a:prstGeom>
          <a:ln w="12700">
            <a:solidFill>
              <a:srgbClr val="33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976872" y="2423160"/>
            <a:ext cx="4681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Microsoft JhengHei"/>
              </a:rPr>
              <a:t>精細動作障礙學生「任意位置點擊」即自動執行正確步驟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2807208"/>
            <a:ext cx="4681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Microsoft JhengHei"/>
              </a:rPr>
              <a:t>全 18 單元支援，消除動作能力門檻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3191256"/>
            <a:ext cx="4681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Microsoft JhengHei"/>
              </a:rPr>
              <a:t>讓操作能力不等於學習機會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749039"/>
            <a:ext cx="5577840" cy="2377440"/>
          </a:xfrm>
          <a:prstGeom prst="roundRect">
            <a:avLst>
              <a:gd name="adj" fmla="val 14000"/>
            </a:avLst>
          </a:prstGeom>
          <a:solidFill>
            <a:srgbClr val="1E3A5C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3749039"/>
            <a:ext cx="640080" cy="2377440"/>
          </a:xfrm>
          <a:prstGeom prst="roundRect">
            <a:avLst>
              <a:gd name="adj" fmla="val 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749039"/>
            <a:ext cx="640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" y="3822191"/>
            <a:ext cx="4681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A580C"/>
                </a:solidFill>
                <a:latin typeface="Microsoft JhengHei"/>
              </a:rPr>
              <a:t>六種台灣在地化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" y="4297679"/>
            <a:ext cx="4681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A580C"/>
                </a:solidFill>
                <a:latin typeface="Microsoft JhengHei"/>
              </a:rPr>
              <a:t>真實情境仿真介面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24712" y="4828031"/>
            <a:ext cx="4681728" cy="0"/>
          </a:xfrm>
          <a:prstGeom prst="line">
            <a:avLst/>
          </a:prstGeom>
          <a:ln w="12700">
            <a:solidFill>
              <a:srgbClr val="33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124712" y="4937759"/>
            <a:ext cx="4681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Microsoft JhengHei"/>
              </a:rPr>
              <a:t>自動販賣機・理髮廳自助機・速食店點餐機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" y="5321807"/>
            <a:ext cx="4681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Microsoft JhengHei"/>
              </a:rPr>
              <a:t>超市購物・ATM・台鐵購票機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" y="5705855"/>
            <a:ext cx="4681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Microsoft JhengHei"/>
              </a:rPr>
              <a:t>台灣在地化設備外觀 + 真實費率 + 完整操作流程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749039"/>
            <a:ext cx="5577840" cy="2377440"/>
          </a:xfrm>
          <a:prstGeom prst="roundRect">
            <a:avLst>
              <a:gd name="adj" fmla="val 14000"/>
            </a:avLst>
          </a:prstGeom>
          <a:solidFill>
            <a:srgbClr val="1E3A5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3749039"/>
            <a:ext cx="640080" cy="237744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3749039"/>
            <a:ext cx="640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76872" y="3822191"/>
            <a:ext cx="4681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C3AED"/>
                </a:solidFill>
                <a:latin typeface="Microsoft JhengHei"/>
              </a:rPr>
              <a:t>完整配套系統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76872" y="4297679"/>
            <a:ext cx="4681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C3AED"/>
                </a:solidFill>
                <a:latin typeface="Microsoft JhengHei"/>
              </a:rPr>
              <a:t>對應 IEP 各功能向度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976872" y="4828031"/>
            <a:ext cx="4681728" cy="0"/>
          </a:xfrm>
          <a:prstGeom prst="line">
            <a:avLst/>
          </a:prstGeom>
          <a:ln w="12700">
            <a:solidFill>
              <a:srgbClr val="33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976872" y="4937759"/>
            <a:ext cx="4681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Microsoft JhengHei"/>
              </a:rPr>
              <a:t>作業單系統（18 × 10 題型）× 獎勵積分模組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76872" y="5321807"/>
            <a:ext cx="4681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Microsoft JhengHei"/>
              </a:rPr>
              <a:t>全程語音引導 × 深色模式 × PDF 下載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76872" y="5705855"/>
            <a:ext cx="4681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BD5E1"/>
                </a:solidFill>
                <a:latin typeface="Microsoft JhengHei"/>
              </a:rPr>
              <a:t>教師可直接用於 IEP 評量記錄與轉銜規劃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6327648"/>
            <a:ext cx="11338560" cy="411480"/>
          </a:xfrm>
          <a:prstGeom prst="roundRect">
            <a:avLst>
              <a:gd name="adj" fmla="val 10000"/>
            </a:avLst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6345936"/>
            <a:ext cx="113385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Microsoft JhengHei"/>
              </a:rPr>
              <a:t>身心障礙類・國民中學及高級中等學校組  ｜  製作費用 NT$0  ｜  完全離線・免安裝  ｜  中華民國 115 年 3 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Microsoft JhengHei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JhengHei"/>
              </a:rPr>
              <a:t>11  B 系列延伸 ── 預算規劃（6 個單元）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1548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AD8FF"/>
                </a:solidFill>
                <a:latin typeface="Microsoft JhengHei"/>
              </a:rPr>
              <a:t>適用：已完成 A 系列  ·  延伸：日常預算管理・比價・存錢計畫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24128"/>
            <a:ext cx="3767328" cy="24505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24128"/>
            <a:ext cx="3767328" cy="512064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088136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JhengHei"/>
              </a:rPr>
              <a:t>B1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11155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</a:rPr>
              <a:t>今天帶多少錢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" y="1618488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61848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  <a:latin typeface="Microsoft JhengHei"/>
              </a:rPr>
              <a:t>行程計算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011680"/>
            <a:ext cx="34198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依行程計算所需金額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簡單/普通/困難三難度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" y="3017520"/>
            <a:ext cx="3419856" cy="3474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54096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JhengHei"/>
              </a:rPr>
              <a:t>先備：能完成 A 系列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1024128"/>
            <a:ext cx="3767328" cy="24505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0248" y="1024128"/>
            <a:ext cx="3767328" cy="512064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9976" y="1088136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JhengHei"/>
              </a:rPr>
              <a:t>B2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1155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</a:rPr>
              <a:t>零用錢日記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9976" y="1618488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9976" y="161848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  <a:latin typeface="Microsoft JhengHei"/>
              </a:rPr>
              <a:t>收支記帳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011680"/>
            <a:ext cx="34198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計算一週收支與餘額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收入/支出事件序列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3017520"/>
            <a:ext cx="3419856" cy="3474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3054096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JhengHei"/>
              </a:rPr>
              <a:t>先備：能完成 B1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0456" y="1024128"/>
            <a:ext cx="3767328" cy="24505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0456" y="1024128"/>
            <a:ext cx="3767328" cy="512064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4" y="1088136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JhengHei"/>
              </a:rPr>
              <a:t>B3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5128" y="11155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</a:rPr>
              <a:t>存錢計畫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30184" y="1618488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0184" y="161848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  <a:latin typeface="Microsoft JhengHei"/>
              </a:rPr>
              <a:t>目標儲蓄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2011680"/>
            <a:ext cx="34198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計算每週需存幾元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月曆模擬實際存錢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85048" y="3017520"/>
            <a:ext cx="3419856" cy="3474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94776" y="3054096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JhengHei"/>
              </a:rPr>
              <a:t>先備：能完成 B2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630168"/>
            <a:ext cx="3767328" cy="24505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3630168"/>
            <a:ext cx="3767328" cy="512064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" y="3694176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JhengHei"/>
              </a:rPr>
              <a:t>B4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" y="372160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</a:rPr>
              <a:t>特賣比一比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" y="4224528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" y="42245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  <a:latin typeface="Microsoft JhengHei"/>
              </a:rPr>
              <a:t>價格比較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" y="4617720"/>
            <a:ext cx="34198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比較兩店商品價格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找出較便宜選項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4632" y="5623560"/>
            <a:ext cx="3419856" cy="3474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5660136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JhengHei"/>
              </a:rPr>
              <a:t>先備：能完成 B1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70248" y="3630168"/>
            <a:ext cx="3767328" cy="24505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70248" y="3630168"/>
            <a:ext cx="3767328" cy="512064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79976" y="3694176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JhengHei"/>
              </a:rPr>
              <a:t>B5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74920" y="372160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</a:rPr>
              <a:t>生日派對預算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79976" y="4224528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79976" y="42245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  <a:latin typeface="Microsoft JhengHei"/>
              </a:rPr>
              <a:t>預算分配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4617720"/>
            <a:ext cx="34198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在預算內規劃派對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必買+選購商品決策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34840" y="5623560"/>
            <a:ext cx="3419856" cy="3474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44568" y="5660136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JhengHei"/>
              </a:rPr>
              <a:t>先備：能完成 B2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0456" y="3630168"/>
            <a:ext cx="3767328" cy="24505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286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20456" y="3630168"/>
            <a:ext cx="3767328" cy="512064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30184" y="3694176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JhengHei"/>
              </a:rPr>
              <a:t>B6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25128" y="372160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</a:rPr>
              <a:t>菜市場買菜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30184" y="4224528"/>
            <a:ext cx="1097280" cy="292608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30184" y="42245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  <a:latin typeface="Microsoft JhengHei"/>
              </a:rPr>
              <a:t>實境採購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85048" y="4617720"/>
            <a:ext cx="34198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按清單各攤採購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Microsoft JhengHei"/>
              </a:rPr>
              <a:t>付款並確認找零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85048" y="5623560"/>
            <a:ext cx="3419856" cy="34747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94776" y="5660136"/>
            <a:ext cx="3236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Microsoft JhengHei"/>
              </a:rPr>
              <a:t>先備：能完成 A4/A6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Microsoft JhengHei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JhengHei"/>
              </a:rPr>
              <a:t>12  IEP 具體教學目標 ── 各系列年度目標範本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1548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AD8FF"/>
                </a:solidFill>
                <a:latin typeface="Microsoft JhengHei"/>
              </a:rPr>
              <a:t>依 IEP 目標格式：行為主體 + 情境 + 操作行為 + 標準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24128"/>
            <a:ext cx="914400" cy="438912"/>
          </a:xfrm>
          <a:prstGeom prst="roundRect">
            <a:avLst>
              <a:gd name="adj" fmla="val 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42415"/>
            <a:ext cx="914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系列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1872" y="1024128"/>
            <a:ext cx="5303520" cy="438912"/>
          </a:xfrm>
          <a:prstGeom prst="roundRect">
            <a:avLst>
              <a:gd name="adj" fmla="val 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1042415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IEP 年度目標範本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01968" y="1024128"/>
            <a:ext cx="2560320" cy="438912"/>
          </a:xfrm>
          <a:prstGeom prst="roundRect">
            <a:avLst>
              <a:gd name="adj" fmla="val 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1042415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評量標準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9720" y="1024128"/>
            <a:ext cx="3017520" cy="438912"/>
          </a:xfrm>
          <a:prstGeom prst="roundRect">
            <a:avLst>
              <a:gd name="adj" fmla="val 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1042415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轉銜應用場域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508760"/>
            <a:ext cx="11521440" cy="1170432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1508760"/>
            <a:ext cx="914400" cy="1170432"/>
          </a:xfrm>
          <a:prstGeom prst="roundRect">
            <a:avLst>
              <a:gd name="adj" fmla="val 6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1508760"/>
            <a:ext cx="9144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F 系列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1618488"/>
            <a:ext cx="523036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JhengHei"/>
              </a:rPr>
              <a:t>學生能在數字排序活動中，依序將 1～10 的數字卡由小到大排列完成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1618488"/>
            <a:ext cx="24688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63EB"/>
                </a:solidFill>
                <a:latin typeface="Microsoft JhengHei"/>
              </a:rPr>
              <a:t>3 次中有 2 次正確完成，教師不提示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1618488"/>
            <a:ext cx="248716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數字辨識・日常排序活動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770632"/>
            <a:ext cx="1152144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770632"/>
            <a:ext cx="914400" cy="1170432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770632"/>
            <a:ext cx="9144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C 系列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2880360"/>
            <a:ext cx="523036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JhengHei"/>
              </a:rPr>
              <a:t>學生能在付款情境中，正確辨識並拿取等值面額完成 NT$50 以內付款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8544" y="2880360"/>
            <a:ext cx="24688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59669"/>
                </a:solidFill>
                <a:latin typeface="Microsoft JhengHei"/>
              </a:rPr>
              <a:t>連續 4 次答對，錯誤不超過 1 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7152" y="2880360"/>
            <a:ext cx="248716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便利商店・超市結帳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032504"/>
            <a:ext cx="11521440" cy="1170432"/>
          </a:xfrm>
          <a:prstGeom prst="roundRect">
            <a:avLst>
              <a:gd name="adj" fmla="val 6000"/>
            </a:avLst>
          </a:prstGeom>
          <a:solidFill>
            <a:srgbClr val="FFEDD5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032504"/>
            <a:ext cx="914400" cy="1170432"/>
          </a:xfrm>
          <a:prstGeom prst="roundRect">
            <a:avLst>
              <a:gd name="adj" fmla="val 6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4032504"/>
            <a:ext cx="9144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A 系列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4142232"/>
            <a:ext cx="523036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JhengHei"/>
              </a:rPr>
              <a:t>學生能在自動販賣機前，獨立完成投幣、選商品、取貨、核對找零之完整流程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38544" y="4142232"/>
            <a:ext cx="24688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Microsoft JhengHei"/>
              </a:rPr>
              <a:t>教師 3 公尺外觀察，5 步驟均達成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17152" y="4142232"/>
            <a:ext cx="248716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校園販賣機・超商自助結帳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294375"/>
            <a:ext cx="1152144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5294375"/>
            <a:ext cx="914400" cy="1170432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5294375"/>
            <a:ext cx="9144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JhengHei"/>
              </a:rPr>
              <a:t>B 系列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8448" y="5404103"/>
            <a:ext cx="523036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Microsoft JhengHei"/>
              </a:rPr>
              <a:t>學生能依據當週活動計畫，計算所需帶出門金額，誤差在 NT$10 以內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38544" y="5404103"/>
            <a:ext cx="246888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Microsoft JhengHei"/>
              </a:rPr>
              <a:t>3 次活動中有 2 次自行計算正確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17152" y="5404103"/>
            <a:ext cx="248716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Microsoft JhengHei"/>
              </a:rPr>
              <a:t>假日出遊・社區購物規劃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Microsoft JhengHei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48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JhengHei"/>
              </a:rPr>
              <a:t>13  三種難度 × 輔助點擊 ── 差異化教學設計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94360"/>
            <a:ext cx="115488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BAD8FF"/>
                </a:solidFill>
                <a:latin typeface="Microsoft JhengHei"/>
              </a:rPr>
              <a:t>相同教材內容，以難度設計實現完全個別化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24128"/>
            <a:ext cx="2788920" cy="5532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024128"/>
            <a:ext cx="2788920" cy="621792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042415"/>
            <a:ext cx="2788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簡單模式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Easy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" y="1719072"/>
            <a:ext cx="2468880" cy="566928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810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Microsoft JhengHei"/>
              </a:rPr>
              <a:t>完整視覺提示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" y="2377439"/>
            <a:ext cx="2468880" cy="566928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46887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Microsoft JhengHei"/>
              </a:rPr>
              <a:t>步驟動畫高亮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" y="3035808"/>
            <a:ext cx="2468880" cy="566928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12724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Microsoft JhengHei"/>
              </a:rPr>
              <a:t>語音全程引導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" y="3694176"/>
            <a:ext cx="2468880" cy="566928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378561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Microsoft JhengHei"/>
              </a:rPr>
              <a:t>答錯無限機會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" y="4352544"/>
            <a:ext cx="2468880" cy="566928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444398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Microsoft JhengHei"/>
              </a:rPr>
              <a:t>自動提示介入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" y="5138928"/>
            <a:ext cx="2468880" cy="1207008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5230368"/>
            <a:ext cx="27889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初學・習得期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IEP 短期目標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73552" y="1024128"/>
            <a:ext cx="2788920" cy="5532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73552" y="1024128"/>
            <a:ext cx="2788920" cy="621792"/>
          </a:xfrm>
          <a:prstGeom prst="roundRect">
            <a:avLst>
              <a:gd name="adj" fmla="val 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1042415"/>
            <a:ext cx="2788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普通模式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Normal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38144" y="1719072"/>
            <a:ext cx="2468880" cy="56692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9584" y="1810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Microsoft JhengHei"/>
              </a:rPr>
              <a:t>部分提示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38144" y="2377439"/>
            <a:ext cx="2468880" cy="56692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9584" y="246887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Microsoft JhengHei"/>
              </a:rPr>
              <a:t>步驟順序提示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38144" y="3035808"/>
            <a:ext cx="2468880" cy="56692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9584" y="312724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Microsoft JhengHei"/>
              </a:rPr>
              <a:t>錯誤才播語音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38144" y="3694176"/>
            <a:ext cx="2468880" cy="56692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9584" y="378561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Microsoft JhengHei"/>
              </a:rPr>
              <a:t>3 次後顯示提示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38144" y="4352544"/>
            <a:ext cx="2468880" cy="566928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9584" y="444398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Microsoft JhengHei"/>
              </a:rPr>
              <a:t>教師可設定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38144" y="5138928"/>
            <a:ext cx="2468880" cy="1207008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73552" y="5230368"/>
            <a:ext cx="27889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流暢性建立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IEP 中期目標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27064" y="1024128"/>
            <a:ext cx="2788920" cy="5532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27064" y="1024128"/>
            <a:ext cx="2788920" cy="621792"/>
          </a:xfrm>
          <a:prstGeom prst="roundRect">
            <a:avLst>
              <a:gd name="adj" fmla="val 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7064" y="1042415"/>
            <a:ext cx="2788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困難模式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Hard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91656" y="1719072"/>
            <a:ext cx="2468880" cy="566928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83096" y="1810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Microsoft JhengHei"/>
              </a:rPr>
              <a:t>無視覺提示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91656" y="2377439"/>
            <a:ext cx="2468880" cy="566928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83096" y="246887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Microsoft JhengHei"/>
              </a:rPr>
              <a:t>無步驟引導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91656" y="3035808"/>
            <a:ext cx="2468880" cy="566928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3096" y="312724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Microsoft JhengHei"/>
              </a:rPr>
              <a:t>僅結果回饋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91656" y="3694176"/>
            <a:ext cx="2468880" cy="566928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83096" y="378561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Microsoft JhengHei"/>
              </a:rPr>
              <a:t>強化記憶策略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91656" y="4352544"/>
            <a:ext cx="2468880" cy="566928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83096" y="444398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Microsoft JhengHei"/>
              </a:rPr>
              <a:t>高度自主操作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91656" y="5138928"/>
            <a:ext cx="2468880" cy="1207008"/>
          </a:xfrm>
          <a:prstGeom prst="roundRect">
            <a:avLst>
              <a:gd name="adj" fmla="val 1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27064" y="5230368"/>
            <a:ext cx="27889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獨立精熟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IEP 精熟目標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80576" y="1024128"/>
            <a:ext cx="2788920" cy="5532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180576" y="1024128"/>
            <a:ext cx="2788920" cy="621792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80576" y="1042415"/>
            <a:ext cx="278892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輔助點擊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Click Mode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45168" y="1719072"/>
            <a:ext cx="2468880" cy="566928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36608" y="181051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Microsoft JhengHei"/>
              </a:rPr>
              <a:t>任意位置點擊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45168" y="2377439"/>
            <a:ext cx="2468880" cy="566928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36608" y="2468879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Microsoft JhengHei"/>
              </a:rPr>
              <a:t>自動執行步驟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345168" y="3035808"/>
            <a:ext cx="2468880" cy="566928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36608" y="312724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Microsoft JhengHei"/>
              </a:rPr>
              <a:t>適用三種難度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45168" y="3694176"/>
            <a:ext cx="2468880" cy="566928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36608" y="378561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Microsoft JhengHei"/>
              </a:rPr>
              <a:t>精細動作障礙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45168" y="4352544"/>
            <a:ext cx="2468880" cy="566928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36608" y="444398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Microsoft JhengHei"/>
              </a:rPr>
              <a:t>全 18 單元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345168" y="5138928"/>
            <a:ext cx="2468880" cy="1207008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80576" y="5230368"/>
            <a:ext cx="278892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動作障礙支持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不限能力目標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Microsoft JhengHei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"/>
            <a:ext cx="164592" cy="2240280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377440"/>
            <a:ext cx="164592" cy="2240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4617720"/>
            <a:ext cx="164592" cy="22402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502920"/>
            <a:ext cx="8686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icrosoft JhengHei"/>
              </a:rPr>
              <a:t>謝謝評審委員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25880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7C8DA8"/>
                </a:solidFill>
                <a:latin typeface="Arial"/>
              </a:rPr>
              <a:t>Thank you for your consideration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" y="1828800"/>
            <a:ext cx="8275320" cy="0"/>
          </a:xfrm>
          <a:prstGeom prst="line">
            <a:avLst/>
          </a:prstGeom>
          <a:ln w="19050">
            <a:solidFill>
              <a:srgbClr val="33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11480" y="2029968"/>
            <a:ext cx="3675887" cy="2212848"/>
          </a:xfrm>
          <a:prstGeom prst="roundRect">
            <a:avLst>
              <a:gd name="adj" fmla="val 14000"/>
            </a:avLst>
          </a:prstGeom>
          <a:solidFill>
            <a:srgbClr val="1E3A5C"/>
          </a:solidFill>
          <a:ln w="2540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167128"/>
            <a:ext cx="367588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Microsoft JhengHei"/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779776"/>
            <a:ext cx="36758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263EB"/>
                </a:solidFill>
                <a:latin typeface="Microsoft JhengHei"/>
              </a:rPr>
              <a:t>教育初衷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3264408"/>
            <a:ext cx="3218688" cy="0"/>
          </a:xfrm>
          <a:prstGeom prst="line">
            <a:avLst/>
          </a:prstGeom>
          <a:ln w="12700">
            <a:solidFill>
              <a:srgbClr val="33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2648" y="3355848"/>
            <a:ext cx="3291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  <a:latin typeface="Microsoft JhengHei"/>
              </a:rPr>
              <a:t>每一位特教學生都有權利在社區中自主消費</a:t>
            </a:r>
          </a:p>
          <a:p>
            <a:pPr algn="ctr"/>
            <a:r>
              <a:rPr sz="1200" b="0">
                <a:solidFill>
                  <a:srgbClr val="CBD5E1"/>
                </a:solidFill>
                <a:latin typeface="Microsoft JhengHei"/>
              </a:rPr>
              <a:t>這套軟體是讓這個權利可以被練習的起點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6824" y="2029968"/>
            <a:ext cx="3675887" cy="2212848"/>
          </a:xfrm>
          <a:prstGeom prst="roundRect">
            <a:avLst>
              <a:gd name="adj" fmla="val 14000"/>
            </a:avLst>
          </a:prstGeom>
          <a:solidFill>
            <a:srgbClr val="1E3A5C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06824" y="2167128"/>
            <a:ext cx="367588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Microsoft JhengHei"/>
              </a:rPr>
              <a:t>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6824" y="2779776"/>
            <a:ext cx="36758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59669"/>
                </a:solidFill>
                <a:latin typeface="Microsoft JhengHei"/>
              </a:rPr>
              <a:t>持續精進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35424" y="3264408"/>
            <a:ext cx="3218688" cy="0"/>
          </a:xfrm>
          <a:prstGeom prst="line">
            <a:avLst/>
          </a:prstGeom>
          <a:ln w="12700">
            <a:solidFill>
              <a:srgbClr val="33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07992" y="3355848"/>
            <a:ext cx="3291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  <a:latin typeface="Microsoft JhengHei"/>
              </a:rPr>
              <a:t>本軟體持續更新維護，依教學現場需求優化</a:t>
            </a:r>
          </a:p>
          <a:p>
            <a:pPr algn="ctr"/>
            <a:r>
              <a:rPr sz="1200" b="0">
                <a:solidFill>
                  <a:srgbClr val="CBD5E1"/>
                </a:solidFill>
                <a:latin typeface="Microsoft JhengHei"/>
              </a:rPr>
              <a:t>歡迎特教教師提供教學回饋共同改善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02167" y="2029968"/>
            <a:ext cx="3675887" cy="2212848"/>
          </a:xfrm>
          <a:prstGeom prst="roundRect">
            <a:avLst>
              <a:gd name="adj" fmla="val 14000"/>
            </a:avLst>
          </a:prstGeom>
          <a:solidFill>
            <a:srgbClr val="1E3A5C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2167" y="2167128"/>
            <a:ext cx="367588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Microsoft JhengHei"/>
              </a:rPr>
              <a:t>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7" y="2779776"/>
            <a:ext cx="36758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A580C"/>
                </a:solidFill>
                <a:latin typeface="Microsoft JhengHei"/>
              </a:rPr>
              <a:t>完全開放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30767" y="3264408"/>
            <a:ext cx="3218688" cy="0"/>
          </a:xfrm>
          <a:prstGeom prst="line">
            <a:avLst/>
          </a:prstGeom>
          <a:ln w="12700">
            <a:solidFill>
              <a:srgbClr val="33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403335" y="3355848"/>
            <a:ext cx="3291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  <a:latin typeface="Microsoft JhengHei"/>
              </a:rPr>
              <a:t>製作費用 NT$0・完全離線・免安裝</a:t>
            </a:r>
          </a:p>
          <a:p>
            <a:pPr algn="ctr"/>
            <a:r>
              <a:rPr sz="1200" b="0">
                <a:solidFill>
                  <a:srgbClr val="CBD5E1"/>
                </a:solidFill>
                <a:latin typeface="Microsoft JhengHei"/>
              </a:rPr>
              <a:t>歡迎各校特教班自由下載使用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407408"/>
            <a:ext cx="11338560" cy="658368"/>
          </a:xfrm>
          <a:prstGeom prst="roundRect">
            <a:avLst>
              <a:gd name="adj" fmla="val 10000"/>
            </a:avLst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4531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D97706"/>
                </a:solidFill>
                <a:latin typeface="Microsoft JhengHei"/>
              </a:rPr>
              <a:t>18 個互動教學單元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7731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Microsoft JhengHei"/>
              </a:rPr>
              <a:t>F+C+A 系列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862071" y="4462272"/>
            <a:ext cx="0" cy="548640"/>
          </a:xfrm>
          <a:prstGeom prst="line">
            <a:avLst/>
          </a:prstGeom>
          <a:ln w="12700">
            <a:solidFill>
              <a:srgbClr val="33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044952" y="44531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D97706"/>
                </a:solidFill>
                <a:latin typeface="Microsoft JhengHei"/>
              </a:rPr>
              <a:t>24 個（含 B 系列）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44952" y="47731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Microsoft JhengHei"/>
              </a:rPr>
              <a:t>含延伸 B 系列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129783" y="4462272"/>
            <a:ext cx="0" cy="548640"/>
          </a:xfrm>
          <a:prstGeom prst="line">
            <a:avLst/>
          </a:prstGeom>
          <a:ln w="12700">
            <a:solidFill>
              <a:srgbClr val="33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312664" y="44531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D97706"/>
                </a:solidFill>
                <a:latin typeface="Microsoft JhengHei"/>
              </a:rPr>
              <a:t>輔助點擊首創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12664" y="47731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Microsoft JhengHei"/>
              </a:rPr>
              <a:t>精細動作支持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397495" y="4462272"/>
            <a:ext cx="0" cy="548640"/>
          </a:xfrm>
          <a:prstGeom prst="line">
            <a:avLst/>
          </a:prstGeom>
          <a:ln w="12700">
            <a:solidFill>
              <a:srgbClr val="33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580375" y="44531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D97706"/>
                </a:solidFill>
                <a:latin typeface="Microsoft JhengHei"/>
              </a:rPr>
              <a:t>NT$0 完全免費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0375" y="47731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Microsoft JhengHei"/>
              </a:rPr>
              <a:t>授權費用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665206" y="4462272"/>
            <a:ext cx="0" cy="548640"/>
          </a:xfrm>
          <a:prstGeom prst="line">
            <a:avLst/>
          </a:prstGeom>
          <a:ln w="12700">
            <a:solidFill>
              <a:srgbClr val="33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848088" y="44531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D97706"/>
                </a:solidFill>
                <a:latin typeface="Microsoft JhengHei"/>
              </a:rPr>
              <a:t>完全離線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48088" y="477316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Microsoft JhengHei"/>
              </a:rPr>
              <a:t>網路需求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23036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A73"/>
                </a:solidFill>
                <a:latin typeface="Microsoft JhengHei"/>
              </a:rPr>
              <a:t>金錢小達人  ·  第八屆特殊教育教材教具競賽  ·  身心障礙類  ·  中華民國 115 年 3 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83112" y="65105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Microsoft JhengHei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