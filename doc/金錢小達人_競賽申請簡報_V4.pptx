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68780"/>
            <a:ext cx="2926080" cy="73152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383280"/>
            <a:ext cx="2926080" cy="73152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7780"/>
            <a:ext cx="2926080" cy="73152"/>
          </a:xfrm>
          <a:prstGeom prst="rect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2926080" cy="7315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31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icrosoft JhengHei"/>
              </a:rPr>
              <a:t>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icrosoft JhengHei"/>
              </a:rPr>
              <a:t>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icrosoft JhengHei"/>
              </a:rPr>
              <a:t>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0632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icrosoft JhengHei"/>
              </a:rPr>
              <a:t>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40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icrosoft JhengHei"/>
              </a:rPr>
              <a:t>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9377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A8CC"/>
                </a:solidFill>
                <a:latin typeface="Arial"/>
              </a:rPr>
              <a:t>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257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A8CC"/>
                </a:solidFill>
                <a:latin typeface="Arial"/>
              </a:rPr>
              <a:t>TUTOR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84048"/>
            <a:ext cx="8686800" cy="36576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3A5C"/>
                </a:solidFill>
                <a:latin typeface="Microsoft JhengHei"/>
              </a:rPr>
              <a:t>第八屆教育部獎助研發特殊教育教材教具競賽　·　身心障礙類　·　國民中學及高級中等學校組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9601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A5C"/>
                </a:solidFill>
                <a:latin typeface="Microsoft JhengHei"/>
              </a:rPr>
              <a:t>互動式特殊教育生活數學暨金融素養教學軟體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46304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55A"/>
                </a:solidFill>
                <a:latin typeface="Arial"/>
              </a:rPr>
              <a:t>Interactive Software for Financial Literacy in Special Education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1920240"/>
            <a:ext cx="8503920" cy="0"/>
          </a:xfrm>
          <a:prstGeom prst="line">
            <a:avLst/>
          </a:prstGeom>
          <a:ln w="19050">
            <a:solidFill>
              <a:srgbClr val="D6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0" y="2029968"/>
            <a:ext cx="2011680" cy="1115568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6FB8"/>
                </a:solidFill>
                <a:latin typeface="Microsoft JhengHei"/>
              </a:rPr>
              <a:t>F 系列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7249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271E"/>
                </a:solidFill>
                <a:latin typeface="Microsoft JhengHei"/>
              </a:rPr>
              <a:t>數學基礎先備
6 個互動單元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2029968"/>
            <a:ext cx="2011680" cy="1115568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7A4E"/>
                </a:solidFill>
                <a:latin typeface="Microsoft JhengHei"/>
              </a:rPr>
              <a:t>C 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7249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271E"/>
                </a:solidFill>
                <a:latin typeface="Microsoft JhengHei"/>
              </a:rPr>
              <a:t>貨幣認知建立
6 個互動單元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029968"/>
            <a:ext cx="2011680" cy="1115568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440C"/>
                </a:solidFill>
                <a:latin typeface="Microsoft JhengHei"/>
              </a:rPr>
              <a:t>A 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7249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271E"/>
                </a:solidFill>
                <a:latin typeface="Microsoft JhengHei"/>
              </a:rPr>
              <a:t>真實情境類化
6 個互動單元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029968"/>
            <a:ext cx="2011680" cy="1115568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2084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2FBE"/>
                </a:solidFill>
                <a:latin typeface="Microsoft JhengHei"/>
              </a:rPr>
              <a:t>B 系列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7249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271E"/>
                </a:solidFill>
                <a:latin typeface="Microsoft JhengHei"/>
              </a:rPr>
              <a:t>預算規劃延伸
6 個互動單元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00400" y="3273552"/>
            <a:ext cx="8503920" cy="0"/>
          </a:xfrm>
          <a:prstGeom prst="line">
            <a:avLst/>
          </a:prstGeom>
          <a:ln w="12700">
            <a:solidFill>
              <a:srgbClr val="D6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00400" y="336499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6FB8"/>
                </a:solidFill>
                <a:latin typeface="Microsoft JhengHei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7673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55A"/>
                </a:solidFill>
                <a:latin typeface="Microsoft JhengHei"/>
              </a:rPr>
              <a:t>互動教學單元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336499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7A4E"/>
                </a:solidFill>
                <a:latin typeface="Microsoft JhengHei"/>
              </a:rPr>
              <a:t>4 系列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9472" y="37673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55A"/>
                </a:solidFill>
                <a:latin typeface="Microsoft JhengHei"/>
              </a:rPr>
              <a:t>課程序階設計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336499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440C"/>
                </a:solidFill>
                <a:latin typeface="Microsoft JhengHei"/>
              </a:rPr>
              <a:t>150,000+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37673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55A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336499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2FBE"/>
                </a:solidFill>
                <a:latin typeface="Microsoft JhengHei"/>
              </a:rPr>
              <a:t>NT$ 0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37673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55A"/>
                </a:solidFill>
                <a:latin typeface="Microsoft JhengHei"/>
              </a:rPr>
              <a:t>授權費用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36499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C7C72"/>
                </a:solidFill>
                <a:latin typeface="Microsoft JhengHei"/>
              </a:rPr>
              <a:t>完全離線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6688" y="37673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55A"/>
                </a:solidFill>
                <a:latin typeface="Microsoft JhengHei"/>
              </a:rPr>
              <a:t>無需網路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00400" y="4133087"/>
            <a:ext cx="8503920" cy="0"/>
          </a:xfrm>
          <a:prstGeom prst="line">
            <a:avLst/>
          </a:prstGeom>
          <a:ln w="12700">
            <a:solidFill>
              <a:srgbClr val="D6C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0" y="4224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Microsoft JhengHei"/>
              </a:rPr>
              <a:t>🎯 適用對象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國中～高中特教班・資源班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80060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55A"/>
                </a:solidFill>
                <a:latin typeface="Microsoft JhengHei"/>
              </a:rPr>
              <a:t>輕度至中度智能障礙・自閉症・學習障礙・多重障礙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5212080"/>
            <a:ext cx="8229600" cy="38404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0128" y="5285232"/>
            <a:ext cx="8010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✦ 科技輔助教學軟體（HTML5）・免安裝・完全離線・授權費 0 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55A"/>
                </a:solidFill>
                <a:latin typeface="Microsoft JhengHei"/>
              </a:rPr>
              <a:t>中華民國 115 年 3 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簡報綱要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Table of 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024128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024128"/>
            <a:ext cx="73152" cy="1005840"/>
          </a:xfrm>
          <a:prstGeom prst="roundRect">
            <a:avLst>
              <a:gd name="adj" fmla="val 0"/>
            </a:avLst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3385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2B27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133856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設計動機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481328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特教現場三重結構性困境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024128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024128"/>
            <a:ext cx="73152" cy="100584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3385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440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133856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設計理念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481328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UDL × 工作分析 × 直接教學 × 融合三層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1024128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1024128"/>
            <a:ext cx="73152" cy="1005840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13385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B8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133856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F 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1481328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數學基礎先備 6 單元序階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2139696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" y="2139696"/>
            <a:ext cx="73152" cy="100584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24942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7A4E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249424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C 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596896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貨幣認知建立 6 單元序階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2139696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2139696"/>
            <a:ext cx="73152" cy="100584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224942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440C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2249424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A 系列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2596896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真實情境類化 6 單元序階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7888" y="2139696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7888" y="2139696"/>
            <a:ext cx="73152" cy="1005840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24942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2FBE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2249424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B 系列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2596896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預算規劃延伸 6 單元介紹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3255264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" y="3255264"/>
            <a:ext cx="73152" cy="1005840"/>
          </a:xfrm>
          <a:prstGeom prst="roundRect">
            <a:avLst>
              <a:gd name="adj" fmla="val 0"/>
            </a:avLst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36499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C7C72"/>
                </a:solidFill>
                <a:latin typeface="Arial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3364992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輔助點擊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" y="3712464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精細動作障礙首創解方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255264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255264"/>
            <a:ext cx="73152" cy="1005840"/>
          </a:xfrm>
          <a:prstGeom prst="roundRect">
            <a:avLst>
              <a:gd name="adj" fmla="val 0"/>
            </a:avLst>
          </a:prstGeom>
          <a:solidFill>
            <a:srgbClr val="B4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36499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5D07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3364992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三難度系統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3712464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簡單 / 普通 / 困難完整比較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7888" y="3255264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47888" y="3255264"/>
            <a:ext cx="73152" cy="1005840"/>
          </a:xfrm>
          <a:prstGeom prst="roundRect">
            <a:avLst>
              <a:gd name="adj" fmla="val 0"/>
            </a:avLst>
          </a:prstGeom>
          <a:solidFill>
            <a:srgbClr val="3A2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336499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A2FB0"/>
                </a:solidFill>
                <a:latin typeface="Arial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5128" y="3364992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工作分析法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25128" y="3712464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步驟化教學流程圖解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" y="4370832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2608" y="4370832"/>
            <a:ext cx="73152" cy="100584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805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7A4E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" y="4480560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融合教育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" y="4828032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三層支持架構圖解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4370832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70248" y="4370832"/>
            <a:ext cx="73152" cy="1005840"/>
          </a:xfrm>
          <a:prstGeom prst="roundRect">
            <a:avLst>
              <a:gd name="adj" fmla="val 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34840" y="44805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  <a:latin typeface="Arial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4480560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課程法規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4828032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IEP / 特教法 / 課綱對應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47888" y="4370832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47888" y="4370832"/>
            <a:ext cx="73152" cy="1005840"/>
          </a:xfrm>
          <a:prstGeom prst="roundRect">
            <a:avLst>
              <a:gd name="adj" fmla="val 0"/>
            </a:avLst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44805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2B27"/>
                </a:solidFill>
                <a:latin typeface="Arial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5128" y="4480560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試教觀察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25128" y="4828032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三個個案・類化轉折記錄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" y="5486400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2608" y="5486400"/>
            <a:ext cx="73152" cy="1005840"/>
          </a:xfrm>
          <a:prstGeom prst="roundRect">
            <a:avLst>
              <a:gd name="adj" fmla="val 0"/>
            </a:avLst>
          </a:prstGeom>
          <a:solidFill>
            <a:srgbClr val="B4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5961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5D07"/>
                </a:solidFill>
                <a:latin typeface="Arial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" y="5596128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預期成效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" y="5943600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三層面 × 短中長期指標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5486400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5486400"/>
            <a:ext cx="73152" cy="1005840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55961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6FB8"/>
                </a:solidFill>
                <a:latin typeface="Arial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47488" y="5596128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技術規格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47488" y="5943600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無障礙設計・作業單系統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47888" y="5486400"/>
            <a:ext cx="37673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47888" y="5486400"/>
            <a:ext cx="73152" cy="1005840"/>
          </a:xfrm>
          <a:prstGeom prst="roundRect">
            <a:avLst>
              <a:gd name="adj" fmla="val 0"/>
            </a:avLst>
          </a:prstGeom>
          <a:solidFill>
            <a:srgbClr val="2C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0" y="55961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271E"/>
                </a:solidFill>
                <a:latin typeface="Arial"/>
              </a:rP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25128" y="5596128"/>
            <a:ext cx="2880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71E"/>
                </a:solidFill>
                <a:latin typeface="Microsoft JhengHei"/>
              </a:rPr>
              <a:t>核心創新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25128" y="5943600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55A"/>
                </a:solidFill>
                <a:latin typeface="Microsoft JhengHei"/>
              </a:rPr>
              <a:t>四大首創特色・結語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B9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設計動機——特教現場三重結構性困境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壹、來自十五年特教現場的教材研發回應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" cy="292608"/>
          </a:xfrm>
          <a:prstGeom prst="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097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2B27"/>
                </a:solidFill>
                <a:latin typeface="Microsoft JhengHei"/>
              </a:rPr>
              <a:t>三個結構性問題  →  一個系統性解方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444752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1444752"/>
            <a:ext cx="3767328" cy="420624"/>
          </a:xfrm>
          <a:prstGeom prst="roundRect">
            <a:avLst>
              <a:gd name="adj" fmla="val 0"/>
            </a:avLst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481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困境一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9476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2B27"/>
                </a:solidFill>
                <a:latin typeface="Microsoft JhengHei"/>
              </a:rPr>
              <a:t>交易序列的意義理解障礙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2340864"/>
            <a:ext cx="3493008" cy="274320"/>
          </a:xfrm>
          <a:prstGeom prst="roundRect">
            <a:avLst>
              <a:gd name="adj" fmla="val 20000"/>
            </a:avLst>
          </a:prstGeom>
          <a:solidFill>
            <a:srgbClr val="FD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34086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92B27"/>
                </a:solidFill>
                <a:latin typeface="Microsoft JhengHei"/>
              </a:rPr>
              <a:t>個案・小涵（14歲，輕度智能障礙）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24912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能計算 100−35=65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卻反覆困惑「我有多少錢？」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  與「這個東西多少錢？」的連結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→ 問題不在數字，在交易序列的邏輯鏈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4663440"/>
            <a:ext cx="3493008" cy="65836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4736592"/>
            <a:ext cx="3273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交易序列 = 付出 → 接受 → 驗收
三步驟意義理解是核心障礙點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444752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444752"/>
            <a:ext cx="3767328" cy="420624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481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困境二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19476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安全練習場域的長期缺位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2340864"/>
            <a:ext cx="3493008" cy="274320"/>
          </a:xfrm>
          <a:prstGeom prst="roundRect">
            <a:avLst>
              <a:gd name="adj" fmla="val 20000"/>
            </a:avLst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34086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440C"/>
                </a:solidFill>
                <a:latin typeface="Microsoft JhengHei"/>
              </a:rPr>
              <a:t>個案・小俊（輕度自閉症）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724912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速食店自助點餐機選擇迴路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顧客催促誘發情緒失調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此後一學期迴避相關學習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→ 真實環境試誤風險過高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4663440"/>
            <a:ext cx="3493008" cy="65836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4736592"/>
            <a:ext cx="3273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特教現場迫切需要：
允許無限次安全嘗試・失敗零社會後果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444752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1444752"/>
            <a:ext cx="3767328" cy="420624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1481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困境三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19476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Microsoft JhengHei"/>
              </a:rPr>
              <a:t>系統性課程工具的十年缺口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2340864"/>
            <a:ext cx="3493008" cy="274320"/>
          </a:xfrm>
          <a:prstGeom prst="roundRect">
            <a:avLst>
              <a:gd name="adj" fmla="val 20000"/>
            </a:avLst>
          </a:prstGeom>
          <a:solidFill>
            <a:srgbClr val="EEE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234086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B2FBE"/>
                </a:solidFill>
                <a:latin typeface="Microsoft JhengHei"/>
              </a:rPr>
              <a:t>課綱依據：生管-Ⅳ-E-1／F-1／E-4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724912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課綱明確列出財務管理學習主題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市場無對應互動軟體達十年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✗ 教師只能自製紙本，缺乏動態回饋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→ 系統性工具缺口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5048" y="4663440"/>
            <a:ext cx="3493008" cy="65836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4736592"/>
            <a:ext cx="3273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《十二年國教特殊需求領域課程綱要》
2019 頁 45–52 明確要求，市場空白十年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設計理念——四大教育理論支柱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貳、UDL × 工作分析法 × 直接教學法 × 融合教育三層支持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00200"/>
            <a:ext cx="2743200" cy="457200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Microsoft JhengHe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21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D6FB8"/>
                </a:solidFill>
                <a:latin typeface="Microsoft JhengHei"/>
              </a:rPr>
              <a:t>UDL 通用設計學習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487168"/>
            <a:ext cx="2377440" cy="0"/>
          </a:xfrm>
          <a:prstGeom prst="line">
            <a:avLst/>
          </a:prstGeom>
          <a:ln w="127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1208" y="256032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多元表徵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多元行動與表達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多元參與方式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4187952"/>
            <a:ext cx="2523744" cy="50292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261104"/>
            <a:ext cx="230428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CAST 2018 框架
系統落實三大原則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16002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1600200"/>
            <a:ext cx="2743200" cy="45720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Microsoft JhengHei"/>
              </a:rP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121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47A4E"/>
                </a:solidFill>
                <a:latin typeface="Microsoft JhengHei"/>
              </a:rPr>
              <a:t>工作分析法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38728" y="2487168"/>
            <a:ext cx="2377440" cy="0"/>
          </a:xfrm>
          <a:prstGeom prst="line">
            <a:avLst/>
          </a:prstGeom>
          <a:ln w="1270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93008" y="256032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拆解操作步驟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每步可單獨評量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IEP 行為目標格式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5576" y="4187952"/>
            <a:ext cx="2523744" cy="50292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4261104"/>
            <a:ext cx="230428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Gold 1980
Snell &amp; Brown 2011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16002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1600200"/>
            <a:ext cx="2743200" cy="45720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Microsoft JhengHei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121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0440C"/>
                </a:solidFill>
                <a:latin typeface="Microsoft JhengHei"/>
              </a:rPr>
              <a:t>直接教學法三階段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0528" y="2487168"/>
            <a:ext cx="2377440" cy="0"/>
          </a:xfrm>
          <a:prstGeom prst="line">
            <a:avLst/>
          </a:prstGeom>
          <a:ln w="1270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64808" y="256032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I 示範階段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II 引導練習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III 獨立操作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7376" y="4187952"/>
            <a:ext cx="2523744" cy="50292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261104"/>
            <a:ext cx="230428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Engelmann &amp; Carnine 1982
難度漸進設計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9448" y="16002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2032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99448" y="1600200"/>
            <a:ext cx="2743200" cy="457200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9448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latin typeface="Microsoft JhengHei"/>
              </a:rPr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2121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7B2FBE"/>
                </a:solidFill>
                <a:latin typeface="Microsoft JhengHei"/>
              </a:rPr>
              <a:t>融合教育三層支持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82328" y="2487168"/>
            <a:ext cx="2377440" cy="0"/>
          </a:xfrm>
          <a:prstGeom prst="line">
            <a:avLst/>
          </a:prstGeom>
          <a:ln w="12700">
            <a:solidFill>
              <a:srgbClr val="7B2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436608" y="256032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L1 普通班同步參與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L2 資源班強化練習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L3 自足班精熟學習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09176" y="4187952"/>
            <a:ext cx="2523744" cy="50292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8904" y="4261104"/>
            <a:ext cx="230428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特殊教育法 §28
最少限制環境原則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4864608"/>
            <a:ext cx="11430000" cy="475488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 w="1524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90118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  <a:latin typeface="Microsoft JhengHei"/>
              </a:rPr>
              <a:t>🔗 四大理論整合應用：相同教材・相同目標方向，差異在「支持程度（Level of Support）」，而非課程內容的全然切割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課程架構全覽——四系列 24 單元完整序階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三層遞進設計：數學基礎 → 貨幣認知 → 真實情境 → 預算規劃延伸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1078992"/>
            <a:ext cx="8961120" cy="868680"/>
          </a:xfrm>
          <a:prstGeom prst="roundRect">
            <a:avLst>
              <a:gd name="adj" fmla="val 8000"/>
            </a:avLst>
          </a:prstGeom>
          <a:solidFill>
            <a:srgbClr val="EEE0FB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088" y="1078992"/>
            <a:ext cx="1280160" cy="868680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1521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B 系列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152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Microsoft JhengHei"/>
              </a:rPr>
              <a:t>預算規劃延伸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4808" y="12618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B1–B6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118872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今日帶多少錢・零用錢日記・存錢計畫・特賣比一比・生日派對預算・菜市場買菜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2121408"/>
            <a:ext cx="9875520" cy="868680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5688" y="2121408"/>
            <a:ext cx="1280160" cy="86868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1945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 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194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真實情境類化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50408" y="23042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0408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A1–A6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2311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自動販賣機・理髮廳・麥當勞・超市購物・ATM・火車票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" y="3163824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D5F0E3"/>
          </a:solidFill>
          <a:ln w="228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1288" y="3163824"/>
            <a:ext cx="1280160" cy="86868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32369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C 系列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8" y="32369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E"/>
                </a:solidFill>
                <a:latin typeface="Microsoft JhengHei"/>
              </a:rPr>
              <a:t>貨幣認知建立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6008" y="334670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346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C1–C6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327355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認識錢幣・數錢・換錢・付款・夠不夠・找零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4206240"/>
            <a:ext cx="11704320" cy="86868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228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" y="4206240"/>
            <a:ext cx="1280160" cy="868680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42793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F 系列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Microsoft JhengHei"/>
              </a:rPr>
              <a:t>數學基礎先備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21608" y="438912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1608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F1–F6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0328" y="4315968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一對一對應・唱數・數字認讀・數字排序・量比較・數的組成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1463040"/>
            <a:ext cx="274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55A"/>
                </a:solidFill>
                <a:latin typeface="Microsoft JhengHei"/>
              </a:rPr>
              <a:t>學
習
方
向
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21808"/>
            <a:ext cx="116128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394960"/>
            <a:ext cx="109728" cy="256032"/>
          </a:xfrm>
          <a:prstGeom prst="roundRect">
            <a:avLst>
              <a:gd name="adj" fmla="val 4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94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國小中高年級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394960"/>
            <a:ext cx="109728" cy="256032"/>
          </a:xfrm>
          <a:prstGeom prst="roundRect">
            <a:avLst>
              <a:gd name="adj" fmla="val 4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5394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A4E"/>
                </a:solidFill>
                <a:latin typeface="Microsoft JhengHei"/>
              </a:rPr>
              <a:t>國中特教班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394960"/>
            <a:ext cx="109728" cy="256032"/>
          </a:xfrm>
          <a:prstGeom prst="roundRect">
            <a:avLst>
              <a:gd name="adj" fmla="val 4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394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高中特教班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5394960"/>
            <a:ext cx="109728" cy="256032"/>
          </a:xfrm>
          <a:prstGeom prst="roundRect">
            <a:avLst>
              <a:gd name="adj" fmla="val 400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5394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Microsoft JhengHei"/>
              </a:rPr>
              <a:t>延伸應用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943600"/>
            <a:ext cx="1161288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016752"/>
            <a:ext cx="11393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✦ 每系列包含 6 個互動單元，共 24 個教學單元；各系列可獨立使用，亦可完整序階進行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F 系列——數學基礎先備技能模組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適用：國小中高年級至國中　目標：建立貨幣操作所需數學先備技能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F1 一對一對應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拖曳物件配對
建立數量等量直觀理解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F2 唱數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視覺化數列
將數量轉化為語言序列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F3 數字認讀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數字辨識練習
10種自訂主題圖示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F4 數字排序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大小排列拖曳
建立數字序列概念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F5 量比較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視覺化比較
多少大小量的判斷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F6 數的組成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分解與組合
理解數字內部結構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C 系列——貨幣認知建立模組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適用：國中至高中　目標：建立完整的金錢認知與交易技能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C1 認識錢幣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台灣9種面額辨識
硬幣/紙鈔正反面記憶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C2 數錢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多幣種混合計算
逐枚累加的程序性技能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C3 換錢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面額兌換練習
小換大/大換小雙向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C4 付款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湊出指定金額
面額組合最佳化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C5 夠不夠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比較金額與售價
判斷足額與否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1905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C6 找零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計算找零金額
完整交易閉環驗收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943600"/>
            <a:ext cx="1152144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6016752"/>
            <a:ext cx="11301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📌 C 系列學習完成後建議進入 A 系列——將靜態貨幣技能類化至真實情境設備操作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A 系列——真實情境類化模組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適用：國中至高中　目標：社區設備獨立操作・類化至真實生活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A1 自動販賣機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投幣選飲料・找零取貨
7步驟完整操作序列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A2 理髮廳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觸控繳費機操作
預付服務選擇付款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A3 麥當勞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自助點餐機流程
餐點選擇・付款・取餐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A4 超市購物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收銀台購物結帳
商品掃描・付款・找零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A5 ATM 操作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提款・存款・轉帳
金融自助設備完整流程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1905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A6 火車票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自動售票機購票
車站選擇・付款・取票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943600"/>
            <a:ext cx="1152144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6016752"/>
            <a:ext cx="11301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🎯 A 系列終極目標：教師 3 公尺外觀察，學生在真實社區環境完全獨立操作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7B2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B 系列——預算規劃延伸模組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適用：國中至高中　目標：日常預算管理與消費決策能力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B1 今天帶多少錢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依行程規劃所需金額
場景類別・費用明細計算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B2 零用錢日記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記帳概念建立
收支追蹤・餘額計算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15568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1161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B3 存錢計畫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19" y="11338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1664208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月曆存錢模擬
目標設定・週存金額規劃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B4 特賣比一比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🏷️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商品比價能力
兩商店/三商店/單位比價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B5 生日派對預算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預算分配決策
必買/選購 項目規劃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602736"/>
            <a:ext cx="3767328" cy="228600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602736"/>
            <a:ext cx="3767328" cy="402336"/>
          </a:xfrm>
          <a:prstGeom prst="roundRect">
            <a:avLst>
              <a:gd name="adj" fmla="val 0"/>
            </a:avLst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9" y="3648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B6 菜市場買菜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19" y="362102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Microsoft JhengHei"/>
              </a:rPr>
              <a:t>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4151376"/>
            <a:ext cx="3438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71E"/>
                </a:solidFill>
                <a:latin typeface="Microsoft JhengHei"/>
              </a:rPr>
              <a:t>採購清單執行
多攤位・付款・找零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0C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輔助點擊模式——精細動作障礙首創解方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全 24 單元支援，僅需「單一點擊」即可完成所有操作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54864" cy="292608"/>
          </a:xfrm>
          <a:prstGeom prst="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2B27"/>
                </a:solidFill>
                <a:latin typeface="Microsoft JhengHei"/>
              </a:rPr>
              <a:t>傳統障礙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DE8E7"/>
          </a:solidFill>
          <a:ln w="17780"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33284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>
                <a:solidFill>
                  <a:srgbClr val="B92B27"/>
                </a:solidFill>
                <a:latin typeface="Microsoft JhengHei"/>
              </a:rPr>
              <a:t>✗ 拖曳操作需精確手部控制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B92B27"/>
                </a:solidFill>
                <a:latin typeface="Microsoft JhengHei"/>
              </a:rPr>
              <a:t>✗ 觸控滑動對肢障學生困難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B92B27"/>
                </a:solidFill>
                <a:latin typeface="Microsoft JhengHei"/>
              </a:rPr>
              <a:t>✗ 多步驟操作序列記憶負擔重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B92B27"/>
                </a:solidFill>
                <a:latin typeface="Microsoft JhengHei"/>
              </a:rPr>
              <a:t>✗ 失誤容易導致情緒挫折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536192"/>
            <a:ext cx="914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7C72"/>
                </a:solidFill>
                <a:latin typeface="Microsoft JhengHei"/>
              </a:rPr>
              <a:t>→
輔助
點擊
解方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115568"/>
            <a:ext cx="54864" cy="292608"/>
          </a:xfrm>
          <a:prstGeom prst="rect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7C72"/>
                </a:solidFill>
                <a:latin typeface="Microsoft JhengHei"/>
              </a:rPr>
              <a:t>輔助點擊解方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46304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CEF5F1"/>
          </a:solidFill>
          <a:ln w="17780">
            <a:solidFill>
              <a:srgbClr val="0C7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1572768"/>
            <a:ext cx="33284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>
                <a:solidFill>
                  <a:srgbClr val="0C7C72"/>
                </a:solidFill>
                <a:latin typeface="Microsoft JhengHei"/>
              </a:rPr>
              <a:t>✓ 系統自動偵測點擊位置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0C7C72"/>
                </a:solidFill>
                <a:latin typeface="Microsoft JhengHei"/>
              </a:rPr>
              <a:t>✓ 黃色邊框視覺提示下一步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0C7C72"/>
                </a:solidFill>
                <a:latin typeface="Microsoft JhengHei"/>
              </a:rPr>
              <a:t>✓ 自動引導至正確目標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0C7C72"/>
                </a:solidFill>
                <a:latin typeface="Microsoft JhengHei"/>
              </a:rPr>
              <a:t>✓ 全程只需「點擊」不需拖曳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115568"/>
            <a:ext cx="54864" cy="2926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Microsoft JhengHei"/>
              </a:rPr>
              <a:t>適用對象說明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463040"/>
            <a:ext cx="2834640" cy="2011680"/>
          </a:xfrm>
          <a:prstGeom prst="roundRect">
            <a:avLst>
              <a:gd name="adj" fmla="val 8000"/>
            </a:avLst>
          </a:prstGeom>
          <a:solidFill>
            <a:srgbClr val="EEE0FB"/>
          </a:solidFill>
          <a:ln w="1778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572768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7B2FBE"/>
                </a:solidFill>
                <a:latin typeface="Microsoft JhengHei"/>
              </a:rPr>
              <a:t>• 腦性麻痺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7B2FBE"/>
                </a:solidFill>
                <a:latin typeface="Microsoft JhengHei"/>
              </a:rPr>
              <a:t>• 脊髓損傷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7B2FBE"/>
                </a:solidFill>
                <a:latin typeface="Microsoft JhengHei"/>
              </a:rPr>
              <a:t>• 肌肉萎縮症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7B2FBE"/>
                </a:solidFill>
                <a:latin typeface="Microsoft JhengHei"/>
              </a:rPr>
              <a:t>• 其他精細動作困難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7B2FBE"/>
                </a:solidFill>
                <a:latin typeface="Microsoft JhengHei"/>
              </a:rPr>
              <a:t>• 注意力不足過動症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54864" cy="292608"/>
          </a:xfrm>
          <a:prstGeom prst="rect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" y="3703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7C72"/>
                </a:solidFill>
                <a:latin typeface="Microsoft JhengHei"/>
              </a:rPr>
              <a:t>輔助點擊操作流程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4069080"/>
            <a:ext cx="411480" cy="411480"/>
          </a:xfrm>
          <a:prstGeom prst="ellipse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4572000"/>
            <a:ext cx="960120" cy="512064"/>
          </a:xfrm>
          <a:prstGeom prst="roundRect">
            <a:avLst>
              <a:gd name="adj" fmla="val 8000"/>
            </a:avLst>
          </a:prstGeom>
          <a:solidFill>
            <a:srgbClr val="CEF5F1"/>
          </a:solidFill>
          <a:ln w="15240">
            <a:solidFill>
              <a:srgbClr val="0C7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" y="460857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7C72"/>
                </a:solidFill>
                <a:latin typeface="Microsoft JhengHei"/>
              </a:rPr>
              <a:t>啟用輔助點擊模式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2706624" y="4069080"/>
            <a:ext cx="411480" cy="411480"/>
          </a:xfrm>
          <a:prstGeom prst="ellipse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32304" y="4572000"/>
            <a:ext cx="960120" cy="512064"/>
          </a:xfrm>
          <a:prstGeom prst="roundRect">
            <a:avLst>
              <a:gd name="adj" fmla="val 8000"/>
            </a:avLst>
          </a:prstGeom>
          <a:solidFill>
            <a:srgbClr val="CEF5F1"/>
          </a:solidFill>
          <a:ln w="15240">
            <a:solidFill>
              <a:srgbClr val="0C7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460857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7C72"/>
                </a:solidFill>
                <a:latin typeface="Microsoft JhengHei"/>
              </a:rPr>
              <a:t>出現黃色提示框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5047488" y="4069080"/>
            <a:ext cx="411480" cy="411480"/>
          </a:xfrm>
          <a:prstGeom prst="ellipse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3168" y="4572000"/>
            <a:ext cx="960120" cy="512064"/>
          </a:xfrm>
          <a:prstGeom prst="roundRect">
            <a:avLst>
              <a:gd name="adj" fmla="val 8000"/>
            </a:avLst>
          </a:prstGeom>
          <a:solidFill>
            <a:srgbClr val="CEF5F1"/>
          </a:solidFill>
          <a:ln w="15240">
            <a:solidFill>
              <a:srgbClr val="0C7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460857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7C72"/>
                </a:solidFill>
                <a:latin typeface="Microsoft JhengHei"/>
              </a:rPr>
              <a:t>點擊任意處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8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38" name="Oval 37"/>
          <p:cNvSpPr/>
          <p:nvPr/>
        </p:nvSpPr>
        <p:spPr>
          <a:xfrm>
            <a:off x="7388352" y="4069080"/>
            <a:ext cx="411480" cy="411480"/>
          </a:xfrm>
          <a:prstGeom prst="ellipse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14032" y="4572000"/>
            <a:ext cx="960120" cy="512064"/>
          </a:xfrm>
          <a:prstGeom prst="roundRect">
            <a:avLst>
              <a:gd name="adj" fmla="val 8000"/>
            </a:avLst>
          </a:prstGeom>
          <a:solidFill>
            <a:srgbClr val="CEF5F1"/>
          </a:solidFill>
          <a:ln w="15240">
            <a:solidFill>
              <a:srgbClr val="0C7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460857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7C72"/>
                </a:solidFill>
                <a:latin typeface="Microsoft JhengHei"/>
              </a:rPr>
              <a:t>自動執行下一步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43" name="Oval 42"/>
          <p:cNvSpPr/>
          <p:nvPr/>
        </p:nvSpPr>
        <p:spPr>
          <a:xfrm>
            <a:off x="9729216" y="4069080"/>
            <a:ext cx="411480" cy="411480"/>
          </a:xfrm>
          <a:prstGeom prst="ellipse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29216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4572000"/>
            <a:ext cx="960120" cy="512064"/>
          </a:xfrm>
          <a:prstGeom prst="roundRect">
            <a:avLst>
              <a:gd name="adj" fmla="val 8000"/>
            </a:avLst>
          </a:prstGeom>
          <a:solidFill>
            <a:srgbClr val="CEF5F1"/>
          </a:solidFill>
          <a:ln w="15240">
            <a:solidFill>
              <a:srgbClr val="0C7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54896" y="4608576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7C72"/>
                </a:solidFill>
                <a:latin typeface="Microsoft JhengHei"/>
              </a:rPr>
              <a:t>完成任務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285232"/>
            <a:ext cx="11430000" cy="38404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535838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✦ 首創設計：市場上同類型特教軟體中，首個支援「全程單一點擊」輔助模式的教學軟體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B4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B45D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三段難度設計——直接教學法的系統落實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每個單元均提供三種難度，確保從示範到獨立操作的完整進展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11887200" cy="384048"/>
          </a:xfrm>
          <a:prstGeom prst="roundRect">
            <a:avLst>
              <a:gd name="adj" fmla="val 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152144"/>
            <a:ext cx="1536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難度設定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1152144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教學策略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152144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適用學生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1152144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提示類型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6064" y="1152144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評量標準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481328"/>
            <a:ext cx="11887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481328"/>
            <a:ext cx="109728" cy="1188720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1591056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59105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JhengHei"/>
              </a:rPr>
              <a:t>😊 簡單模式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47A4E"/>
                </a:solidFill>
                <a:latin typeface="Microsoft JhengHei"/>
              </a:rPr>
              <a:t>（Easy）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155448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完整步驟提示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視覺指引箭頭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自動輔助確認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155448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初學者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需要高度支持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建立程序記憶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155448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黃色邊框高亮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語音提示每步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輔助點擊可用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155448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完成即通過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無時間限制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IEP 最低指標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1911096"/>
            <a:ext cx="11887200" cy="1188720"/>
          </a:xfrm>
          <a:prstGeom prst="rect">
            <a:avLst/>
          </a:prstGeom>
          <a:solidFill>
            <a:srgbClr val="F0ECE3"/>
          </a:solidFill>
          <a:ln w="1270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1911096"/>
            <a:ext cx="109728" cy="1188720"/>
          </a:xfrm>
          <a:prstGeom prst="rect">
            <a:avLst/>
          </a:prstGeom>
          <a:solidFill>
            <a:srgbClr val="B4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020824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B4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020824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JhengHei"/>
              </a:rPr>
              <a:t>😐 普通模式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368296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45D07"/>
                </a:solidFill>
                <a:latin typeface="Microsoft JhengHei"/>
              </a:rPr>
              <a:t>（Normal）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" y="198424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提示鈕按需提示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3次錯誤自動提示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減少自動引導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198424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中級學習者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部分提示需求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強化記憶階段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198424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錯誤時紅色提示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按鈕觸發提示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語音選擇性播放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198424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正確率計算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計時評量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IEP 達成目標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340864"/>
            <a:ext cx="11887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2340864"/>
            <a:ext cx="109728" cy="1188720"/>
          </a:xfrm>
          <a:prstGeom prst="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2450592"/>
            <a:ext cx="1444752" cy="274320"/>
          </a:xfrm>
          <a:prstGeom prst="roundRect">
            <a:avLst>
              <a:gd name="adj" fmla="val 20000"/>
            </a:avLst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450592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JhengHei"/>
              </a:rPr>
              <a:t>😤 困難模式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798064"/>
            <a:ext cx="1444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92B27"/>
                </a:solidFill>
                <a:latin typeface="Microsoft JhengHei"/>
              </a:rPr>
              <a:t>（Hard）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832" y="241401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僅語音引導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無視覺提示框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完全靠記憶操作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41401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進階學習者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準備類化至現實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類化前最終確認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241401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語音提示僅一次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無自動輔助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錯誤需重新嘗試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241401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完整正確率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最短時間紀錄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• 類化準備指標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5193792"/>
            <a:ext cx="11631168" cy="36576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266944"/>
            <a:ext cx="11411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+ 輔助點擊模式：可疊加於任何難度層級，解決精細動作障礙學生的操作問題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5650992"/>
            <a:ext cx="11631168" cy="621792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74243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A5C"/>
                </a:solidFill>
                <a:latin typeface="Microsoft JhengHei"/>
              </a:rPr>
              <a:t>IEP 目標對應：  簡單模式 → 「在口語提示下完成」(VP)　｜　普通模式 → 「在示範提示下完成」(M)　｜　困難模式 → 「獨立完成」(I)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工作分析法——步驟化教學流程圖解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Gold 1980 / Snell &amp; Brown 2011 系統應用　以 A1 自動販賣機為例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0700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100584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2412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16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Microsoft JhengHei"/>
              </a:rPr>
              <a:t>確認攜帶金額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1907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開啟錢包・核對面額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8653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20700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74136" y="100584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02412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1316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Microsoft JhengHei"/>
              </a:rPr>
              <a:t>選擇目標飲料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171907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瀏覽選單・確認售價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8653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20700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1005840"/>
            <a:ext cx="457200" cy="457200"/>
          </a:xfrm>
          <a:prstGeom prst="ellipse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02412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316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E"/>
                </a:solidFill>
                <a:latin typeface="Microsoft JhengHei"/>
              </a:rPr>
              <a:t>投入硬幣/紙鈔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71907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面額選擇・投入確認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18653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20700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9448" y="1005840"/>
            <a:ext cx="457200" cy="457200"/>
          </a:xfrm>
          <a:prstGeom prst="ellipse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102412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1316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E"/>
                </a:solidFill>
                <a:latin typeface="Microsoft JhengHei"/>
              </a:rPr>
              <a:t>確認金額足夠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171907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螢幕顯示・比對售價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1012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3108960"/>
            <a:ext cx="457200" cy="457200"/>
          </a:xfrm>
          <a:prstGeom prst="ellipse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12724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按下購買鍵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2219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確認按鈕・等待出貨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39684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2696" y="331012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74136" y="3108960"/>
            <a:ext cx="457200" cy="457200"/>
          </a:xfrm>
          <a:prstGeom prst="ellipse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74136" y="312724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9856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取出飲料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9856" y="382219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出貨口取出・確認品項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39684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55A"/>
                </a:solidFill>
                <a:latin typeface="Microsoft JhengHe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3310128"/>
            <a:ext cx="2743200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36792" y="3108960"/>
            <a:ext cx="457200" cy="4572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312724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Step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Microsoft JhengHei"/>
              </a:rPr>
              <a:t>確認找零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3822192"/>
            <a:ext cx="2468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找零口取出・核對金額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999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55A"/>
                </a:solidFill>
                <a:latin typeface="Microsoft JhengHei"/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193792"/>
            <a:ext cx="54864" cy="292608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51937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E"/>
                </a:solidFill>
                <a:latin typeface="Microsoft JhengHei"/>
              </a:rPr>
              <a:t>步驟評量記錄格式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532120"/>
            <a:ext cx="9646920" cy="329184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" y="555955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步驟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" y="55595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行為描述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22776" y="55595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I 獨立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0016" y="55595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VP 口語提示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6" y="55595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PP 部分肢體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68896" y="55595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FP 全程協助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03336" y="5559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備注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961888"/>
            <a:ext cx="1143000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6035040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✦ 每步驟均可獨立評量、單獨教學，完整對應 IEP 短期目標行為敘述格式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融合教育三層支持架構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相同教材・相同目標方向，差異在「支持程度」，實現最少限制環境原則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1247120" cy="96012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228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Microsoft JhengHei"/>
              </a:rPr>
              <a:t>Level 1  普通班同步參與路徑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069080"/>
            <a:ext cx="8869680" cy="960120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228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E"/>
                </a:solidFill>
                <a:latin typeface="Microsoft JhengHei"/>
              </a:rPr>
              <a:t>Level 2  資源班強化練習路徑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834640"/>
            <a:ext cx="6309360" cy="960120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Level 3  自足班精熟學習路徑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097280"/>
            <a:ext cx="11430000" cy="1572768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1778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Microsoft JhengHei"/>
              </a:rPr>
              <a:t>Level 1  普通班同步參與路徑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9961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特殊需求學生在普通班數學課中以輔助點擊模式參與相同任務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軟體自動提供支持，教師不須全程個別介入，實現無縫融合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普通班同儕同步了解如何給予適當協助，雙向融合目標同步實現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11430000" cy="1572768"/>
          </a:xfrm>
          <a:prstGeom prst="roundRect">
            <a:avLst>
              <a:gd name="adj" fmla="val 8000"/>
            </a:avLst>
          </a:prstGeom>
          <a:solidFill>
            <a:srgbClr val="D5F0E3"/>
          </a:solidFill>
          <a:ln w="1778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71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A4E"/>
                </a:solidFill>
                <a:latin typeface="Microsoft JhengHei"/>
              </a:rPr>
              <a:t>Level 2  資源班強化練習路徑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8269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資源班抽離課使用，針對個別化弱點進行系統性強化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可在結構化環境中重複練習，不受普通班進度影響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教師可即時調整難度，精確對應 IEP 目標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1572768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778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Level 3  自足班精熟學習路徑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65776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自足式特殊教育班完整課程使用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依學生程度客製化難度與學習路徑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• 作業單輔助評量，系統化記錄進步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446520"/>
            <a:ext cx="1143000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6519672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法規依據：《特殊教育法》第 28 條「依個別需求訂定 IEP」・最少限制環境（LRE）原則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IEP 目標・課綱・法規三對應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課程設計完整對應國家課程綱要與特殊教育法規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3767328" cy="5138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70432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十二年國教課綱對應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62763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7190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190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F系列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17190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17190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6FB8"/>
                </a:solidFill>
                <a:latin typeface="Microsoft JhengHei"/>
              </a:rPr>
              <a:t>生管-Ⅳ-E-1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19659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認識台灣常用貨幣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235915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45059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4505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C系列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2728" y="245059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24505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6FB8"/>
                </a:solidFill>
                <a:latin typeface="Microsoft JhengHei"/>
              </a:rPr>
              <a:t>生管-Ⅳ-E-2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69748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使用金錢購物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309067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" y="318211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18211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C5/C6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2728" y="318211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318211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6FB8"/>
                </a:solidFill>
                <a:latin typeface="Microsoft JhengHei"/>
              </a:rPr>
              <a:t>生管-Ⅳ-E-3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342900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了解找零概念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" y="382219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" y="391363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1363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A系列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52728" y="391363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52728" y="391363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6FB8"/>
                </a:solidFill>
                <a:latin typeface="Microsoft JhengHei"/>
              </a:rPr>
              <a:t>生管-Ⅳ-E-4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16052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社區消費技能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" y="455371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464515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6451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52728" y="464515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2728" y="46451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6FB8"/>
                </a:solidFill>
                <a:latin typeface="Microsoft JhengHei"/>
              </a:rPr>
              <a:t>生管-Ⅳ-F-1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489204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使用自動化設備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" y="528523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" y="53766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53766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B系列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2728" y="53766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52728" y="53766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6FB8"/>
                </a:solidFill>
                <a:latin typeface="Microsoft JhengHei"/>
              </a:rPr>
              <a:t>生管-Ⅳ-G-1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6235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財務管理基礎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0248" y="1115568"/>
            <a:ext cx="3767328" cy="5138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70248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7408" y="1170432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IEP 年度目標範本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07408" y="162763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53128" y="17190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17190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F1-F2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30368" y="17190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0368" y="17190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7A4E"/>
                </a:solidFill>
                <a:latin typeface="Microsoft JhengHei"/>
              </a:rPr>
              <a:t>數學先備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8" y="19659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在口語提示下完成10以內的一對一對應操作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07408" y="235915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53128" y="245059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53128" y="24505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C1-C3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30368" y="245059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30368" y="24505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7A4E"/>
                </a:solidFill>
                <a:latin typeface="Microsoft JhengHei"/>
              </a:rPr>
              <a:t>貨幣認知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269748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獨立辨識台灣六種硬幣並說出面額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07408" y="309067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53128" y="318211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53128" y="318211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C4-C6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30368" y="318211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30368" y="318211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7A4E"/>
                </a:solidFill>
                <a:latin typeface="Microsoft JhengHei"/>
              </a:rPr>
              <a:t>金錢操作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3128" y="342900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在部分協助下完成付款並核對找零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07408" y="382219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53128" y="391363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53128" y="391363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30368" y="391363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30368" y="391363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7A4E"/>
                </a:solidFill>
                <a:latin typeface="Microsoft JhengHei"/>
              </a:rPr>
              <a:t>類化應用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53128" y="416052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獨立完成自動販賣機購買飲料的完整流程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07408" y="455371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53128" y="464515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53128" y="46451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30368" y="464515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30368" y="46451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7A4E"/>
                </a:solidFill>
                <a:latin typeface="Microsoft JhengHei"/>
              </a:rPr>
              <a:t>類化應用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53128" y="489204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在口語提示下完成 ATM 提款操作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07408" y="528523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D5F0E3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53128" y="53766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3128" y="53766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B1-B2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30368" y="53766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30368" y="53766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47A4E"/>
                </a:solidFill>
                <a:latin typeface="Microsoft JhengHei"/>
              </a:rPr>
              <a:t>財務管理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53128" y="56235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能依行程計算所需金額並準備正確零錢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47888" y="1115568"/>
            <a:ext cx="3767328" cy="5138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47888" y="1115568"/>
            <a:ext cx="3767328" cy="402336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85048" y="1170432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法規依據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85048" y="162763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30768" y="17190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30768" y="17190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08008" y="17190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08008" y="17190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40C"/>
                </a:solidFill>
                <a:latin typeface="Microsoft JhengHei"/>
              </a:rPr>
              <a:t>§28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30768" y="19659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依個別需求訂定個別化教育計畫（IEP）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85048" y="235915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30768" y="245059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30768" y="24505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特殊教育法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08008" y="245059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08008" y="24505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40C"/>
                </a:solidFill>
                <a:latin typeface="Microsoft JhengHei"/>
              </a:rPr>
              <a:t>§24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30768" y="269748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提供必要之輔助科技及支援服務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85048" y="309067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30768" y="318211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30768" y="318211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課綱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08008" y="318211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08008" y="318211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40C"/>
                </a:solidFill>
                <a:latin typeface="Microsoft JhengHei"/>
              </a:rPr>
              <a:t>2019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30768" y="342900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特殊需求領域生活管理：財務管理核心主題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85048" y="382219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30768" y="391363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30768" y="391363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CRPD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08008" y="391363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08008" y="391363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40C"/>
                </a:solidFill>
                <a:latin typeface="Microsoft JhengHei"/>
              </a:rPr>
              <a:t>Art.24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30768" y="416052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融合教育・平等受教機會保障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85048" y="455371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430768" y="464515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30768" y="46451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UDL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08008" y="464515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08008" y="46451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40C"/>
                </a:solidFill>
                <a:latin typeface="Microsoft JhengHei"/>
              </a:rPr>
              <a:t>CAST 2018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30768" y="489204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通用設計學習三原則系統落實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85048" y="5285232"/>
            <a:ext cx="3493008" cy="658368"/>
          </a:xfrm>
          <a:prstGeom prst="roundRect">
            <a:avLst>
              <a:gd name="adj" fmla="val 6000"/>
            </a:avLst>
          </a:prstGeom>
          <a:solidFill>
            <a:srgbClr val="FDE8D5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430768" y="53766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30768" y="53766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JhengHei"/>
              </a:rPr>
              <a:t>工作分析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08008" y="5376672"/>
            <a:ext cx="713232" cy="2011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08008" y="537667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440C"/>
                </a:solidFill>
                <a:latin typeface="Microsoft JhengHei"/>
              </a:rPr>
              <a:t>Gold 1980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30768" y="5623560"/>
            <a:ext cx="3264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71E"/>
                </a:solidFill>
                <a:latin typeface="Microsoft JhengHei"/>
              </a:rPr>
              <a:t>步驟化教學完整對應行為目標格式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B92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試教觀察——三個個案・類化窗口的關鍵時刻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肆、試教觀察：學生在第 5–7 次操作後出現程序性記憶語言化信號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115568"/>
            <a:ext cx="3767328" cy="457200"/>
          </a:xfrm>
          <a:prstGeom prst="roundRect">
            <a:avLst>
              <a:gd name="adj" fmla="val 0"/>
            </a:avLst>
          </a:prstGeom>
          <a:solidFill>
            <a:srgbClr val="B9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7043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個案一  小涵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664208"/>
            <a:ext cx="3493008" cy="256032"/>
          </a:xfrm>
          <a:prstGeom prst="roundRect">
            <a:avLst>
              <a:gd name="adj" fmla="val 20000"/>
            </a:avLst>
          </a:prstGeom>
          <a:solidFill>
            <a:srgbClr val="FD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6420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92B27"/>
                </a:solidFill>
                <a:latin typeface="Microsoft JhengHei"/>
              </a:rPr>
              <a:t>14歲 ・輕度智能障礙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2011680"/>
            <a:ext cx="3547872" cy="1481328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0160"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084831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試教前：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計算 100-35=65 正確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實際付款卻反覆困惑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無法連結「我的錢」與「售價」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3566160"/>
            <a:ext cx="3547872" cy="1481328"/>
          </a:xfrm>
          <a:prstGeom prst="roundRect">
            <a:avLst>
              <a:gd name="adj" fmla="val 6000"/>
            </a:avLst>
          </a:prstGeom>
          <a:solidFill>
            <a:srgbClr val="F0FBF4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639312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試教後（第7次操作）：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主動拿出零錢逐枚核對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說出「這個要35元，我有」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程序性記憶語言化出現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5138928"/>
            <a:ext cx="3547872" cy="54864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5212080"/>
            <a:ext cx="3328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突破點：步驟化流程讓「知道計算」
轉化為「理解交易序列意義」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115568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115568"/>
            <a:ext cx="3767328" cy="45720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17043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個案二  小俊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1664208"/>
            <a:ext cx="3493008" cy="256032"/>
          </a:xfrm>
          <a:prstGeom prst="roundRect">
            <a:avLst>
              <a:gd name="adj" fmla="val 20000"/>
            </a:avLst>
          </a:prstGeom>
          <a:solidFill>
            <a:srgbClr val="D5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66420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47A4E"/>
                </a:solidFill>
                <a:latin typeface="Microsoft JhengHei"/>
              </a:rPr>
              <a:t>輕度自閉症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9976" y="2011680"/>
            <a:ext cx="3547872" cy="1481328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0160"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2084831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試教前：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速食店選擇迴路情緒失調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一學期迴避相關學習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聽到「麥當勞」即迴避行為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3566160"/>
            <a:ext cx="3547872" cy="1481328"/>
          </a:xfrm>
          <a:prstGeom prst="roundRect">
            <a:avLst>
              <a:gd name="adj" fmla="val 6000"/>
            </a:avLst>
          </a:prstGeom>
          <a:solidFill>
            <a:srgbClr val="F0FBF4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3639312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A3 試教→社區實地（第3節）：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面對真實觸控機完成完整流程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主動說：「我是7號，還沒叫到我」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等待焦慮顯著改善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9976" y="5138928"/>
            <a:ext cx="3547872" cy="54864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5212080"/>
            <a:ext cx="3328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突破點：安全練習環境建立信心
類化窗口在第5次後自然開啟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115568"/>
            <a:ext cx="3767328" cy="5102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7888" y="1115568"/>
            <a:ext cx="3767328" cy="45720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117043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個案三  小雯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5048" y="1664208"/>
            <a:ext cx="3493008" cy="256032"/>
          </a:xfrm>
          <a:prstGeom prst="roundRect">
            <a:avLst>
              <a:gd name="adj" fmla="val 20000"/>
            </a:avLst>
          </a:prstGeom>
          <a:solidFill>
            <a:srgbClr val="FD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166420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0440C"/>
                </a:solidFill>
                <a:latin typeface="Microsoft JhengHei"/>
              </a:rPr>
              <a:t>販賣機迴避行為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57616" y="2011680"/>
            <a:ext cx="3547872" cy="1481328"/>
          </a:xfrm>
          <a:prstGeom prst="roundRect">
            <a:avLst>
              <a:gd name="adj" fmla="val 6000"/>
            </a:avLst>
          </a:prstGeom>
          <a:solidFill>
            <a:srgbClr val="FFF5F5"/>
          </a:solidFill>
          <a:ln w="10160">
            <a:solidFill>
              <a:srgbClr val="B92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2084831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試教前：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多次因硬幣選錯而失敗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繞道迴避所有自助設備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✗ 告訴教師「那個機器我不會用」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57616" y="3566160"/>
            <a:ext cx="3547872" cy="1481328"/>
          </a:xfrm>
          <a:prstGeom prst="roundRect">
            <a:avLst>
              <a:gd name="adj" fmla="val 6000"/>
            </a:avLst>
          </a:prstGeom>
          <a:solidFill>
            <a:srgbClr val="F0FBF4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6" y="3639312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A1 完成 10 次練習後：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主動走向走廊販賣機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獨立完成選飲料和投幣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✓ 情境迴避行為完全消失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7616" y="5138928"/>
            <a:ext cx="3547872" cy="54864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5212080"/>
            <a:ext cx="33284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突破點：無限次安全嘗試消除
「失敗的社會後果」焦慮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預期成效——三層面×短中長期指標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肆、學生・教師・學校三層面成效，建立完整評估框架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11430000" cy="1664208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78992"/>
            <a:ext cx="1463040" cy="1664208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🎓 學生層面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170432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1243584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24358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短期（1學期）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57276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完成 F/C 系列 80% 以上單元，建立貨幣辨識與付款基礎技能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170432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1243584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24358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中期（1學年）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57276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完成 A 系列 4 個以上單元，達到「部分提示下完成」社區操作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170432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1243584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24358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長期（跨學年）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572768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在真實社區環境獨立完成 ATM 操作・超市購物・自助點餐等日常生活技能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89504"/>
            <a:ext cx="11430000" cy="1664208"/>
          </a:xfrm>
          <a:prstGeom prst="roundRect">
            <a:avLst>
              <a:gd name="adj" fmla="val 8000"/>
            </a:avLst>
          </a:prstGeom>
          <a:solidFill>
            <a:srgbClr val="D5F0E3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889504"/>
            <a:ext cx="1463040" cy="1664208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2958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👩‍🏫 教師層面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2980944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3120" y="3054096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3054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短期（1學期）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熟悉軟體操作，將 IEP 目標有效對應各系列單元，縮短備課時間 50% 以上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2980944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49240" y="3054096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3054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中期（1學年）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建立系統化評量記錄，追蹤學生步驟別進步，提供具體 IEP 報告數據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980944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3054096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0540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長期（跨學年）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累積班級學習資料，形成校本課程材料，分享予特教社群推廣應用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00016"/>
            <a:ext cx="11430000" cy="1664208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700016"/>
            <a:ext cx="1463040" cy="1664208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400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🏫 學校層面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0" y="4791456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03120" y="4864608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03120" y="4864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短期（1學期）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1937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提供零成本數位教材，補充現有紙本教材的互動回饋不足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4791456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49240" y="4864608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240" y="4864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中期（1學年）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51937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建立特教班數位學習環境，支援多元評量實施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4791456"/>
            <a:ext cx="30175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95360" y="4864608"/>
            <a:ext cx="2834640" cy="237744"/>
          </a:xfrm>
          <a:prstGeom prst="roundRect">
            <a:avLst>
              <a:gd name="adj" fmla="val 2000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4864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JhengHei"/>
              </a:rPr>
              <a:t>長期（跨學年）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1937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成為區域特教教材分享典範，連結融合教育推廣政策目標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技術規格與配套系統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二、無障礙設計・作業單系統・獎勵系統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54864" cy="29260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Microsoft JhengHei"/>
              </a:rPr>
              <a:t>技術規格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HTML5 + 純 JavaScript（無框架依賴）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完全離線・免安裝・免伺服器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42032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授權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6334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NT$ 0（授權費用）・完整原始碼開放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72384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638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規模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1638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150,000+ 行程式碼・24個教學單元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02736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設備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6941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平板・電腦・手機全相容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33087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音訊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2452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Web Speech API 繁體中文語音合成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視覺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754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雅婷語音優先・2倍縮放（視覺障礙）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193792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C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852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評量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2852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作業單 PDF 下載・獎勵系統整合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1115568"/>
            <a:ext cx="54864" cy="292608"/>
          </a:xfrm>
          <a:prstGeom prst="rect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17336" y="1115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440C"/>
                </a:solidFill>
                <a:latin typeface="Microsoft JhengHei"/>
              </a:rPr>
              <a:t>作業單系統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1481328"/>
            <a:ext cx="2834640" cy="1261872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524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Microsoft JhengHei"/>
              </a:rPr>
              <a:t>🖨️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591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一鍵 PDF 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2011680"/>
            <a:ext cx="25786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即時產生對應單元的個人化作業單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1481328"/>
            <a:ext cx="2834640" cy="1261872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524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Microsoft JhengHei"/>
              </a:rPr>
              <a:t>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1591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智慧題目生成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1432" y="2011680"/>
            <a:ext cx="25786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自動依難度調整題型與數量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926080"/>
            <a:ext cx="2834640" cy="1261872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524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017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Microsoft JhengHei"/>
              </a:rPr>
              <a:t>🖼️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035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圖文並茂版面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2" y="3456432"/>
            <a:ext cx="25786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錢幣圖示 + 看圖填空的多元題型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2926080"/>
            <a:ext cx="2834640" cy="1261872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524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3017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Microsoft JhengHei"/>
              </a:rPr>
              <a:t>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0358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答案版/練習版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1432" y="3456432"/>
            <a:ext cx="25786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教師/學生雙版本一鍵切換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370832"/>
            <a:ext cx="2834640" cy="1261872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524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Microsoft JhengHei"/>
              </a:rPr>
              <a:t>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商店客製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53912" y="4901184"/>
            <a:ext cx="25786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A4 超市依商店類型生成對應題目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06840" y="4370832"/>
            <a:ext cx="2834640" cy="1261872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1524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Microsoft JhengHei"/>
              </a:rPr>
              <a:t>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獎勵系統整合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71432" y="4901184"/>
            <a:ext cx="25786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完成後解鎖貼紙・累積學習成就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7B2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三段完整學習旅程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數位互動練習 → 紙本作業評量 → 社區真實類化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767328" cy="457200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5214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🖥️ 第一段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3767328" cy="347472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B8"/>
                </a:solidFill>
                <a:latin typeface="Microsoft JhengHei"/>
              </a:rPr>
              <a:t>數位互動練習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084831"/>
            <a:ext cx="3493008" cy="0"/>
          </a:xfrm>
          <a:prstGeom prst="line">
            <a:avLst/>
          </a:prstGeom>
          <a:ln w="127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4632" y="2157984"/>
            <a:ext cx="34930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課堂使用軟體反覆練習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三難度漸進適應個別程度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即時語音回饋強化記憶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作業單系統記錄進步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輔助點擊支援精細動作障礙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38928"/>
            <a:ext cx="3493008" cy="512064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212080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重點：建立程序性記憶
允許無限次安全嘗試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560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655A"/>
                </a:solidFill>
                <a:latin typeface="Microsoft JhengHei"/>
              </a:rPr>
              <a:t>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097280"/>
            <a:ext cx="3767328" cy="45720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115214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📝 第二段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554480"/>
            <a:ext cx="3767328" cy="3474720"/>
          </a:xfrm>
          <a:prstGeom prst="roundRect">
            <a:avLst>
              <a:gd name="adj" fmla="val 8000"/>
            </a:avLst>
          </a:prstGeom>
          <a:solidFill>
            <a:srgbClr val="D5F0E3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39" y="1664208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7A4E"/>
                </a:solidFill>
                <a:latin typeface="Microsoft JhengHei"/>
              </a:rPr>
              <a:t>紙本作業評量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34839" y="2084831"/>
            <a:ext cx="3493008" cy="0"/>
          </a:xfrm>
          <a:prstGeom prst="line">
            <a:avLst/>
          </a:prstGeom>
          <a:ln w="1270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62271" y="2157984"/>
            <a:ext cx="34930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一鍵生成 PDF 作業單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看圖付款/找零多元題型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學生版/教師答案版切換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形成性評量紀錄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步驟別評量對應 IEP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39" y="5138928"/>
            <a:ext cx="3493008" cy="512064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7" y="5212080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重點：形成性評量
確認技能遷移程度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560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655A"/>
                </a:solidFill>
                <a:latin typeface="Microsoft JhengHei"/>
              </a:rPr>
              <a:t>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097280"/>
            <a:ext cx="3767328" cy="45720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115214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🏘️ 第三段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1554480"/>
            <a:ext cx="3767328" cy="3474720"/>
          </a:xfrm>
          <a:prstGeom prst="roundRect">
            <a:avLst>
              <a:gd name="adj" fmla="val 8000"/>
            </a:avLst>
          </a:prstGeom>
          <a:solidFill>
            <a:srgbClr val="FDE8D5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9" y="1664208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40C"/>
                </a:solidFill>
                <a:latin typeface="Microsoft JhengHei"/>
              </a:rPr>
              <a:t>社區真實類化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79" y="2084831"/>
            <a:ext cx="3493008" cy="0"/>
          </a:xfrm>
          <a:prstGeom prst="line">
            <a:avLst/>
          </a:prstGeom>
          <a:ln w="1270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39911" y="2157984"/>
            <a:ext cx="34930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教師遠距觀察（3公尺外）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逐步褪除支持提示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真實設備實地操作演練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社區技能類化確認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2C271E"/>
                </a:solidFill>
                <a:latin typeface="Microsoft JhengHei"/>
              </a:rPr>
              <a:t>• 最終目標：完全獨立操作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79" y="5138928"/>
            <a:ext cx="3493008" cy="512064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7" y="5212080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重點：類化窗口開啟
終極成效確認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897880"/>
            <a:ext cx="1152144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5971032"/>
            <a:ext cx="11301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✦ 三段設計呼應《特殊教育法》第 24 條「提供輔助科技」及課綱「社區功能性技能」學習目標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F 系列教案摘要——數學基礎先備技能模組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教案一：F1 一對一對應・F2 唱數（共 3 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7899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B8"/>
                </a:solidFill>
                <a:latin typeface="Microsoft JhengHei"/>
              </a:rPr>
              <a:t>教學對象：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國中特教班・資源班（輕中度智障・自閉症）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B8"/>
                </a:solidFill>
                <a:latin typeface="Microsoft JhengHei"/>
              </a:rPr>
              <a:t>學習階段：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國中（7-9年級）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B8"/>
                </a:solidFill>
                <a:latin typeface="Microsoft JhengHei"/>
              </a:rPr>
              <a:t>教學時間：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3節×45分鐘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170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B8"/>
                </a:solidFill>
                <a:latin typeface="Microsoft JhengHei"/>
              </a:rPr>
              <a:t>先備能力：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基本物品辨識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12848"/>
            <a:ext cx="3767328" cy="4041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212848"/>
            <a:ext cx="3767328" cy="457200"/>
          </a:xfrm>
          <a:prstGeom prst="roundRect">
            <a:avLst>
              <a:gd name="adj" fmla="val 0"/>
            </a:avLst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2677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第一節（45分鐘）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2743200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6FB8"/>
                </a:solidFill>
                <a:latin typeface="Microsoft JhengHei"/>
              </a:rPr>
              <a:t>F1 一對一對應——建立數量等量直觀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108960"/>
            <a:ext cx="349300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導入：呈現實物（蘋果配碗、筆配本）引發生活連結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示範：教師操作 F1，展示拖曳配對步驟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引導：輔助點擊模式，學生逐步完成配對任務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獨立：切換普通/困難模式自行嘗試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評量：記錄步驟完成情況（I / VP / PP / FP）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212848"/>
            <a:ext cx="3767328" cy="4041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2212848"/>
            <a:ext cx="3767328" cy="457200"/>
          </a:xfrm>
          <a:prstGeom prst="roundRect">
            <a:avLst>
              <a:gd name="adj" fmla="val 0"/>
            </a:avLst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22677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第二節（45分鐘）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743200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A4E"/>
                </a:solidFill>
                <a:latin typeface="Microsoft JhengHei"/>
              </a:rPr>
              <a:t>F2 唱數——數量概念轉化為語言序列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108960"/>
            <a:ext cx="349300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複習：回顧 F1 操作，連結「幾個就說幾」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示範：操作 F2，展示逐步唱數視覺化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引導：語音輔助模式，跟著說出數字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獨立：關閉提示音，自行唱數完成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評量：錄製語音唱數樣本作為基線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212848"/>
            <a:ext cx="3767328" cy="4041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212848"/>
            <a:ext cx="3767328" cy="457200"/>
          </a:xfrm>
          <a:prstGeom prst="roundRect">
            <a:avLst>
              <a:gd name="adj" fmla="val 0"/>
            </a:avLst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22677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第三節（45分鐘）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2743200"/>
            <a:ext cx="3547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整合評量與形成性評量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108960"/>
            <a:ext cx="349300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整合：F1+F2 混合任務，連結貨幣數量概念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評量：使用作業單（PDF）進行紙本評量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融合：普通班同儕參與，互相示範操作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記錄：步驟別評量表，更新 IEP 短期目標</a:t>
            </a:r>
          </a:p>
          <a:p>
            <a:pPr algn="l">
              <a:lnSpc>
                <a:spcPts val="16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回饋：語音鼓勵+獎勵系統貼紙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A 系列教案摘要——真實情境類化模組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教案三：A1 自動販賣機（核心融合節次）・A5 ATM 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7132320" cy="5084064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40C"/>
                </a:solidFill>
                <a:latin typeface="Microsoft JhengHei"/>
              </a:rPr>
              <a:t>A1 自動販賣機教案（3 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64208"/>
            <a:ext cx="29718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第一節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842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271E"/>
                </a:solidFill>
                <a:latin typeface="Microsoft JhengHei"/>
              </a:rPr>
              <a:t>流程建立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工作分析 7 步驟逐一教導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輔助點擊模式全程引導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語音提示每步驟操作要點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664208"/>
            <a:ext cx="29718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7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第二節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7" y="19842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271E"/>
                </a:solidFill>
                <a:latin typeface="Microsoft JhengHei"/>
              </a:rPr>
              <a:t>投幣找零強化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199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面額選擇策略訓練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找零驗收程序建立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三難度循序挑戰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93008"/>
            <a:ext cx="297180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66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440C"/>
                </a:solidFill>
                <a:latin typeface="Microsoft JhengHei"/>
              </a:rPr>
              <a:t>第三節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13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271E"/>
                </a:solidFill>
                <a:latin typeface="Microsoft JhengHei"/>
              </a:rPr>
              <a:t>融合教育頂點🏆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邀請普通班同儕擔任「夥伴」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在校園真實販賣機操作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教師 3 公尺外靜態觀察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2C271E"/>
                </a:solidFill>
                <a:latin typeface="Microsoft JhengHei"/>
              </a:rPr>
              <a:t>→ 類化窗口開啟的關鍵節次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115568"/>
            <a:ext cx="4114800" cy="5084064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20700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  <a:latin typeface="Microsoft JhengHei"/>
              </a:rPr>
              <a:t>A5 ATM 操作精要教案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627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教學時間：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3節×45分鐘・高中特教班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學習目標：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157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獨立完成提款操作（I 獨立）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2688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部分提示下完成存款/轉帳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21868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第一節：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2186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介面認識・提款流程建立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7490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第二節：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存款・轉帳流程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第三節：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融合情境：真實 ATM 操作演練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809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融合設計：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809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普通班同學擔任「等候示範者」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5340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特殊需求學生自主完成操作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870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  <a:latin typeface="Microsoft JhengHei"/>
              </a:rPr>
              <a:t>評量：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5870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71E"/>
                </a:solidFill>
                <a:latin typeface="Microsoft JhengHei"/>
              </a:rPr>
              <a:t>5步驟評量表・IEP 轉銜目標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355080"/>
            <a:ext cx="11430000" cy="347472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6428232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🔗 A 系列社區轉銜設計遵循「最少限制環境」原則：軟體練習→褪除支持→真實社區完全獨立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914400"/>
            <a:ext cx="12188952" cy="0"/>
          </a:xfrm>
          <a:prstGeom prst="line">
            <a:avLst/>
          </a:prstGeom>
          <a:ln w="25400">
            <a:solidFill>
              <a:srgbClr val="7B2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91440"/>
            <a:ext cx="7616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Microsoft JhengHei"/>
              </a:rPr>
              <a:t>核心創新——四大首創特色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76072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655A"/>
                </a:solidFill>
                <a:latin typeface="Microsoft JhengHei"/>
              </a:rPr>
              <a:t>填補台灣特殊教育金融素養教材的十年空白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1051560"/>
            <a:ext cx="914400" cy="9144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14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🖱️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2743200" cy="4370832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7B2FBE"/>
                </a:solidFill>
                <a:latin typeface="Microsoft JhengHei"/>
              </a:rPr>
              <a:t>首創輔助點擊模式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46888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55A"/>
                </a:solidFill>
                <a:latin typeface="Microsoft JhengHei"/>
              </a:rPr>
              <a:t>精細動作障礙解方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2798064"/>
            <a:ext cx="2377440" cy="0"/>
          </a:xfrm>
          <a:prstGeom prst="line">
            <a:avLst/>
          </a:prstGeom>
          <a:ln w="10160">
            <a:solidFill>
              <a:srgbClr val="7B2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2852928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全 24 個教學單元均支援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單一點擊完成全部操作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不需拖曳・不需精確觸控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市場同類型特教軟體首例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5074920"/>
            <a:ext cx="2523744" cy="47548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514807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適用：腦性麻痺・脊損・肌萎・ADHD</a:t>
            </a:r>
          </a:p>
        </p:txBody>
      </p:sp>
      <p:sp>
        <p:nvSpPr>
          <p:cNvPr id="17" name="Oval 16"/>
          <p:cNvSpPr/>
          <p:nvPr/>
        </p:nvSpPr>
        <p:spPr>
          <a:xfrm>
            <a:off x="4206240" y="1051560"/>
            <a:ext cx="914400" cy="914400"/>
          </a:xfrm>
          <a:prstGeom prst="ellipse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078992"/>
            <a:ext cx="914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2743200" cy="4370832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21214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0440C"/>
                </a:solidFill>
                <a:latin typeface="Microsoft JhengHei"/>
              </a:rPr>
              <a:t>首創全場景仿真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46888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55A"/>
                </a:solidFill>
                <a:latin typeface="Microsoft JhengHei"/>
              </a:rPr>
              <a:t>6種真實社區設備模擬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74720" y="2798064"/>
            <a:ext cx="2377440" cy="0"/>
          </a:xfrm>
          <a:prstGeom prst="line">
            <a:avLst/>
          </a:prstGeom>
          <a:ln w="1016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29000" y="2852928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自動販賣機・理髮廳・麥當勞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ATM・超市收銀台・火車售票機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從像素到流程忠實仿真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降低真實場域焦慮的過渡橋梁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5074920"/>
            <a:ext cx="2523744" cy="47548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514807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目標：類化轉移・社區獨立操作</a:t>
            </a:r>
          </a:p>
        </p:txBody>
      </p:sp>
      <p:sp>
        <p:nvSpPr>
          <p:cNvPr id="26" name="Oval 25"/>
          <p:cNvSpPr/>
          <p:nvPr/>
        </p:nvSpPr>
        <p:spPr>
          <a:xfrm>
            <a:off x="7178040" y="1051560"/>
            <a:ext cx="914400" cy="914400"/>
          </a:xfrm>
          <a:prstGeom prst="ellipse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078992"/>
            <a:ext cx="914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029968"/>
            <a:ext cx="2743200" cy="4370832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228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21214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47A4E"/>
                </a:solidFill>
                <a:latin typeface="Microsoft JhengHei"/>
              </a:rPr>
              <a:t>首創完整序階課程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46888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55A"/>
                </a:solidFill>
                <a:latin typeface="Microsoft JhengHei"/>
              </a:rPr>
              <a:t>24單元 × 4系列系統設計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46520" y="2798064"/>
            <a:ext cx="2377440" cy="0"/>
          </a:xfrm>
          <a:prstGeom prst="line">
            <a:avLst/>
          </a:prstGeom>
          <a:ln w="1016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0" y="2852928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F（數學先備）→ C（貨幣認知）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→ A（情境類化）→ B（預算規劃）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全台首個完整金融素養課程套件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完整對應課綱所有學習主題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5074920"/>
            <a:ext cx="2523744" cy="47548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514807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覆蓋：國小至高中完整學習序階</a:t>
            </a:r>
          </a:p>
        </p:txBody>
      </p:sp>
      <p:sp>
        <p:nvSpPr>
          <p:cNvPr id="35" name="Oval 34"/>
          <p:cNvSpPr/>
          <p:nvPr/>
        </p:nvSpPr>
        <p:spPr>
          <a:xfrm>
            <a:off x="10149840" y="1051560"/>
            <a:ext cx="914400" cy="914400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1078992"/>
            <a:ext cx="914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2029968"/>
            <a:ext cx="2743200" cy="4370832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228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5168" y="2121408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D6FB8"/>
                </a:solidFill>
                <a:latin typeface="Microsoft JhengHei"/>
              </a:rPr>
              <a:t>首創IEP整合設計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246888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55A"/>
                </a:solidFill>
                <a:latin typeface="Microsoft JhengHei"/>
              </a:rPr>
              <a:t>步驟評量→作業單→獎勵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18320" y="2798064"/>
            <a:ext cx="2377440" cy="0"/>
          </a:xfrm>
          <a:prstGeom prst="line">
            <a:avLst/>
          </a:prstGeom>
          <a:ln w="1016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372600" y="2852928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工作分析法步驟化評量格式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PDF 作業單一鍵生成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獎勵系統強化學習動機</a:t>
            </a:r>
          </a:p>
          <a:p>
            <a:pPr algn="l">
              <a:lnSpc>
                <a:spcPts val="1700"/>
              </a:lnSpc>
            </a:pPr>
            <a:r>
              <a:rPr sz="1050" b="0">
                <a:solidFill>
                  <a:srgbClr val="2C271E"/>
                </a:solidFill>
                <a:latin typeface="Microsoft JhengHei"/>
              </a:rPr>
              <a:t>▶ 教師行政負擔降低 50%+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5168" y="5074920"/>
            <a:ext cx="2523744" cy="475488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54896" y="5148072"/>
            <a:ext cx="23042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整合：IEP目標・形成性評量・激勵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4114800" cy="9144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70048"/>
            <a:ext cx="4114800" cy="91440"/>
          </a:xfrm>
          <a:prstGeom prst="rect">
            <a:avLst/>
          </a:prstGeom>
          <a:solidFill>
            <a:srgbClr val="14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041648"/>
            <a:ext cx="4114800" cy="91440"/>
          </a:xfrm>
          <a:prstGeom prst="rect">
            <a:avLst/>
          </a:prstGeom>
          <a:solidFill>
            <a:srgbClr val="C0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13248"/>
            <a:ext cx="4114800" cy="914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4114800" cy="91440"/>
          </a:xfrm>
          <a:prstGeom prst="rect">
            <a:avLst/>
          </a:prstGeom>
          <a:solidFill>
            <a:srgbClr val="0C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0972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JhengHei"/>
              </a:rPr>
              <a:t>感謝聆聽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0116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DBA74"/>
                </a:solidFill>
                <a:latin typeface="Microsoft JhengHei"/>
              </a:rPr>
              <a:t>金錢小達人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697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B8D8"/>
                </a:solidFill>
                <a:latin typeface="Microsoft JhengHei"/>
              </a:rPr>
              <a:t>互動式特殊教育
生活數學暨金融素養教學軟體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6118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8BA"/>
                </a:solidFill>
                <a:latin typeface="Microsoft JhengHei"/>
              </a:rPr>
              <a:t>第八屆教育部獎助研發
特殊教育教材教具競賽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62179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789A"/>
                </a:solidFill>
                <a:latin typeface="Microsoft JhengHei"/>
              </a:rPr>
              <a:t>中華民國 115 年 3 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502920"/>
            <a:ext cx="54864" cy="2926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502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Microsoft JhengHei"/>
              </a:rPr>
              <a:t>核心訴求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896112"/>
            <a:ext cx="3566160" cy="2560320"/>
          </a:xfrm>
          <a:prstGeom prst="roundRect">
            <a:avLst>
              <a:gd name="adj" fmla="val 10000"/>
            </a:avLst>
          </a:prstGeom>
          <a:solidFill>
            <a:srgbClr val="EEE0FB"/>
          </a:solidFill>
          <a:ln w="228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1247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1704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BE"/>
                </a:solidFill>
                <a:latin typeface="Microsoft JhengHei"/>
              </a:rPr>
              <a:t>填補十年空白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45152" y="1627632"/>
            <a:ext cx="3236976" cy="0"/>
          </a:xfrm>
          <a:prstGeom prst="line">
            <a:avLst/>
          </a:prstGeom>
          <a:ln w="10160">
            <a:solidFill>
              <a:srgbClr val="7B2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45152" y="176479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全台首個完整系統化特殊教育金融素養
互動教學軟體套件（24個教學單元）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896112"/>
            <a:ext cx="3566160" cy="2560320"/>
          </a:xfrm>
          <a:prstGeom prst="roundRect">
            <a:avLst>
              <a:gd name="adj" fmla="val 10000"/>
            </a:avLst>
          </a:prstGeom>
          <a:solidFill>
            <a:srgbClr val="FDE8D5"/>
          </a:solidFill>
          <a:ln w="22860">
            <a:solidFill>
              <a:srgbClr val="C044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1247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1704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440C"/>
                </a:solidFill>
                <a:latin typeface="Microsoft JhengHei"/>
              </a:rPr>
              <a:t>零門檻推廣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39912" y="1627632"/>
            <a:ext cx="3236976" cy="0"/>
          </a:xfrm>
          <a:prstGeom prst="line">
            <a:avLst/>
          </a:prstGeom>
          <a:ln w="10160">
            <a:solidFill>
              <a:srgbClr val="C044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39912" y="176479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NT$ 0 授權・完全離線・免安裝
讓每位特教教師立即可用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730752"/>
            <a:ext cx="3566160" cy="2560320"/>
          </a:xfrm>
          <a:prstGeom prst="roundRect">
            <a:avLst>
              <a:gd name="adj" fmla="val 10000"/>
            </a:avLst>
          </a:prstGeom>
          <a:solidFill>
            <a:srgbClr val="D5F0E3"/>
          </a:solidFill>
          <a:ln w="22860">
            <a:solidFill>
              <a:srgbClr val="14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959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0050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7A4E"/>
                </a:solidFill>
                <a:latin typeface="Microsoft JhengHei"/>
              </a:rPr>
              <a:t>真實成效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45152" y="4462272"/>
            <a:ext cx="3236976" cy="0"/>
          </a:xfrm>
          <a:prstGeom prst="line">
            <a:avLst/>
          </a:prstGeom>
          <a:ln w="10160">
            <a:solidFill>
              <a:srgbClr val="147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45152" y="459943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三個個案的類化轉折紀錄
從情境迴避到社區獨立操作的真實突破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730752"/>
            <a:ext cx="3566160" cy="256032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2286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959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Microsoft JhengHei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0050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6FB8"/>
                </a:solidFill>
                <a:latin typeface="Microsoft JhengHei"/>
              </a:rPr>
              <a:t>完整支持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39912" y="4462272"/>
            <a:ext cx="3236976" cy="0"/>
          </a:xfrm>
          <a:prstGeom prst="line">
            <a:avLst/>
          </a:prstGeom>
          <a:ln w="1016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39912" y="459943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71E"/>
                </a:solidFill>
                <a:latin typeface="Microsoft JhengHei"/>
              </a:rPr>
              <a:t>IEP 整合・作業單・獎勵系統・融合教育
提供教師全方位教學支援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6464808"/>
            <a:ext cx="7452360" cy="329184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1524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6537960"/>
            <a:ext cx="7232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4904"/>
                </a:solidFill>
                <a:latin typeface="Microsoft JhengHei"/>
              </a:rPr>
              <a:t>✦ 本軟體程式碼規模逾 15 萬行，完全由教師個人研發，零外部資金，零商業目的，只為讓特殊需求學生平等享有數位學習機會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55A"/>
                </a:solidFill>
                <a:latin typeface="Microsoft JhengHe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