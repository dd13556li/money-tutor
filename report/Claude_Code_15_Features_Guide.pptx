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B30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Microsoft JhengHei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F59E0B"/>
                </a:solidFill>
                <a:latin typeface="Microsoft JhengHei"/>
              </a:rPr>
              <a:t>15 項被低估的隱藏功能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CCFF"/>
                </a:solidFill>
                <a:latin typeface="Microsoft JhengHei"/>
              </a:rPr>
              <a:t>新手完整操作指南  —  從 CLI 指令到實際效果，一步步帶你上手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3749039"/>
            <a:ext cx="7616952" cy="54864"/>
          </a:xfrm>
          <a:prstGeom prst="rect">
            <a:avLst/>
          </a:prstGeom>
          <a:solidFill>
            <a:srgbClr val="5B4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999BB"/>
                </a:solidFill>
                <a:latin typeface="Microsoft JhengHei"/>
              </a:rPr>
              <a:t>來源：Boris Cherny（Claude Code 負責人）推文整理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601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77799"/>
                </a:solidFill>
                <a:latin typeface="Microsoft JhengHei"/>
              </a:rPr>
              <a:t>整理日期：2026-03-31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212080"/>
            <a:ext cx="9445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8CC8C"/>
                </a:solidFill>
                <a:latin typeface="Microsoft JhengHei"/>
              </a:rPr>
              <a:t>適合對象：剛接觸 Claude Code 的新手 / 想深度使用的開發者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4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什麼是 Claude Code？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它不只是「對話框」，而是你電腦上的 AI 代理人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Claude Code 是 Anthropic 推出的 AI 編程工具：你用中文（或英文）下指令，它幫你寫程式、執行指令、管理檔案。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11338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56231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4FCF"/>
                </a:solidFill>
                <a:latin typeface="Microsoft JhengHei"/>
              </a:rPr>
              <a:t>[1] 讀寫程式碼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1874519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JhengHei"/>
              </a:rPr>
              <a:t>直接操作你電腦上的 .js .py .html 等檔案，不需要複製貼上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13432"/>
            <a:ext cx="11338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38658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4FCF"/>
                </a:solidFill>
                <a:latin typeface="Microsoft JhengHei"/>
              </a:rPr>
              <a:t>[2] 執行終端機指令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404872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JhengHei"/>
              </a:rPr>
              <a:t>幫你跑 npm install、git commit、pytest 等指令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43784"/>
            <a:ext cx="11338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1693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4FCF"/>
                </a:solidFill>
                <a:latin typeface="Microsoft JhengHei"/>
              </a:rPr>
              <a:t>[3] 操控瀏覽器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935224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JhengHei"/>
              </a:rPr>
              <a:t>打開網頁、點按鈕、截圖、讀取 console 錯誤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74135"/>
            <a:ext cx="11338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47287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4FCF"/>
                </a:solidFill>
                <a:latin typeface="Microsoft JhengHei"/>
              </a:rPr>
              <a:t>[4] 啟動多個 AI 同時工作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465575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JhengHei"/>
              </a:rPr>
              <a:t>像指揮一個團隊，10 個 Claude 同時處理不同任務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04487"/>
            <a:ext cx="11338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977639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4FCF"/>
                </a:solidFill>
                <a:latin typeface="Microsoft JhengHei"/>
              </a:rPr>
              <a:t>[5] 跨裝置連續工作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3995927"/>
            <a:ext cx="8595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JhengHei"/>
              </a:rPr>
              <a:t>電腦開始的任務，手機可以繼續下指令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57200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99"/>
                </a:solidFill>
                <a:latin typeface="Microsoft JhengHei"/>
              </a:rPr>
              <a:t>Boris Cherny（Claude Code 負責人）：Anthropic 工程師使用後，程式碼產出成長超過 200%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074920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Microsoft JhengHei"/>
              </a:rPr>
              <a:t>安裝後只需在終端機輸入 claude  即可開始使用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486400"/>
            <a:ext cx="11338560" cy="868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596128"/>
            <a:ext cx="11064240" cy="6492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9DDFF"/>
                </a:solidFill>
                <a:latin typeface="Consolas"/>
              </a:rPr>
              <a:t>$ claude</a:t>
            </a:r>
          </a:p>
          <a:p>
            <a:r>
              <a:rPr sz="1200">
                <a:solidFill>
                  <a:srgbClr val="A8CC8C"/>
                </a:solidFill>
                <a:latin typeface="Consolas"/>
              </a:rPr>
              <a:t>&gt; Claude Code v1.x.x  ( ctrl+c to exit )</a:t>
            </a:r>
          </a:p>
          <a:p>
            <a:r>
              <a:rPr sz="1200">
                <a:solidFill>
                  <a:srgbClr val="A8CC8C"/>
                </a:solidFill>
                <a:latin typeface="Consolas"/>
              </a:rPr>
              <a:t>&gt; 你好！我可以幫你做什麼？請用中文或英文下指令。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4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如何安裝 Claude Code？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3 種方式，10 分鐘內完成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B4FCF"/>
                </a:solidFill>
                <a:latin typeface="Microsoft JhengHei"/>
              </a:rPr>
              <a:t>方式 A — CLI（終端機）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3749039" cy="2423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18488"/>
            <a:ext cx="3474720" cy="22037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前提：已安裝 Node.js 18+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npm install -g @anthropic-ai/claude-code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登入 Anthropic 帳號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claude auth login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Opening browser for OAuth...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Logged in as user@example.com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啟動！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1155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B82F6"/>
                </a:solidFill>
                <a:latin typeface="Microsoft JhengHei"/>
              </a:rPr>
              <a:t>方式 B — VS Code 擴充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508760"/>
            <a:ext cx="3749039" cy="242316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1688" y="1600200"/>
            <a:ext cx="352958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  <a:latin typeface="Microsoft JhengHei"/>
              </a:rPr>
              <a:t>步驟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1984248"/>
            <a:ext cx="3529583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1. 開啟 VS Code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2. 按 Ctrl+Shift+X 開擴充市集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3. 搜尋 "Claude Code"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4. 點 Install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5. 側欄出現 Claude 圖示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優點：不需離開 VS Code，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直接在編輯器旁對話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11556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Microsoft JhengHei"/>
              </a:rPr>
              <a:t>方式 C — Desktop 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508760"/>
            <a:ext cx="3749039" cy="24231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600200"/>
            <a:ext cx="352958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Microsoft JhengHei"/>
              </a:rPr>
              <a:t>步驟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1984248"/>
            <a:ext cx="3529583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1. 前往 claude.ai/download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2. 下載 Mac / Windows 版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3. 安裝後登入帳號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4. 點選 "Code" 模式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優點：整合內建瀏覽器，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可自動測試網頁效果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69080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JhengHei"/>
              </a:rPr>
              <a:t>每次開啟新的工作資料夾時，建議在該資料夾內啟動 claude，這樣 Claude 就知道你的專案在哪裡：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572000"/>
            <a:ext cx="11338560" cy="9601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681728"/>
            <a:ext cx="11064240" cy="740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9DDFF"/>
                </a:solidFill>
                <a:latin typeface="Consolas"/>
              </a:rPr>
              <a:t>$ cd /Users/yourname/my-project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claude --dangerously-skip-permissions</a:t>
            </a:r>
          </a:p>
          <a:p>
            <a:r>
              <a:rPr sz="1200">
                <a:solidFill>
                  <a:srgbClr val="A8CC8C"/>
                </a:solidFill>
                <a:latin typeface="Consolas"/>
              </a:rPr>
              <a:t>&gt; 已載入專案：my-project（共 47 個檔案）</a:t>
            </a:r>
          </a:p>
          <a:p>
            <a:r>
              <a:rPr sz="1200">
                <a:solidFill>
                  <a:srgbClr val="A8CC8C"/>
                </a:solidFill>
                <a:latin typeface="Consolas"/>
              </a:rPr>
              <a:t>&gt; 你好，請告訴我你想做什麼？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650992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77799"/>
                </a:solidFill>
                <a:latin typeface="Microsoft JhengHei"/>
              </a:rPr>
              <a:t>--dangerously-skip-permissions  =  跳過每次工具呼叫的確認提示，適合熟悉後日常使用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4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15 項被低估功能 — 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Boris Cherny 親自點名，早已內建但多數人不知道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78992"/>
            <a:ext cx="2331720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78992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A 跨裝置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09344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728216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Mobile App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267712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2386584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/teleport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926080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3044952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/remote-control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584448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3703320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Cowork Dispatch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078992"/>
            <a:ext cx="2331720" cy="43891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0" y="1078992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B 排程並行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1609344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1728216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/loop /schedule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2267712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2386584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Hooks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2926080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3044952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--worktree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3584448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3703320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/batch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66360" y="1078992"/>
            <a:ext cx="2331720" cy="438912"/>
          </a:xfrm>
          <a:prstGeom prst="rect">
            <a:avLst/>
          </a:prstGeom>
          <a:solidFill>
            <a:srgbClr val="5B4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6360" y="1078992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C 工具整合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66360" y="1609344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7800" y="1728216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Chrome 擴充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66360" y="2267712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57800" y="2386584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Desktop 瀏覽器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66360" y="2926080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57800" y="3044952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/branch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66360" y="3584448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57800" y="3703320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/btw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89520" y="1078992"/>
            <a:ext cx="2331720" cy="43891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9520" y="1078992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D SDK 協作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9520" y="1609344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1728216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--bare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89520" y="2267712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0" y="2386584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--add-dir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89520" y="2926080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0" y="3044952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--agent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58400" y="1078992"/>
            <a:ext cx="2331720" cy="43891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0" y="1078992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E 輸入體驗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58400" y="1609344"/>
            <a:ext cx="233172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49840" y="1728216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Microsoft JhengHei"/>
              </a:rPr>
              <a:t>/voice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4617720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Microsoft JhengHei"/>
              </a:rPr>
              <a:t>本投影片接下來逐項說明，每一項都附「實際指令」與「執行結果」範例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507492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99"/>
                </a:solidFill>
                <a:latin typeface="Microsoft JhengHei"/>
              </a:rPr>
              <a:t>建議學習順序：先掌握 A 類（跨裝置）和 B 類基礎，再進階到 C、D、E 類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1 — Mobile App（行動裝置存取）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A：跨裝置連續工作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在 iPhone 或 Android 上，直接存取雲端 Claude Code 工作階段，不需要打開電腦。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3657600" cy="310896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691640"/>
            <a:ext cx="34381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  <a:latin typeface="Microsoft JhengHei"/>
              </a:rPr>
              <a:t>是什麼？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75688"/>
            <a:ext cx="3438144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下載 Claude App（iOS / Android）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切換至左側「Code」分頁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就能看到雲端工作階段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Boris Cherny 本人：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「我很大比例的程式修改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是直接從 iPhone 完成的」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600200"/>
            <a:ext cx="3657600" cy="31089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0248" y="1691640"/>
            <a:ext cx="34381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Microsoft JhengHei"/>
              </a:rPr>
              <a:t>操作步驟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0248" y="2075688"/>
            <a:ext cx="3438144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1. App Store / Google Play 搜尋 "Claude"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2. 安裝官方 Claude App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3. 登入你的 Anthropic 帳號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4. 左側選單點選 "Code" 分頁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5. 看到正在進行的工作階段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6. 直接輸入指令繼續工作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600200"/>
            <a:ext cx="3840480" cy="31089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5007" y="1691640"/>
            <a:ext cx="3621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Microsoft JhengHei"/>
              </a:rPr>
              <a:t>實際場景：通勤時繼續改 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7" y="2075688"/>
            <a:ext cx="3621024" cy="254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電腦留在辦公室，搭捷運時：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手機 Claude App -&gt; Code 分頁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你：「把 login.js 的錯誤訊息改成中文」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Claude：「已修改 login.js 第 47 行，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     將 "Invalid password" 改為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     "密碼錯誤，請重新輸入"」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8463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77799"/>
                </a:solidFill>
                <a:latin typeface="Microsoft JhengHei"/>
              </a:rPr>
              <a:t>前提條件：需要 Claude Pro 或 Max 訂閱計畫，工作階段需在電腦上先啟動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285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  <a:latin typeface="Microsoft JhengHei"/>
              </a:rPr>
              <a:t>搭配技巧：與 /remote-control（功能 3）組合使用，可直接操控本機電腦上的工作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2 — --teleport（雲端傳回本機）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A：跨裝置連續工作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把在 claude.ai/code 網頁上開始的「雲端工作階段」，直接拉回你的本機電腦繼續執行。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5943600" cy="32004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5669280" cy="29809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方法一：啟動 claude 時加上旗標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claude --teleport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方法二：在已開啟的工作階段中輸入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&gt; /teleport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執行後出現：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Scanning for cloud sessions...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Found 1 session: "my-project" (started 2h ago)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Resuming session locally...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Loaded 12 files, 3 pending changes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Ready!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5303520" cy="32004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691640"/>
            <a:ext cx="50840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  <a:latin typeface="Microsoft JhengHei"/>
              </a:rPr>
              <a:t>什麼時候用？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2075688"/>
            <a:ext cx="5084064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在咖啡廳用網頁版 claude.ai/code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用筆電繼續做，想切回家裡桌機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雲端工作階段遇到網路問題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想把雲端 Claude 的結果下載到本機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用一句話說：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「雲端開始，本機執行」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98348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JhengHei"/>
              </a:rPr>
              <a:t>與 /remote-control 的差異：teleport = 工作階段移動到本機；remote-control = 從其他裝置操控本機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468112"/>
            <a:ext cx="11338560" cy="777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577840"/>
            <a:ext cx="11064240" cy="5577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新手常見誤解：兩個功能方向相反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--teleport   : 雲端 --&gt; 本機   (把工作帶回來)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/remote-control : 手機 --&gt; 本機   (從外面操控本機)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3 — /remote-control（遠端操控本機）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A：跨裝置連續工作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在本機電腦上開啟一個「遠端控制伺服器」，讓你從手機或任何瀏覽器即時下指令。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6217920" cy="32461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5943600" cy="3026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在本機電腦的終端機執行（先登入）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claude auth login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Logged in as you@example.com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啟動遠端控制伺服器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claude remote-control --name "my-laptop"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Remote control server started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Session ID: abc123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Connect from: claude.ai/code -&gt; Remote Sessions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設定每次都自動開啟（在 claude 設定中）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&gt; /config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Enable Remote Control for all sessions: YES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600200"/>
            <a:ext cx="5029200" cy="324612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76288" y="1691640"/>
            <a:ext cx="48097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Microsoft JhengHei"/>
              </a:rPr>
              <a:t>操作步驟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2075688"/>
            <a:ext cx="4809744" cy="2679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1. 本機執行 claude remote-control --name "xxx"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2. 手機打開 claude.ai/code（瀏覽器）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3. 選單 -&gt; Remote Sessions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4. 看到 "my-laptop" -&gt; 點擊連線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5. 現在手機輸入的指令，本機 Claude 執行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6. 結果即時回傳到手機畫面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98348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  <a:latin typeface="Microsoft JhengHei"/>
              </a:rPr>
              <a:t>Boris Cherny：「我在 /config 開啟 Enable Remote Control，確保每個工作階段都預設可以遠端接手」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440680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JhengHei"/>
              </a:rPr>
              <a:t>應用場景：出門前啟動本機 claude，外出時用手機指揮它繼續跑任務，回家直接看結果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4 — Cowork Dispatch（MCP 遠端介面）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A：跨裝置連續工作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Claude Desktop App 的進階遠端控制介面，可透過 MCP 連接器操控瀏覽器、管理電子郵件與 Slack。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3474720" cy="32461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691640"/>
            <a:ext cx="32552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  <a:latin typeface="Microsoft JhengHei"/>
              </a:rPr>
              <a:t>MCP 是什麼？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75688"/>
            <a:ext cx="3255263" cy="2679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MCP = Model Context Protocol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模型上下文協定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讓 Claude 連接外部系統的標準，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例如：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Slack MCP -&gt; 讀寫訊息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Gmail MCP -&gt; 管理信件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Browser MCP -&gt; 操控瀏覽器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File MCP -&gt; 管理檔案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600200"/>
            <a:ext cx="3474720" cy="3246120"/>
          </a:xfrm>
          <a:prstGeom prst="rect">
            <a:avLst/>
          </a:prstGeom>
          <a:solidFill>
            <a:srgbClr val="ED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87368" y="1691640"/>
            <a:ext cx="32552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4FCF"/>
                </a:solidFill>
                <a:latin typeface="Microsoft JhengHei"/>
              </a:rPr>
              <a:t>Dispatch 能做什麼？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2075688"/>
            <a:ext cx="3255263" cy="2679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Boris Cherny 的日常使用：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不在寫程式的時候...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用 Dispatch 處理 Slack 訊息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整理電子郵件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管理電腦檔案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等於把 Claude 變成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你的私人 AI 助理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1600200"/>
            <a:ext cx="4206240" cy="324612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9248" y="1691640"/>
            <a:ext cx="398678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Microsoft JhengHei"/>
              </a:rPr>
              <a:t>操作步驟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8" y="2075688"/>
            <a:ext cx="3986783" cy="2679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1. 安裝 Claude Desktop App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2. 設定 -&gt; MCP Servers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3. 加入想要的 MCP 連接器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4. 重啟 App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5. 在 Dispatch 介面下指令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範例指令：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「把今天 Slack 未讀訊息整理成摘要」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98348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77799"/>
                </a:solidFill>
                <a:latin typeface="Microsoft JhengHei"/>
              </a:rPr>
              <a:t>注意：MCP 連接器需要個別設定，初學者建議先掌握功能 1-3，再來研究 Dispatch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5 — /loop + /schedule（排程自動執行）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B：排程、並行與自動驗證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讓 Claude 定期自動執行任務，你去睡覺它繼續工作。最長可排程一週。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6400800" cy="3657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6126480" cy="34381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每 5 分鐘自動執行一次（帶看護模式）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&gt; /loop 5m /babysit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Loop started: every 5 minutes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Task: review code, handle PR feedback, rebase if needed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每 30 分鐘整理 Slack 回饋成 PR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&gt; /loop 30m /slack-feedback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Loop started: every 30 minutes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排程在指定時間執行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&gt; /schedule "2026-04-01 09:00" run-tests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Scheduled: 2026-04-01 09:00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查看目前跑著的 loops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&gt; /loops list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[1] every 5m  /babysit   (next: 2m 30s)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[2] every 30m /slack     (next: 18m)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600200"/>
            <a:ext cx="4846320" cy="365760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59168" y="1691640"/>
            <a:ext cx="46268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Microsoft JhengHei"/>
              </a:rPr>
              <a:t>Boris Cherny 的實際設定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9168" y="2075688"/>
            <a:ext cx="4626864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他同時跑著多個 loop：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/loop 5m /babysit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-&gt; 自動處理 code review 回饋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-&gt; 自動 PR rebase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/loop 30m /slack-feedback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-&gt; 把 Slack 使用者回饋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   自動整理成 GitHub PR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他說：「把工作流打包成 loop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是 Claude Code 最值得探索的方向」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1324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Microsoft JhengHei"/>
              </a:rPr>
              <a:t>新手建議：先從簡單任務開始，例如 /loop 1h check-spelling 每小時檢查一次拼字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6 — Hooks（工作週期節點注入邏輯）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B：排程、並行與自動驗證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在 Claude Code 工作週期的特定「節點」，自動執行你定義的腳本。像事件監聽器，但針對 AI 行為。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5669280" cy="173736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6916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B82F6"/>
                </a:solidFill>
                <a:latin typeface="Microsoft JhengHei"/>
              </a:rPr>
              <a:t>SessionStart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103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JhengHei"/>
              </a:rPr>
              <a:t>觸發：工作階段啟動時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441448"/>
            <a:ext cx="53035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</a:rPr>
              <a:t>自動把 CLAUDE.md 等上下文載入，
讓 Claude 每次開工都有完整背景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00200"/>
            <a:ext cx="5669280" cy="17373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6916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Microsoft JhengHei"/>
              </a:rPr>
              <a:t>PreToolUse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103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JhengHei"/>
              </a:rPr>
              <a:t>觸發：執行任何 bash 指令前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441448"/>
            <a:ext cx="53035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</a:rPr>
              <a:t>自動記錄操作日誌到 .claude_log.txt，
完整追蹤 Claude 的每個動作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474720"/>
            <a:ext cx="5669280" cy="17373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356616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Microsoft JhengHei"/>
              </a:rPr>
              <a:t>PermissionRequest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397763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JhengHei"/>
              </a:rPr>
              <a:t>觸發：需要使用者授權時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315968"/>
            <a:ext cx="53035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</a:rPr>
              <a:t>把通知轉發到 WhatsApp，
手機直接批准或拒絕，不必守在電腦前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474720"/>
            <a:ext cx="5669280" cy="17373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356616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  <a:latin typeface="Microsoft JhengHei"/>
              </a:rPr>
              <a:t>Stop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97763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JhengHei"/>
              </a:rPr>
              <a:t>觸發：Claude 停下來等待時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4315968"/>
            <a:ext cx="53035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Microsoft JhengHei"/>
              </a:rPr>
              <a:t>自動 poke 它繼續執行，
實現完全無人看管的持續推進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5440680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Microsoft JhengHei"/>
              </a:rPr>
              <a:t>Stop Hook 的意義：Claude 完成一個任務後停下來，Hook 自動叫它繼續，形成「永動機」式的自動化工作流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7 — --worktree（隔離工作樹）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B：排程、並行與自動驗證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在同一個 git repo 裡開多個「隔離的工作副本」，每個 Claude 各自在自己的分支工作，互不干擾。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6400800" cy="3703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6126480" cy="34838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開啟一個新的隔離工作樹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claude --worktree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Creating worktree: ../my-project-wt-1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Branch: claude/worktree-20260401-001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Claude is working in isolated copy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同時開第二個工作樹（另一個終端機）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claude --worktree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Creating worktree: ../my-project-wt-2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Branch: claude/worktree-20260401-002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查看所有工作樹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git worktree list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/Users/you/my-project        abc1234 [main]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/Users/you/my-project-wt-1   def5678 [claude/wt-001]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/Users/you/my-project-wt-2   ghi9012 [claude/wt-002]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600200"/>
            <a:ext cx="4846320" cy="370332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59168" y="1691640"/>
            <a:ext cx="46268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Microsoft JhengHei"/>
              </a:rPr>
              <a:t>Boris Cherny 的使用方式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9168" y="2075688"/>
            <a:ext cx="4626864" cy="3136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「我隨時都有幾十個 Claude 在跑，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worktrees 是核心基礎設施」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實際場景：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- 同時修 3 個不同的 bug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- 每個 Claude 在自己的分支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- 互不影響，完成後 merge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非 git 使用者：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可透過 WorktreeCreate hook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自訂工作樹建立邏輯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5896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Microsoft JhengHei"/>
              </a:rPr>
              <a:t>最大優點：改壞了不怕！每個工作樹都是獨立副本，隨時可以回退。主分支完全安全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8 — /batch（大規模並行代理人）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B：排程、並行與自動驗證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2025 年 2 月底推出。自動拆解大型任務，同時開啟數十至數百個 worktree 代理人並行執行。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6858000" cy="37947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6583680" cy="3575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大型程式碼遷移：Jest -&gt; Vitest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&gt; /batch migrate from jest to vitest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Clarifying questions: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1. Which directories? [src/, tests/] &gt; src/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2. Keep original files? [no] &gt; 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3. Run tests after migration? [yes] &gt; yes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Planning...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Found 147 test files to migrate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Spawning 20 parallel agents...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Agent 1:  migrating src/auth/login.test.js    [done]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Agent 2:  migrating src/api/user.test.js      [done]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Agent 3:  migrating src/utils/format.test.js  [running]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All 147 files migrated in 4m 32s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600200"/>
            <a:ext cx="4389120" cy="3794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6367" y="1691640"/>
            <a:ext cx="41696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Microsoft JhengHei"/>
              </a:rPr>
              <a:t>適合用 /batch 的任務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7" y="2075688"/>
            <a:ext cx="4169663" cy="3227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大型重構（統一命名規則）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跨檔案格式轉換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批次加入測試或文件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多語言翻譯所有頁面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套用新版 API 到全部呼叫點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不適合的任務：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需要人工判斷的設計決策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步驟之間有相依性的任務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50408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F4444"/>
                </a:solidFill>
                <a:latin typeface="Microsoft JhengHei"/>
              </a:rPr>
              <a:t>注意：/batch 會使用大量 API tokens，執行前確認任務規模，避免意外費用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4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9 — Chrome 擴充套件（瀏覽器操控）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C：開發工具鏈整合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讓 Claude 直接操控 Chrome 瀏覽器，讀取 console 錯誤、點擊按鈕、截圖測試 UI。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27632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Microsoft JhengHei"/>
              </a:rPr>
              <a:t>Boris Cherny 的比喻：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933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4FCF"/>
                </a:solidFill>
                <a:latin typeface="Microsoft JhengHei"/>
              </a:rPr>
              <a:t>「如果你請一個工程師建網站，但不讓他開瀏覽器，成果會好嗎？」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95728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Microsoft JhengHei"/>
              </a:rPr>
              <a:t>「給他瀏覽器，他就會不斷測試、迭代，直到結果正確。」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852928"/>
            <a:ext cx="6858000" cy="2542032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962656"/>
            <a:ext cx="6583680" cy="2322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Claude 看到你的網頁有 UI 問題後自動測試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Claude: 我來打開瀏覽器測試登入流程...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Opening http://localhost:3000/login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Clicking "Login" button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Console error found: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TypeError: Cannot read property "token" of undefined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at auth.js:47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Fixing auth.js line 47...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Reloading page...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Login successful! No console errors.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2852928"/>
            <a:ext cx="4389120" cy="2542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6367" y="2944368"/>
            <a:ext cx="41696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Microsoft JhengHei"/>
              </a:rPr>
              <a:t>操作步驟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6367" y="3328416"/>
            <a:ext cx="4169663" cy="1975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1. Chrome Web Store 搜尋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   "Claude Code" (選官方 beta 版)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2. 安裝擴充套件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3. 在 Claude Code 工作階段中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   說：「用瀏覽器測試首頁」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4. Claude 自動打開並測試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目前狀態：Beta 版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功能持續更新中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532120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77799"/>
                </a:solidFill>
                <a:latin typeface="Microsoft JhengHei"/>
              </a:rPr>
              <a:t>CLI / VS Code 使用者：也可安裝 Chrome 擴充套件，與 CLI 工作階段配合使用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4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10 + 11 — Desktop 內建瀏覽器 &amp; /branch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C：開發工具鏈整合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B4FCF"/>
                </a:solidFill>
                <a:latin typeface="Microsoft JhengHei"/>
              </a:rPr>
              <a:t>功能 10：Claude Desktop App 內建瀏覽器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72768"/>
            <a:ext cx="5669280" cy="2514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82495"/>
            <a:ext cx="5394960" cy="22951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Claude Desktop App 自動啟動 web server 測試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Claude: 我來啟動開發伺服器並測試...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$ npm run dev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Server running at http://localhost:5173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Opening built-in browser...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Screenshot taken: homepage.png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Issue found: button misaligned on mobile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Fixing CSS...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Re-testing... All good!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160520"/>
            <a:ext cx="5669280" cy="1554480"/>
          </a:xfrm>
          <a:prstGeom prst="rect">
            <a:avLst/>
          </a:prstGeom>
          <a:solidFill>
            <a:srgbClr val="ED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4251959"/>
            <a:ext cx="5449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4FCF"/>
                </a:solidFill>
                <a:latin typeface="Microsoft JhengHei"/>
              </a:rPr>
              <a:t>優點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4636008"/>
            <a:ext cx="5449824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不需要離開 Claude App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整個開發 + 測試流程閉環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CLI 用戶用 Chrome 擴充達成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同樣效果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11556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B4FCF"/>
                </a:solidFill>
                <a:latin typeface="Microsoft JhengHei"/>
              </a:rPr>
              <a:t>功能 11：/branch（工作節點分叉）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572768"/>
            <a:ext cx="5394960" cy="2514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682495"/>
            <a:ext cx="5120640" cy="22951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從現在的節點分叉出新嘗試方向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&gt; /branch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Saving checkpoint: "before-refactor"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Forked to new branch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You can try different approaches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and switch back anytime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切回主線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&gt; claude --resume --fork-session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Restored checkpoint: "before-refactor"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160520"/>
            <a:ext cx="5394960" cy="1554480"/>
          </a:xfrm>
          <a:prstGeom prst="rect">
            <a:avLst/>
          </a:prstGeom>
          <a:solidFill>
            <a:srgbClr val="ED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4251959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4FCF"/>
                </a:solidFill>
                <a:latin typeface="Microsoft JhengHei"/>
              </a:rPr>
              <a:t>使用場景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4636008"/>
            <a:ext cx="5175504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「試試看這個寫法對不對」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→ /branch 先存一個節點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→ 試了發現不行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→ 切回原本繼續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解決「改壞了怕回不去」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的心理負擔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4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12 — /btw（不中斷插入旁支問題）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C：開發工具鏈整合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在 Claude 還在執行長任務時，插入快速問題。Claude 回答後繼續原本工作，完全不中斷。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7772400" cy="3429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7498079" cy="3209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Claude 正在跑大型重構（需要 10 分鐘）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Claude: [running] Refactoring authentication module...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Processed 12/47 files...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你突然想知道某個函數的用途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&gt; /btw  什麼是 generateToken() 這個函數在做什麼？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Claude: [btw] generateToken() 在 auth/utils.js 第 23 行，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作用是產生一個 32 位元的隨機 token 用於 session 驗證。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目前重構不會影響它的行為。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Claude: [resuming main task]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Processed 13/47 files...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1600200"/>
            <a:ext cx="3474720" cy="3429000"/>
          </a:xfrm>
          <a:prstGeom prst="rect">
            <a:avLst/>
          </a:prstGeom>
          <a:solidFill>
            <a:srgbClr val="ED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7" y="1691640"/>
            <a:ext cx="32552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4FCF"/>
                </a:solidFill>
                <a:latin typeface="Microsoft JhengHei"/>
              </a:rPr>
              <a:t>為什麼這很有用？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7" y="2075688"/>
            <a:ext cx="3255263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以前：必須等 Claude 做完才問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或打斷任務（損失進度）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現在：任何時候都能插入問題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典型使用場景：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確認某個設計決策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快速查某個函數的作用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詢問「這樣做會不會有問題？」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答完後 Claude 自動繼續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1937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4FCF"/>
                </a:solidFill>
                <a:latin typeface="Microsoft JhengHei"/>
              </a:rPr>
              <a:t>新手提醒：/btw 問題要簡短，複雜問題等主任務結束再問，避免混淆 Claude 的上下文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650992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JhengHei"/>
              </a:rPr>
              <a:t>搭配技巧：與 --worktree 配合，主工作樹跑長任務，另開工作樹做獨立問題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13 — --bare（SDK 快速啟動旗標）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D：SDK 與多 Repo 協作優化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在批次處理或 CI/CD 場景，加上 --bare 可跳過 CLAUDE.md 等設定載入，啟動時間縮短最多 10 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6858000" cy="3474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6583680" cy="32552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一般互動模式（載入所有設定）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claude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Loading CLAUDE.md... (640 lines)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Loading MCP servers...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Loading settings...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Ready! (startup: 2.8s)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--bare 模式（跳過所有設定）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claude -p --bare "檢查 login.js 有無 XSS 風險"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Ready! (startup: 0.3s)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login.js: No XSS vulnerabilities found.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在批次腳本中使用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for f in src/*.js; do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  claude -p --bare "簡述這個檔案的功能" &lt; "$f"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done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600200"/>
            <a:ext cx="4389120" cy="34747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6367" y="1691640"/>
            <a:ext cx="41696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Microsoft JhengHei"/>
              </a:rPr>
              <a:t>什麼時候用 --bare？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7" y="2075688"/>
            <a:ext cx="4169663" cy="2907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互動使用：不需要 --bare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（設定只載入一次）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適合 --bare 的場景：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Shell 腳本批次處理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CI/CD 自動化流程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TypeScript/Python SDK 呼叫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快速的單次問答 (-p 模式)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Boris Cherny：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「可縮短 SDK 啟動最多 10 倍」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230368"/>
            <a:ext cx="11338560" cy="9601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340096"/>
            <a:ext cx="11064240" cy="740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Python SDK 使用範例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import anthropic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client = anthropic.Anthropic()</a:t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加 --bare 等效：建立 client 時跳過 claude 設定</a:t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適合大量批次 API 呼叫，回應更快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14 — --add-dir（跨 Repo 操作）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D：SDK 與多 Repo 協作優化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啟動 claude 時加入其他 repo 的目錄，讓 Claude 能讀寫多個不同的專案資料夾。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6858000" cy="3429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6583680" cy="3209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在主要 repo 啟動，同時加入其他 repo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cd /projects/frontend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claude --add-dir /projects/backend --add-dir /projects/shared-lib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Loaded: /projects/frontend  (312 files)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Added:  /projects/backend   (189 files) [full write access]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Added:  /projects/shared-lib (64 files) [full write access]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工作階段中動態加入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&gt; /add-dir /projects/design-tokens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Added: /projects/design-tokens (12 files)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或寫入 settings.json 讓整個團隊共用</a:t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.claude/settings.json</a:t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{ "additionalDirectories": ["/projects/shared-lib"] }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600200"/>
            <a:ext cx="4389120" cy="34290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6367" y="1691640"/>
            <a:ext cx="41696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Microsoft JhengHei"/>
              </a:rPr>
              <a:t>重要：不只是「看到」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7" y="2075688"/>
            <a:ext cx="4169663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一般以為 --add-dir 只是讓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Claude 能讀取其他目錄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實際上：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Claude 在這些目錄有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完整的讀寫操作權限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Boris Cherny：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「它不只讓 Claude 看到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那個目錄，還賦予完整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操作權限」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184648"/>
            <a:ext cx="11338560" cy="11887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5276088"/>
            <a:ext cx="111191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Microsoft JhengHei"/>
              </a:rPr>
              <a:t>實際場景：前後端同步修改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5660136"/>
            <a:ext cx="1111910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前端發現 API 格式改變了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需要同時改前端呼叫 + 後端回傳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以前：開兩個終端機、兩個 Claude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現在：一個 Claude 同時搞定兩個 repo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15 — --agent（自訂子代理人）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D：SDK 與多 Repo 協作優化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在 .claude/agents/ 資料夾定義代理人設定檔，建立具有不同行為、不同工具限制的 Claude 子代理人。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6583680" cy="37947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6309360" cy="3575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79966"/>
                </a:solidFill>
                <a:latin typeface="Consolas"/>
              </a:rPr>
              <a:t># 建立 .claude/agents/ 資料夾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mkdir -p .claude/agents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建立 readonly 代理人（只能讀，不能寫）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cat .claude/agents/readonly.md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name: readonly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description: 只能讀取程式碼，無法修改或執行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allowedTools: [ReadFile, ListFiles, SearchCode]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You are a code reviewer. Only read and analyze code.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Never modify files or run commands.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779966"/>
                </a:solidFill>
                <a:latin typeface="Consolas"/>
              </a:rPr>
              <a:t># 啟動自訂代理人</a:t>
            </a:r>
          </a:p>
          <a:p>
            <a:r>
              <a:rPr sz="1200">
                <a:solidFill>
                  <a:srgbClr val="89DDFF"/>
                </a:solidFill>
                <a:latin typeface="Consolas"/>
              </a:rPr>
              <a:t>$ claude --agent=readonly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Loaded agent: readonly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Tools available: ReadFile, ListFiles, SearchCode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[Edit and Bash tools are DISABLED]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0" y="1600200"/>
            <a:ext cx="4754880" cy="37947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50608" y="1691640"/>
            <a:ext cx="4535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Microsoft JhengHei"/>
              </a:rPr>
              <a:t>Boris Cherny 的 ReadOnly 代理人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0608" y="2075688"/>
            <a:ext cx="4535424" cy="3227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F2937"/>
                </a:solidFill>
                <a:latin typeface="Microsoft JhengHei"/>
              </a:rPr>
              <a:t>設定：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只開放讀取工具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無法編輯檔案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無法執行 bash 指令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用途：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安全地做程式碼審查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讓不信任的人使用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CI 環境只讀分析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你也可以建立：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只能寫特定資料夾</a:t>
            </a:r>
          </a:p>
          <a:p>
            <a:r>
              <a:rPr sz="1150">
                <a:solidFill>
                  <a:srgbClr val="1F2937"/>
                </a:solidFill>
                <a:latin typeface="Microsoft JhengHei"/>
              </a:rPr>
              <a:t>• 只能用某些工具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5955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Microsoft JhengHei"/>
              </a:rPr>
              <a:t>進階：可以在 --agent 中設定不同的系統提示（system prompt），讓 Claude 扮演不同的專業角色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功能 16 — /voice（語音輸入）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類別 E：輸入體驗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Microsoft JhengHei"/>
              </a:rPr>
              <a:t>不用打字，直接說話下指令。Boris Cherny 本人親口確認：「我日常以說話為主、鍵盤為輔」。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3703320" cy="384048"/>
          </a:xfrm>
          <a:prstGeom prst="rect">
            <a:avLst/>
          </a:prstGeom>
          <a:solidFill>
            <a:srgbClr val="ED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600200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5B4FCF"/>
                </a:solidFill>
                <a:latin typeface="Microsoft JhengHei"/>
              </a:rPr>
              <a:t>CLI 終端機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011680"/>
            <a:ext cx="3703320" cy="3063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21408"/>
            <a:ext cx="3429000" cy="28437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A8CC8C"/>
                </a:solidFill>
                <a:latin typeface="Consolas"/>
              </a:rPr>
              <a:t>$ claude</a:t>
            </a:r>
          </a:p>
          <a:p>
            <a:r>
              <a:rPr sz="1100">
                <a:solidFill>
                  <a:srgbClr val="89DDFF"/>
                </a:solidFill>
                <a:latin typeface="Consolas"/>
              </a:rPr>
              <a:t>&gt; /voice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[Voice mode activated]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Hold SPACE to speak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Release to send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你說：「把 CSS 的顏色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     全部換成設計系統的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       CSS 變數」</a:t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CCCCCC"/>
                </a:solidFill>
                <a:latin typeface="Consolas"/>
              </a:rPr>
              <a:t>  Claude 執行中...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1600200"/>
            <a:ext cx="3703320" cy="384048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1600200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Microsoft JhengHei"/>
              </a:rPr>
              <a:t>Desktop 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011680"/>
            <a:ext cx="3703320" cy="306324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2121408"/>
            <a:ext cx="3429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F2937"/>
                </a:solidFill>
                <a:latin typeface="Microsoft JhengHei"/>
              </a:rPr>
              <a:t>1. 開啟 Claude Desktop App</a:t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>2. 點擊右下角麥克風按鈕</a:t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>3. 說出你的指令</a:t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>4. 放開 / 點停止按鈕</a:t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>優點：介面更直覺，</a:t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>有視覺回饋顯示</a:t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>語音辨識狀態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60" y="1600200"/>
            <a:ext cx="3703320" cy="384048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1600200"/>
            <a:ext cx="3703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Microsoft JhengHei"/>
              </a:rPr>
              <a:t>iPhone / iPad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2011680"/>
            <a:ext cx="3703320" cy="306324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2121408"/>
            <a:ext cx="3429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F2937"/>
                </a:solidFill>
                <a:latin typeface="Microsoft JhengHei"/>
              </a:rPr>
              <a:t>1. 設定 -&gt; 一般 -&gt; 鍵盤</a:t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>2. 開啟「啟用聽寫」</a:t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>使用時：</a:t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>鍵盤上按麥克風圖示</a:t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>對著手機說話</a:t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/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>不需要安裝任何額外</a:t>
            </a:r>
          </a:p>
          <a:p>
            <a:r>
              <a:rPr sz="1200">
                <a:solidFill>
                  <a:srgbClr val="1F2937"/>
                </a:solidFill>
                <a:latin typeface="Microsoft JhengHei"/>
              </a:rPr>
              <a:t>軟體，系統層級整合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19379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C4899"/>
                </a:solidFill>
                <a:latin typeface="Microsoft JhengHei"/>
              </a:rPr>
              <a:t>語音輸入特別適合：長段說明型指令（「幫我寫一個函數，功能是…，輸入是…，要注意…」）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65099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Microsoft JhengHei"/>
              </a:rPr>
              <a:t>鍵盤輸入特別適合：精確的程式碼片段、檔案路徑、需要特定格式的指令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4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CLI 快速指令速查表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把這頁截圖存手機，隨時查閱！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2788920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78992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跨裝置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2788920" cy="48463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36192"/>
            <a:ext cx="2606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3B82F6"/>
                </a:solidFill>
                <a:latin typeface="Consolas"/>
              </a:rPr>
              <a:t>claude --teleport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雲端階段移到本機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3B82F6"/>
                </a:solidFill>
                <a:latin typeface="Consolas"/>
              </a:rPr>
              <a:t>/teleport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（工作階段中輸入）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3B82F6"/>
                </a:solidFill>
                <a:latin typeface="Consolas"/>
              </a:rPr>
              <a:t>claude remote-control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開啟遠端控制伺服器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3B82F6"/>
                </a:solidFill>
                <a:latin typeface="Consolas"/>
              </a:rPr>
              <a:t>/remote-control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（工作階段中輸入）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3B82F6"/>
                </a:solidFill>
                <a:latin typeface="Consolas"/>
              </a:rPr>
              <a:t>/config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設定預設開啟遠端控制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54680" y="1078992"/>
            <a:ext cx="2788920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1078992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排程並行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463040"/>
            <a:ext cx="2788920" cy="484632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536192"/>
            <a:ext cx="2606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10B981"/>
                </a:solidFill>
                <a:latin typeface="Consolas"/>
              </a:rPr>
              <a:t>/loop 5m task-name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每 5 分鐘執行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10B981"/>
                </a:solidFill>
                <a:latin typeface="Consolas"/>
              </a:rPr>
              <a:t>/loop 1h task-name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每 1 小時執行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10B981"/>
                </a:solidFill>
                <a:latin typeface="Consolas"/>
              </a:rPr>
              <a:t>/schedule "時間" task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指定時間執行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10B981"/>
                </a:solidFill>
                <a:latin typeface="Consolas"/>
              </a:rPr>
              <a:t>/loops list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查看執行中的 loops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10B981"/>
                </a:solidFill>
                <a:latin typeface="Consolas"/>
              </a:rPr>
              <a:t>claude --worktree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開新隔離工作樹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10B981"/>
                </a:solidFill>
                <a:latin typeface="Consolas"/>
              </a:rPr>
              <a:t>/batch 任務說明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大規模並行執行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078992"/>
            <a:ext cx="2697480" cy="365760"/>
          </a:xfrm>
          <a:prstGeom prst="rect">
            <a:avLst/>
          </a:prstGeom>
          <a:solidFill>
            <a:srgbClr val="5B4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1078992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工具整合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463040"/>
            <a:ext cx="2697480" cy="4846320"/>
          </a:xfrm>
          <a:prstGeom prst="rect">
            <a:avLst/>
          </a:prstGeom>
          <a:solidFill>
            <a:srgbClr val="ED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79" y="1536192"/>
            <a:ext cx="25146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5B4FCF"/>
                </a:solidFill>
                <a:latin typeface="Consolas"/>
              </a:rPr>
              <a:t>/branch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從目前節點分叉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5B4FCF"/>
                </a:solidFill>
                <a:latin typeface="Consolas"/>
              </a:rPr>
              <a:t>claude --resume --fork-session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切回主線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5B4FCF"/>
                </a:solidFill>
                <a:latin typeface="Consolas"/>
              </a:rPr>
              <a:t>/btw 快速問題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不中斷插入旁支問答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3960" y="1078992"/>
            <a:ext cx="3044952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1078992"/>
            <a:ext cx="3044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SDK 協作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3960" y="1463040"/>
            <a:ext cx="3044952" cy="48463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1536192"/>
            <a:ext cx="2862072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F59E0B"/>
                </a:solidFill>
                <a:latin typeface="Consolas"/>
              </a:rPr>
              <a:t>claude -p --bare "問題"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快速單次問答（無設定）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F59E0B"/>
                </a:solidFill>
                <a:latin typeface="Consolas"/>
              </a:rPr>
              <a:t>claude --add-dir /path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加入其他目錄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F59E0B"/>
                </a:solidFill>
                <a:latin typeface="Consolas"/>
              </a:rPr>
              <a:t>/add-dir /path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（工作階段中動態加入）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F59E0B"/>
                </a:solidFill>
                <a:latin typeface="Consolas"/>
              </a:rPr>
              <a:t>claude --agent=name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啟動自訂代理人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F59E0B"/>
                </a:solidFill>
                <a:latin typeface="Consolas"/>
              </a:rPr>
              <a:t>/voice</a:t>
            </a:r>
          </a:p>
          <a:p>
            <a:r>
              <a:rPr sz="1050">
                <a:solidFill>
                  <a:srgbClr val="1F2937"/>
                </a:solidFill>
                <a:latin typeface="Microsoft JhengHei"/>
              </a:rPr>
              <a:t>  語音輸入模式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4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新手學習路徑建議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FF"/>
                </a:solidFill>
                <a:latin typeface="Microsoft JhengHei"/>
              </a:rPr>
              <a:t>由淺入深，穩步掌握所有 16 項功能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78992"/>
            <a:ext cx="2788920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78992"/>
            <a:ext cx="2788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第 1 週
基礎入門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755648"/>
            <a:ext cx="2788920" cy="329184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847088"/>
            <a:ext cx="257860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1. 安裝 Claude Code（CLI 方式）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2. 練習用中文下指令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3. 試試 /voice 語音輸入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4. 用 claude 讀懂一個你不熟的程式碼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078992"/>
            <a:ext cx="27889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078992"/>
            <a:ext cx="2788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第 2 週
跨裝置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755648"/>
            <a:ext cx="2788920" cy="329184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847088"/>
            <a:ext cx="257860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1. 安裝 Mobile App，試試跨裝置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2. 啟動 claude remote-control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3. 用手機下一個指令給電腦執行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4. 嘗試 /branch 建立一個分叉點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078992"/>
            <a:ext cx="27889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078992"/>
            <a:ext cx="2788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第 3 週
自動化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755648"/>
            <a:ext cx="2788920" cy="329184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8" y="1847088"/>
            <a:ext cx="257860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1. 設定 SessionStart Hook（自動載入上下文）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2. 試試 claude --worktree 隔離工作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3. 用 /loop 30m 跑一個自動任務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4. 體驗 /btw 不中斷插入問題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078992"/>
            <a:ext cx="2788920" cy="658368"/>
          </a:xfrm>
          <a:prstGeom prst="rect">
            <a:avLst/>
          </a:prstGeom>
          <a:solidFill>
            <a:srgbClr val="5B4F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078992"/>
            <a:ext cx="2788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第 4 週
進階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755648"/>
            <a:ext cx="2788920" cy="3291840"/>
          </a:xfrm>
          <a:prstGeom prst="rect">
            <a:avLst/>
          </a:prstGeom>
          <a:solidFill>
            <a:srgbClr val="ED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1847088"/>
            <a:ext cx="257860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1. 嘗試 /batch 執行一個批次任務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2. 設定 --add-dir 跨 repo 操作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3. 建立一個 --agent 自訂代理人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F2937"/>
                </a:solidFill>
                <a:latin typeface="Microsoft JhengHei"/>
              </a:rPr>
              <a:t>4. 配置 Chrome 擴充套件測試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519379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Microsoft JhengHei"/>
              </a:rPr>
              <a:t>重要原則：每項功能先「能用就好」，不需要一次掌握所有細節。用到了再深入研究。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562356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77799"/>
                </a:solidFill>
                <a:latin typeface="Microsoft JhengHei"/>
              </a:rPr>
              <a:t>Cowork Dispatch 和 Hooks 較複雜，建議第 3-4 週以後再深入研究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B30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1148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掌握 Claude Code 的三個關鍵心態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11430000" cy="1508760"/>
          </a:xfrm>
          <a:prstGeom prst="rect">
            <a:avLst/>
          </a:prstGeom>
          <a:solidFill>
            <a:srgbClr val="2D2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Microsoft JhengHei"/>
              </a:rPr>
              <a:t>AI 做重複工作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B981"/>
                </a:solidFill>
                <a:latin typeface="Microsoft JhengHei"/>
              </a:rPr>
              <a:t>/loop  /batch  Hooks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371600"/>
            <a:ext cx="6949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你只需要說「做什麼」，Claude 自己想「怎麼做」。
把重複任務打包成 loop，下班後繼續跑。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816352"/>
            <a:ext cx="11430000" cy="1508760"/>
          </a:xfrm>
          <a:prstGeom prst="rect">
            <a:avLst/>
          </a:prstGeom>
          <a:solidFill>
            <a:srgbClr val="2D2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907792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Microsoft JhengHei"/>
              </a:rPr>
              <a:t>隨時隨地工作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1071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B981"/>
                </a:solidFill>
                <a:latin typeface="Microsoft JhengHei"/>
              </a:rPr>
              <a:t>Mobile App  /teleport  /remote-control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99232"/>
            <a:ext cx="6949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不限裝置，不限地點。搭捷運可以下指令，
手機操控家裡電腦，雲端與本機無縫切換。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43984"/>
            <a:ext cx="11430000" cy="1508760"/>
          </a:xfrm>
          <a:prstGeom prst="rect">
            <a:avLst/>
          </a:prstGeom>
          <a:solidFill>
            <a:srgbClr val="2D23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4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Microsoft JhengHei"/>
              </a:rPr>
              <a:t>大膽嘗試不怕失敗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3834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B981"/>
                </a:solidFill>
                <a:latin typeface="Microsoft JhengHei"/>
              </a:rPr>
              <a:t>--worktree  /branch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4626864"/>
            <a:ext cx="69494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每次改動都有隔離環境，隨時可以回退。
試錯的成本幾乎是零，勇敢嘗試新方向。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08192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Microsoft JhengHei"/>
              </a:rPr>
              <a:t>現在就開始：安裝 Claude Code  -&gt;  輸入 /voice  -&gt;  說出你的第一個指令！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