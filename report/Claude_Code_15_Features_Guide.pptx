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FF"/>
                </a:solidFill>
                <a:latin typeface="微軟正黑體"/>
              </a:rPr>
              <a:t>🤖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軟正黑體"/>
              </a:rPr>
              <a:t>15 項被低估功能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微軟正黑體"/>
              </a:rPr>
              <a:t>新手完整操作指南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FF"/>
                </a:solidFill>
                <a:latin typeface="微軟正黑體"/>
              </a:rPr>
              <a:t>從安裝到實際應用，一步步帶你掌握每個功能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AA"/>
                </a:solidFill>
                <a:latin typeface="微軟正黑體"/>
              </a:rPr>
              <a:t>來源：Boris Cherny（Claude Code 負責人）  ·  整理日期：2026-03-31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什麼是 Claude Code？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開始之前，先了解它的定位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Claude Code 是 Anthropic 推出的 AI 編程工具，可以：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11338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軟正黑體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軟正黑體"/>
              </a:rPr>
              <a:t>理解並執行自然語言指令（中文、英文都行）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50008"/>
            <a:ext cx="11338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軟正黑體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4144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軟正黑體"/>
              </a:rPr>
              <a:t>直接讀寫你電腦上的程式碼檔案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16936"/>
            <a:ext cx="11338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0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軟正黑體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0837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軟正黑體"/>
              </a:rPr>
              <a:t>在終端機執行指令、安裝套件、跑測試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83863"/>
            <a:ext cx="11338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5701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軟正黑體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75303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軟正黑體"/>
              </a:rPr>
              <a:t>操控瀏覽器進行 UI 測試與驗證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11338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239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微軟正黑體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42231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軟正黑體"/>
              </a:rPr>
              <a:t>啟動多個 AI 代理人同時處理不同任務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54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99"/>
                </a:solidFill>
                <a:latin typeface="微軟正黑體"/>
              </a:rPr>
              <a:t>📊  自 2026 年以來，Anthropic 工程師使用 Claude Code 後，程式碼產出成長超過 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578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99"/>
                </a:solidFill>
                <a:latin typeface="微軟正黑體"/>
              </a:rPr>
              <a:t>🔧  使用方式：CLI 終端機 / VS Code 擴充 / Claude Desktop App / 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💡 新手提示：有 Claude.ai 帳號就能開始，免設定複雜環境！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如何開始使用 Claude Code？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3 種安裝方式，選一個最適合你的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947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947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方式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CLI 命令列（推薦新手）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① 確認已安裝 Node.js 18+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② 執行：npm install -g @anthropic-ai/claude-code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③ 在專案資料夾執行：claude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④ 輸入 Claude.ai 帳號登入即可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7947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80160"/>
            <a:ext cx="37947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方式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VS Code 擴充套件（最簡單）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① 開啟 VS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② 搜尋「Claude Code」擴充套件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③ 點擊安裝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④ 登入 Claude 帳號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7947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794760" cy="4114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方式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7373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  <a:latin typeface="微軟正黑體"/>
              </a:rPr>
              <a:t>Claude Desktop App（功能最完整）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① 前往 claude.ai 下載桌面版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② 安裝並登入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③ 開啟 Code 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微軟正黑體"/>
              </a:rPr>
              <a:t>④ 支援內建瀏覽器、Cowork Dispatch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B4FCF"/>
                </a:solidFill>
                <a:latin typeface="微軟正黑體"/>
              </a:rPr>
              <a:t>✅ 本指南以 CLI 方式為主要示範環境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15 項功能總覽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5 大類別，逐一解鎖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011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0116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2435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📱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微軟正黑體"/>
              </a:rPr>
              <a:t>跨裝置連續工作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33172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①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88036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② /teleport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42900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③ /remote-control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977639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④ Cowork Dispatch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234440"/>
            <a:ext cx="2011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234440"/>
            <a:ext cx="20116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12435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⚙️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1783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微軟正黑體"/>
              </a:rPr>
              <a:t>排程、並行與自動驗證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33172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⑤ /loop + /schedule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288036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⑥ Hooks（4種）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42900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⑦ --worktree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3977639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⑧ /batch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1234440"/>
            <a:ext cx="2011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1234440"/>
            <a:ext cx="2011680" cy="50292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2435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🔧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1783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4FCF"/>
                </a:solidFill>
                <a:latin typeface="微軟正黑體"/>
              </a:rPr>
              <a:t>開發工具鏈整合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233172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⑨ Chrome 擴充套件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88036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⑩ Desktop 瀏覽器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42900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⑪ /branch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3977639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⑫ /btw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1234440"/>
            <a:ext cx="2011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12280" y="1234440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12435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📦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783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微軟正黑體"/>
              </a:rPr>
              <a:t>SDK 與多 Repo 協作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233172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⑬ --bare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288036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⑭ --add-dir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342900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⑮ --agent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1234440"/>
            <a:ext cx="20116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1234440"/>
            <a:ext cx="201168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992" y="12435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軟正黑體"/>
              </a:rPr>
              <a:t>🎤 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17830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微軟正黑體"/>
              </a:rPr>
              <a:t>輸入體驗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7" y="2331720"/>
            <a:ext cx="1792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⑯ /voice 語音輸入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644652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B4FCF"/>
                </a:solidFill>
                <a:latin typeface="微軟正黑體"/>
              </a:rPr>
              <a:t>💡 建議新手學習順序：①②③ → ⑦ → ⑥ → ⑤⑧ → 其餘進階功能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① — Mobile App（行動裝置存取）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A：跨裝置連續工作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📱 在手機上繼續你的 AI 開發工作，不需要開電腦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858000" cy="29260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6638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663854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① 在手機安裝「Claude」App（iOS App Store / Android Google Play）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② 登入與電腦相同的 Claude 帳號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③ 點擊左側選單 → 切換至「Code」分頁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④ 即可看到並繼續所有雲端工作階段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⑤ 直接用手機鍵盤或語音輸入指令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691640"/>
            <a:ext cx="4480560" cy="2926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7" y="1764792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7" y="2103120"/>
            <a:ext cx="426110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情境：你在咖啡廳，電腦沒帶，但突然想到一個 Bug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打開手機 Claude App → Code 分頁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找到昨天的工作階段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輸入「幫我修復 b3_savings_plan.js 第 245 行的 null 錯誤」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Claude 修改後，回家用電腦確認即可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Boris Cherny（Claude Code 負責人）表示：他大比例的程式修改直接從 iPhone 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09160"/>
            <a:ext cx="11155680" cy="1234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800600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48072"/>
            <a:ext cx="109362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雲端工作階段才能跨裝置同步，本機 CLI 模式不適用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手機版適合「查看進度」和「下簡單指令」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複雜操作（如大量重構）建議回到電腦上執行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035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難度：★☆☆☆☆（最簡單，零設定）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② — /teleport（雲端⇄本機傳送）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A：跨裝置連續工作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☁️ 將雲端工作階段「傳送」回本機繼續執行，或反向上傳至雲端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7335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88"/>
                </a:solidFill>
                <a:latin typeface="微軟正黑體"/>
              </a:rPr>
              <a:t>使用場景：手機開工 → 回到電腦上繼續（本機有完整檔案系統和工具）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84831"/>
            <a:ext cx="6217920" cy="30175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157984"/>
            <a:ext cx="5998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96312"/>
            <a:ext cx="5998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方法 A：啟動時使用旗標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在終端機輸入：claude --teleport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→ 自動列出雲端工作階段，選擇要拉回的那個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方法 B：工作階段中途使用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在 Claude 對話中輸入：/teleport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→ 當前工作階段立即切換至本機環境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848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指令範例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432304"/>
            <a:ext cx="5029200" cy="2697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523744"/>
            <a:ext cx="4754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CC8C"/>
                </a:solidFill>
                <a:latin typeface="Consolas"/>
              </a:rPr>
              <a:t># 方法 A：在終端機啟動時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claude --teleport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方法 B：工作階段中直接輸入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/teleport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選擇要傳送的工作階段後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Claude 自動在本機環境繼續執行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66360"/>
            <a:ext cx="11155680" cy="1234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257800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605272"/>
            <a:ext cx="109362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需要有 Claude.ai 帳號的「雲端工作階段」才能使用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如果只用本機 CLI，沒有雲端階段可傳送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傳送後本機有完整檔案讀寫權限，功能比手機強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難度：★★☆☆☆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③ — /remote-control（遠端操控本機）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A：跨裝置連續工作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🖥️ 從手機或瀏覽器，即時操控你家電腦上正在執行的 Claude 工作階段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766560" cy="3657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6547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65471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設定步驟（一次性）：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① 電腦上開啟 Claude CLI → 輸入 /config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② 找到「Enable Remote Control for all sessions」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③ 設為「開啟（Enabled）」→ 之後每次自動生效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每次使用時：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④ 電腦上執行 claude（確保有在跑）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⑤ 手機或其他裝置 → Claude App → 輸入 /remote-control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⑥ 輸入電腦端顯示的連線碼，即可遠端操控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691640"/>
            <a:ext cx="4663440" cy="3657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764792"/>
            <a:ext cx="4443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103120"/>
            <a:ext cx="444398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情境：讓 Claude 在家裡電腦跑大型任務，你出門買東西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電腦端（出門前）：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claude --remote-control --name "重構任務"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手機端（路上查看）：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/remote-control → 輸入連線碼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→ 看到 Claude 進度 → 插入新指令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本專案的 cladue.bat 已整合此功能！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440680"/>
            <a:ext cx="11155680" cy="10058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532120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879592"/>
            <a:ext cx="109362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電腦要保持開機且 Claude 在執行，手機才能連上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非常適合「讓 AI 跑長時間任務」同時你去做其他事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難度：★★☆☆☆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④ — Cowork Dispatch（MCP 遠端控制介面）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A：跨裝置連續工作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🤝 透過 Claude Desktop App，讓 AI 幫你操控瀏覽器、管理 Slack、處理電子郵件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766560" cy="3474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6547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654710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① 安裝 Claude Desktop App（桌面版，非 CLI）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② 在 Claude Desktop 的設定中，新增 MCP 伺服器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• Slack MCP：讓 Claude 讀寫 Slack 訊息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• Browser MCP：讓 Claude 操控 Chrome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• File MCP：讓 Claude 管理本機檔案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③ 在對話中說：「幫我回覆今天所有 Slack 的問題」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④ Claude 自動操作 Slack → 完成任務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691640"/>
            <a:ext cx="4663440" cy="34747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783080"/>
            <a:ext cx="44439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微軟正黑體"/>
              </a:rPr>
              <a:t>⚠️ ⚠️ 注意事項（新手必讀）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130552"/>
            <a:ext cx="4443983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需要 Claude Desktop App，CLI 版不支援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MCP 伺服器設定有一定技術門檻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建議先熟悉其他功能，進階後再學此功能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Slack MCP 需要 Slack 管理員權限設定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57800"/>
            <a:ext cx="11155680" cy="1371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330952"/>
            <a:ext cx="10936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Boris Cherny 的使用方式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669280"/>
            <a:ext cx="109362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在非寫程式時間，Cherny 用 Cowork Dispatch：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每天早上自動整理 Slack 未讀訊息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起草並發送電子郵件回覆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組織和命名桌面檔案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讓 Claude 幫處理非程式工作，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自己專注在更有創意的任務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751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微軟正黑體"/>
              </a:rPr>
              <a:t>⭐ 難度：★★★★☆（進階功能，建議有基礎後再嘗試）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⑤ — /loop + /schedule（排程自動執行）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B：排程、並行與自動驗證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⏰ 讓 Claude 以固定時間間隔自動重複執行任務，最長可排程一週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基本語法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59436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CC8C"/>
                </a:solidFill>
                <a:latin typeface="Consolas"/>
              </a:rPr>
              <a:t>/loop [時間間隔] [要執行的指令或任務]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時間單位：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s = 秒    m = 分鐘    h = 小時    d = 天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範例：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/loop 5m /check-pr        # 每 5 分鐘檢查 PR 狀態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/loop 30m /slack-feedback # 每 30 分鐘整理 Slack 回饋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/loop 1h /run-tests       # 每 1 小時跑一次測試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/loop 1d /generate-report # 每天生成報告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91640"/>
            <a:ext cx="5394960" cy="32918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64792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Boris Cherny 的實際用法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03120"/>
            <a:ext cx="51755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用法一：自動處理 Code Review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/loop 5m /babysit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→ 每 5 分鐘自動：審查新 PR、處理 rebase 衝突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用法二：自動整理 Slack 回饋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/loop 30m /slack-feedback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→ 每 30 分鐘：讀取 Slack → 整理成 PR → 自動提交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適合你的情境（Money Tutor 專案）：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/loop 1h /scan-console-errors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→ 每小時掃描 JS 錯誤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1155680" cy="1325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166359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513831"/>
            <a:ext cx="1093622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先測試指令能正確執行，再加 /loop 自動化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/schedule 可設定一次性的未來時間執行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小心無限迴圈！加上 /stop 可以隨時停止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難度：★★★☆☆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⑥ — Hooks（週期節點注入邏輯）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B：排程、並行與自動驗證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🪝 在 Claude 工作的特定時機點，自動執行你預設好的程式或指令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8346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SessionStart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微軟正黑體"/>
              </a:rPr>
              <a:t>⏱️ 時機：工作階段開始時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💡 用途：
自動載入 CLAUDE.md 說明
→「每次開始工作先讀取專案說明」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9164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1691640"/>
            <a:ext cx="28346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PreToolUse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微軟正黑體"/>
              </a:rPr>
              <a:t>⏱️ 時機：每次執行工具前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6060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💡 用途：
自動寫日誌記錄
→「每次 Claude 改檔案前先備份」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169164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691640"/>
            <a:ext cx="283464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5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PermissionRequest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5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微軟正黑體"/>
              </a:rPr>
              <a:t>⏱️ 時機：需要授權時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26060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💡 用途：
將授權請求發到手機
→「手機批准高風險操作」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4" y="1691640"/>
            <a:ext cx="28346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0264" y="1691640"/>
            <a:ext cx="2834640" cy="4114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4FCF"/>
                </a:solidFill>
                <a:latin typeface="微軟正黑體"/>
              </a:rPr>
              <a:t>⏱️ 時機：Claude 暫停等待時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26060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💡 用途：
自動繼續推進任務
→「無人值守時 Claude 自動繼續」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設定方式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06440"/>
            <a:ext cx="530352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9787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8CC8C"/>
                </a:solidFill>
                <a:latin typeface="Consolas"/>
              </a:rPr>
              <a:t># 在 settings.json 中設定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{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"hooks": {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"SessionStart": [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  "cat CLAUDE.md"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],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"PreToolUse": [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  "echo 'Tool: $TOOL' &gt;&gt; log.txt"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  ]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  }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5440680"/>
            <a:ext cx="5943600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61888" y="5532120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1888" y="5879592"/>
            <a:ext cx="57241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Hook 設定檔位於 ~/.claude/settings.json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從最簡單的 SessionStart 開始學（載入說明文件）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PreToolUse 可在執行前驗證，防止意外操作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858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⭐ 難度：★★★☆☆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⑦ — --worktree（隔離工作樹）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B：排程、並行與自動驗證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🌲 在同一個專案中，開啟多個完全獨立的工作環境，讓多個 Claude 同時互不干擾地工作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11338560" cy="457200"/>
          </a:xfrm>
          <a:prstGeom prst="rect">
            <a:avLst/>
          </a:prstGeom>
          <a:solidFill>
            <a:srgbClr val="3B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</a:rPr>
              <a:t>主要專案 (main branch)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67712"/>
            <a:ext cx="356616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Worktree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</a:rPr>
              <a:t>Claude #1 修復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0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FCC"/>
                </a:solidFill>
                <a:latin typeface="微軟正黑體"/>
              </a:rPr>
              <a:t>功能 A
feature-bug-fix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267712"/>
            <a:ext cx="3566160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Worktree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697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</a:rPr>
              <a:t>Claude #2 新增功能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90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FCC"/>
                </a:solidFill>
                <a:latin typeface="微軟正黑體"/>
              </a:rPr>
              <a:t>功能 B
feature-new-ui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267712"/>
            <a:ext cx="3566160" cy="146304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286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Worktree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軟正黑體"/>
              </a:rPr>
              <a:t>Claude #3 寫測試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906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FCC"/>
                </a:solidFill>
                <a:latin typeface="微軟正黑體"/>
              </a:rPr>
              <a:t>功能 C
feature-tests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6400800" cy="2697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67912"/>
            <a:ext cx="6181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206240"/>
            <a:ext cx="61813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方法 A：CLI 啟動時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claude --worktree  → Claude 自動建立隔離環境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方法 B：Agent 工具中（本專案已在用！）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isolation: "worktree"  → 子代理人在獨立分支作業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方法 C：手動建立 Git Worktree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git worktree add ../feature-branch feature/my-task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cd ../feature-branch &amp;&amp; claude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794760"/>
            <a:ext cx="4663440" cy="26974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3867912"/>
            <a:ext cx="4443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本專案的實際應用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206240"/>
            <a:ext cx="444398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Money Tutor 已在使用！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當 Claude 需要同時：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修復 B3 的 Bug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重構 B6 的 CSS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撰寫測試腳本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各自在不同 worktree 執行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不會互相污染程式碼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4FCF"/>
                </a:solidFill>
                <a:latin typeface="微軟正黑體"/>
              </a:rPr>
              <a:t>⭐ 難度：★★★☆☆  |  Boris Cherny 說：隨時都有幾十個 Claude 在跑，worktrees 是核心基礎設施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⑧ — /batch（大規模並行代理人）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B：排程、並行與自動驗證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⚡ 一個指令，Claude 自動拆解工作，同時開啟數十至數千個代理人並行完成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使用方式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84831"/>
            <a:ext cx="576072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CC8C"/>
                </a:solidFill>
                <a:latin typeface="Consolas"/>
              </a:rPr>
              <a:t>/batch [你要做的大型任務]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實際範例：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/batch migrate from jest to vite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/batch add TypeScript types to all JS files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/batch write unit tests for all components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/batch translate all comments to English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Claude 會：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1. 先問幾個問題確認需求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2. 自動拆解成數十個子任務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3. 開啟多個 worktree 並行執行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  4. 完成後合併結果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577840" cy="33375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64792"/>
            <a:ext cx="53583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03120"/>
            <a:ext cx="5358383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場景：Money Tutor 要把所有 B 系列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單元從 JavaScript 改為 TypeScript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舊做法：一個個手動改（幾天）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新做法：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/batch migrate B series JS to TypeScript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Claude 自動拆解：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• 代理人1: b1_daily_budget.js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• 代理人2: b2_allowance_diary.js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• ... 同時進行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幾分鐘內完成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1155680" cy="13716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166359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微軟正黑體"/>
              </a:rPr>
              <a:t>⚠️ ⚠️ 新手注意事項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513831"/>
            <a:ext cx="1093622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2025年2月正式推出，相對較新的功能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「數千個 worktree」並行 = 大量 API 費用，先從小任務試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先確認你的任務真的適合並行（有相依性的不適合）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建議先用 /batch 搭配小型任務，熟悉後再擴大規模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難度：★★★★☆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⑨ — Chrome 擴充套件（瀏覽器操控）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C：開發工具鏈整合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🌐 讓 Claude 直接操控 Chrome，讀取 Console 錯誤，測試 UI 互動行為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583680" cy="30175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6364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636422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① 在 Chrome 瀏覽器，前往 Chrome Web Store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② 搜尋「Claude Code」擴充套件（注意：目前為 beta 版）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③ 點擊「加到 Chrome」→ 安裝完成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④ 點擊擴充套件圖示 → 連結到你的 Claude 工作階段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⑤ 在 Claude 對話中說：「測試這個按鈕是否能正確點擊」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⑥ Claude 自動操控瀏覽器完成測試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691640"/>
            <a:ext cx="4754880" cy="3017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2048" y="1764792"/>
            <a:ext cx="4535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2103120"/>
            <a:ext cx="453542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情境：Money Tutor B1 頁面有個按鈕點不到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舊做法：手動打開瀏覽器 → 開 DevTools → 看 Console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新做法：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在 Claude 中說：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「打開 b1_daily_budget.html，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點擊確認按鈕，告訴我 Console 有沒有錯誤」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Claude 自動開啟頁面 → 點擊 → 回報錯誤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同時提供修復建議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0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88"/>
                </a:solidFill>
                <a:latin typeface="微軟正黑體"/>
              </a:rPr>
              <a:t>Boris Cherny 的類比：「不讓工程師開瀏覽器，成果會打折；Chrome 擴充套件把驗證能力還給 Claude」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03520"/>
            <a:ext cx="11155680" cy="1188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394959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742431"/>
            <a:ext cx="10936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目前（2026-03）仍為 beta 版，功能可能持續更新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非常適合前端開發者！可以邊改 CSS 邊讓 Claude 截圖驗證效果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若用 Claude Desktop App，改用內建瀏覽器（功能10）效果更完整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難度：★★☆☆☆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⑩⑪⑫ — Desktop 瀏覽器 / /branch / /btw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C：開發工具鏈整合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49039" cy="438912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⑩ Desktop 內建瀏覽器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讓 Claude Desktop App 自動啟動 web server 並以內建瀏覽器測試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591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微軟正黑體"/>
              </a:rPr>
              <a:t>操作步驟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919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Claude Desktop App 中自動生效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1810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Claude 自動啟動本地伺服器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57016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完整閉環：改程式 → 測試 → 修復，不需切換視窗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17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CLI 用戶→改用功能⑨ Chrome 擴充套件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65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僅 Desktop 版支援（非 CLI）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126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非常適合全端開發者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261872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261872"/>
            <a:ext cx="3749039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⑪ /branch（工作節點分叉）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從同一工作點分叉出不同嘗試方向，隨時可切回原本主線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3591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微軟正黑體"/>
              </a:rPr>
              <a:t>操作步驟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67919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在 Claude 對話中輸入：/branch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311810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系統詢問新方向的名稱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557016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切換：/branch switch [名稱]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39959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回主線：/branch 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4297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617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不怕改壞！隨時可以切回去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4965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適合「不確定哪種方法比較好」的情況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53126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例：同時試兩種 CSS 解法再選一個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261872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261872"/>
            <a:ext cx="3749039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⑫ /btw（不中斷插入問答）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代理人仍在執行長任務時，插入快速旁支問答而不中斷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3591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微軟正黑體"/>
              </a:rPr>
              <a:t>操作步驟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7919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Claude 正在跑大型任務時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11810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直接輸入：/btw [你的問題]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557016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Claude 快速回答後繼續執行主任務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959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軟正黑體"/>
              </a:rPr>
              <a:t>• 不影響主任務進度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617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讓 AI 一邊工作一邊回答你的問題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651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例：Claude 重構程式時，你問「這個函數的意義是什麼？」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3126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88"/>
                </a:solidFill>
                <a:latin typeface="微軟正黑體"/>
              </a:rPr>
              <a:t>✓ 不打斷主任務流程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37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⭐ 難度：⑩★★★☆☆  ⑪★★☆☆☆  ⑫★☆☆☆☆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⑬ — --bare（SDK 快速啟動旗標）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D：SDK 與多 Repo 協作優化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🚀 非互動式呼叫時，加上 --bare 可跳過 CLAUDE.md 等載入程序，啟動速度最多快 10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微軟正黑體"/>
              </a:rPr>
              <a:t>什麼情況需要用 --bare？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通常模式（互動）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每次啟動讀取 CLAUDE.md + 設定 +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= 較慢，但有完整上下文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21408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2176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--bare 模式（腳本/CI）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跳過 CLAUDE.md、設定檔、MCP 伺服器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微軟正黑體"/>
              </a:rPr>
              <a:t>= 啟動快 10 倍，適合自動化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微軟正黑體"/>
              </a:rPr>
              <a:t>使用方式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05072"/>
            <a:ext cx="685800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96511"/>
            <a:ext cx="65836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CC8C"/>
                </a:solidFill>
                <a:latin typeface="Consolas"/>
              </a:rPr>
              <a:t># 基本 --bare 用法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claude --bare -p "幫我分析這個函數有沒有 bug" &lt; myfile.js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在 CI/CD 腳本中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echo "執行自動測試分析" | claude --bare -p "分析測試結果"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Python SDK 中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import anthropic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claude = anthropic.Claude(bare=True)  # 快速啟動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# TypeScript SDK 中</a:t>
            </a:r>
          </a:p>
          <a:p>
            <a:r>
              <a:rPr sz="1300">
                <a:solidFill>
                  <a:srgbClr val="A8CC8C"/>
                </a:solidFill>
                <a:latin typeface="Consolas"/>
              </a:rPr>
              <a:t>const claude = new Claude({ bare: true })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611880"/>
            <a:ext cx="4572000" cy="281635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7" y="3685032"/>
            <a:ext cx="4352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4023360"/>
            <a:ext cx="4352544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情境：自動化 CI/CD 流程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每次 git push 時自動分析：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#!/bin/bash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git diff HEAD~1 | claude --bare -p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"這次改動有沒有潛在的 Bug？"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效果：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通常：等待3秒載入環境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--bare：0.3秒，快10倍！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73952"/>
            <a:ext cx="11155680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6565392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912864"/>
            <a:ext cx="10936224" cy="-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--bare 適合腳本化、自動化場景，不適合需要上下文的互動開發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啟動快的原因：不讀 CLAUDE.md（可能很大），不連 MCP 伺服器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766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⭐ 難度：★★★☆☆（需要了解 CLI/SDK 呼叫方式）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⑭ — --add-dir（跨 Repo 操作）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D：SDK 與多 Repo 協作優化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📂 同時讓 Claude 操作多個專案資料夾，不只是「看到」，還能直接讀寫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400800" cy="3200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64792"/>
            <a:ext cx="6181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61813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方法 A：啟動時加入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claude --add-dir /path/to/other-project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claude --add-dir ../shared-components --add-dir ../api-server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方法 B：工作階段中加入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/add-dir ../another-project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方法 C：永久設定（團隊共用）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在 settings.json 中：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{ "additionalDirectories": ["../shared-lib", "../backend"]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691640"/>
            <a:ext cx="493776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764792"/>
            <a:ext cx="4718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實際應用場景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103120"/>
            <a:ext cx="47183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情境：Money Tutor 前端 + 後端 API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目前結構：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money_tutor/（前端）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money_api/（後端，另一個資料夾）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舊做法：需要開兩個 Claude 視窗分別處理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新做法：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claude --add-dir ../money_api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一個 Claude 同時看兩個資料夾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「把後端的 API 路由同步到前端 JS」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一次完成！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11155680" cy="1234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074920"/>
            <a:ext cx="10936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422392"/>
            <a:ext cx="109362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--add-dir 賦予「完整讀寫權限」，不只是查看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適合微服務架構、前後端分離的開發情境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設定在 settings.json 可讓整個團隊共用相同的多目錄設定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3093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難度：★★☆☆☆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⑮ — --agent（自訂子代理人）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D：SDK 與多 Repo 協作優化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🤖 建立具有自訂系統提示與工具限制的專屬代理人，適合特定任務場景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669280" cy="3200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92224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📋 操作步驟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30552"/>
            <a:ext cx="544982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  ① 在 .claude/agents/ 資料夾建立 Markdown 設定檔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例：.claude/agents/readonly.md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② 在 Markdown 中定義代理人行為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（系統提示、允許的工具、限制條件）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③ 啟動代理人：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claude --agent=readonly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claude --agent=tester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  claude --agent=doc-writer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19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設定檔範例（.claude/agents/readonly.md）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669280" cy="2788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5394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8CC8C"/>
                </a:solidFill>
                <a:latin typeface="Consolas"/>
              </a:rPr>
              <a:t>---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name: readonly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description: 只讀審查代理人（安全審查用）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tools: [read_file, search, list_files]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# 不允許：write_file, bash, delete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---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# 系統提示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你是一個程式碼審查代理人。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你只能讀取檔案，不能修改任何內容。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請仔細分析程式碼，找出潛在問題並提供建議。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分析重點：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- 安全性漏洞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- 效能問題</a:t>
            </a:r>
          </a:p>
          <a:p>
            <a:r>
              <a:rPr sz="1100">
                <a:solidFill>
                  <a:srgbClr val="A8CC8C"/>
                </a:solidFill>
                <a:latin typeface="Consolas"/>
              </a:rPr>
              <a:t>- 程式碼品質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83480"/>
            <a:ext cx="5669280" cy="1463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5056632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實用代理人配置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394960"/>
            <a:ext cx="54498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📖 readonly 代理人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只能讀檔 → 安全程式碼審查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🧪 tester 代理人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只能跑測試 → 自動化 QA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📝 doc-writer 代理人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只能寫文件 → 自動產生說明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🔍 security-audit 代理人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 讀取 + 分析 → 安全掃描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本專案 CLAUDE.md 的 subagent_type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就是同樣的概念延伸！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983480"/>
            <a:ext cx="5669280" cy="14630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5074920"/>
            <a:ext cx="5449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💡 新手提示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5422392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• 從最簡單的 readonly 代理人開始學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工具限制可以防止代理人做出意外操作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• 可以建立多個不同用途的代理人備用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微軟正黑體"/>
              </a:rPr>
              <a:t>⭐ 難度：★★★☆☆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功能 ⑯ — /voice（語音輸入）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類別 E：輸入體驗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🎤 用說話代替打字，向 Claude 下指令！Boris Cherny 日常以說話為主、鍵盤為輔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19072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19072"/>
            <a:ext cx="365760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💻 CLI 終端機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2199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① 在 Claude 對話中輸入：/voice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93522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② 按住「空白鍵」開始說話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64845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③ 放開空白鍵 → 自動轉文字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36168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④ Claude 執行你說的指令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719072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719072"/>
            <a:ext cx="3657600" cy="438912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🖥️ Claude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22199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① 開啟 Claude Desktop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93522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② 點擊介面上的「語音按鈕」（麥克風圖示）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64845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③ 說出你的指令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436168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④ 放開後自動識別並執行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719072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1719072"/>
            <a:ext cx="3657600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7373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📱 iPhone / iPad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221992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① 系統設定 → 一般 → 鍵盤 → 開啟「聽寫」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293522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② 在 Claude App 的輸入框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64845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③ 點擊鍵盤上的麥克風圖示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436168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④ 說出指令 → 自動輸入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742432"/>
            <a:ext cx="11521440" cy="107899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815584"/>
            <a:ext cx="1130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🌟 語音輸入的實際效益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153912"/>
            <a:ext cx="1130198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2937"/>
                </a:solidFill>
                <a:latin typeface="微軟正黑體"/>
              </a:rPr>
              <a:t>你可以說：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「幫我在 b3_savings_plan.js 的第 240 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加一個 console.log，顯示 state 的值」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「找出所有 B 系列 JS 中，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有 setInterval 的地方，列出來」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「把剛才改的內容 commit 到 git，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  訊息寫：修復 B3 月曆 UX 問題」</a:t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/>
            </a:r>
          </a:p>
          <a:p>
            <a:r>
              <a:rPr sz="1200">
                <a:solidFill>
                  <a:srgbClr val="1F2937"/>
                </a:solidFill>
                <a:latin typeface="微軟正黑體"/>
              </a:rPr>
              <a:t>→ 解放雙手，在站著、走路時也能工作！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8397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⭐ 難度：★☆☆☆☆（iPhone 聽寫功能最簡單，零設定）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新手學習路徑建議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按照這個順序，由簡入難，穩步掌握所有功能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微軟正黑體"/>
              </a:rPr>
              <a:t>🔰 第一階段：入門（第1週）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743200" cy="12344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軟正黑體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488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下載 App 熟悉界面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微軟正黑體"/>
              </a:rPr>
              <a:t>0️⃣ 零設定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91640"/>
            <a:ext cx="2743200" cy="12344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軟正黑體"/>
              </a:rPr>
              <a:t>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/voice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488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學會語音輸入，省打字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96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微軟正黑體"/>
              </a:rPr>
              <a:t>⭐ 1分鐘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691640"/>
            <a:ext cx="2743200" cy="12344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軟正黑體"/>
              </a:rPr>
              <a:t>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/btw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工作中插入問答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96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微軟正黑體"/>
              </a:rPr>
              <a:t>⭐ 立即可用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1691640"/>
            <a:ext cx="2743200" cy="12344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微軟正黑體"/>
              </a:rPr>
              <a:t>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/branch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1488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分叉嘗試不怕改壞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496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微軟正黑體"/>
              </a:rPr>
              <a:t>⭐⭐ 簡單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999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軟正黑體"/>
              </a:rPr>
              <a:t>🔷 第二階段：進階（第2~3週）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38144"/>
            <a:ext cx="2743200" cy="1325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465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軟正黑體"/>
              </a:rPr>
              <a:t>②③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483864"/>
            <a:ext cx="2075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/teleport
/remote-control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023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跨裝置無縫工作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3708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82F6"/>
                </a:solidFill>
                <a:latin typeface="微軟正黑體"/>
              </a:rPr>
              <a:t>⭐⭐ 需要雲端帳號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438144"/>
            <a:ext cx="2743200" cy="1325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3465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軟正黑體"/>
              </a:rPr>
              <a:t>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1" y="3483864"/>
            <a:ext cx="2075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--worktree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023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隔離環境並行開發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3708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82F6"/>
                </a:solidFill>
                <a:latin typeface="微軟正黑體"/>
              </a:rPr>
              <a:t>⭐⭐⭐ 需懂 git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59" y="3438144"/>
            <a:ext cx="2743200" cy="1325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3465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軟正黑體"/>
              </a:rPr>
              <a:t>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1" y="3483864"/>
            <a:ext cx="2075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--add-dir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4023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跨資料夾操作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199" y="43708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82F6"/>
                </a:solidFill>
                <a:latin typeface="微軟正黑體"/>
              </a:rPr>
              <a:t>⭐⭐ 設定簡單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19" y="3438144"/>
            <a:ext cx="2743200" cy="1325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3465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軟正黑體"/>
              </a:rPr>
              <a:t>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2911" y="3483864"/>
            <a:ext cx="2075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Chrome 擴充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4023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瀏覽器自動測試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59" y="437083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B82F6"/>
                </a:solidFill>
                <a:latin typeface="微軟正黑體"/>
              </a:rPr>
              <a:t>⭐⭐ Beta版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8646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微軟正黑體"/>
              </a:rPr>
              <a:t>🔴 第三階段：高手（第4週起）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303520"/>
            <a:ext cx="2194560" cy="123444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330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CF"/>
                </a:solidFill>
                <a:latin typeface="微軟正黑體"/>
              </a:rPr>
              <a:t>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534924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Hooks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79" y="58064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自動化注入邏輯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24328" y="5303520"/>
            <a:ext cx="2194560" cy="123444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5330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CF"/>
                </a:solidFill>
                <a:latin typeface="微軟正黑體"/>
              </a:rPr>
              <a:t>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534924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/loop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15768" y="58064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排程自動執行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28616" y="5303520"/>
            <a:ext cx="2194560" cy="123444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01768" y="5330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CF"/>
                </a:solidFill>
                <a:latin typeface="微軟正黑體"/>
              </a:rPr>
              <a:t>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58968" y="534924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--agent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0055" y="58064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自訂代理人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32904" y="5303520"/>
            <a:ext cx="2194560" cy="123444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06056" y="5330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CF"/>
                </a:solidFill>
                <a:latin typeface="微軟正黑體"/>
              </a:rPr>
              <a:t>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63256" y="534924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/batch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24344" y="58064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大規模並行任務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37192" y="5303520"/>
            <a:ext cx="2194560" cy="123444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10344" y="5330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4FCF"/>
                </a:solidFill>
                <a:latin typeface="微軟正黑體"/>
              </a:rPr>
              <a:t>④⑬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67544" y="534924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微軟正黑體"/>
              </a:rPr>
              <a:t>Cowork
--bare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8632" y="58064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進階整合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836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微軟正黑體"/>
              </a:rPr>
              <a:t>💡 每掌握一個功能，就能節省大量重複性工作時間！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Money Tutor 專案實際應用案例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這些功能我們已在使用，你也可以！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軟正黑體"/>
              </a:rPr>
              <a:t>✅ 已在 Money Tutor 專案中使用的功能：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111556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228600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微軟正黑體"/>
              </a:rPr>
              <a:t>⑦ --worktree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922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Agent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Agent 工具設定 isolation: "worktree"
→ 每次子代理人任務自動建立隔離分支，互不干擾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62072"/>
            <a:ext cx="111556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62072"/>
            <a:ext cx="228600" cy="1078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軟正黑體"/>
              </a:rPr>
              <a:t>③ /remote-control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9352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cladue.bat 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雙視窗模式：一個跑 Claude，一個開啟遠端控制伺服器
→ 可從另一台裝置連入監控進度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05072"/>
            <a:ext cx="111556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228600" cy="1078992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78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FCF"/>
                </a:solidFill>
                <a:latin typeface="微軟正黑體"/>
              </a:rPr>
              <a:t>⑮ --agent 概念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0782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subagent_type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171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CLAUDE.md 定義多種代理人：Explore、Plan、general-purpose
→ 不同任務自動選用最適合的 AI 角色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48072"/>
            <a:ext cx="111556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48072"/>
            <a:ext cx="228600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21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軟正黑體"/>
              </a:rPr>
              <a:t>⑥ Hooks 概念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2212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微軟正黑體"/>
              </a:rPr>
              <a:t>CLAUDE.md SessionStart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6013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CLAUDE.md 在每次對話開始自動載入
→ 等同 SessionStart Hook 的設計意圖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FCF"/>
                </a:solidFill>
                <a:latin typeface="微軟正黑體"/>
              </a:rPr>
              <a:t>🔮 下一步：可考慮加入的功能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7482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軟正黑體"/>
              </a:rPr>
              <a:t>/loop 每日掃描 JS 錯誤  ·  --bare 整合 CI/CD 自動部署  ·  /btw 大型重構時同步問答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</a:rPr>
              <a:t>快速指令速查表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FF"/>
                </a:solidFill>
                <a:latin typeface="微軟正黑體"/>
              </a:rPr>
              <a:t>把這頁截圖存手機，隨時查閱！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347472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工作階段中輸入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09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99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語音輸入模式（CLI：按住空白鍵說話）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22576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3682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/btw [問題]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6829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不中斷主任務，插入快速問答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80944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026663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26663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從當前節點分叉，嘗試不同方向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39312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685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/teleport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850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將雲端工作階段拉回本機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97680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/remote-control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讓手機或其他裝置操控本機 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56048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0017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/loop [時間] [任務]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01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排程重複執行（/loop 5m /check-pr）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14416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56601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/batch [任務描述]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66013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大型任務自動拆解並行執行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61872"/>
            <a:ext cx="5669280" cy="347472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軟正黑體"/>
              </a:rPr>
              <a:t>啟動 CLI 時使用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664208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709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/add-dir [路徑]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7099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加入其他資料夾到操作範圍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322576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3682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claude --teleport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36829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啟動時拉取雲端工作階段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980944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026663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claude --worktree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026663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在隔離工作樹中執行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639312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685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claude --bare -p "..."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6850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快速非互動執行（啟動快10倍）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297680"/>
            <a:ext cx="5669280" cy="621792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claude --add-dir [路徑]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啟動時加入多個資料夾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956048"/>
            <a:ext cx="5669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0017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4FCF"/>
                </a:solidFill>
                <a:latin typeface="Consolas"/>
              </a:rPr>
              <a:t>claude --agent=[名稱]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01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軟正黑體"/>
              </a:rPr>
              <a:t>啟動自訂代理人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4FCF"/>
                </a:solidFill>
                <a:latin typeface="微軟正黑體"/>
              </a:rPr>
              <a:t>📌 完整文件：https://docs.anthropic.com/claude-code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</a:rPr>
              <a:t>總結：掌握 Claude Code 的三個關鍵心態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1463040"/>
          </a:xfrm>
          <a:prstGeom prst="rect">
            <a:avLst/>
          </a:prstGeom>
          <a:solidFill>
            <a:srgbClr val="2D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F2937"/>
                </a:solidFill>
                <a:latin typeface="微軟正黑體"/>
              </a:rP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35607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微軟正黑體"/>
              </a:rPr>
              <a:t>讓 AI 做重複工作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微軟正黑體"/>
              </a:rPr>
              <a:t>/loop、/batch、Hooks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你只需要說「做什麼」，Claude 自己想「怎麼做」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1247120" cy="1463040"/>
          </a:xfrm>
          <a:prstGeom prst="rect">
            <a:avLst/>
          </a:prstGeom>
          <a:solidFill>
            <a:srgbClr val="2D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F2937"/>
                </a:solidFill>
                <a:latin typeface="微軟正黑體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3580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微軟正黑體"/>
              </a:rPr>
              <a:t>隨時隨地都能工作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20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微軟正黑體"/>
              </a:rPr>
              <a:t>Mobile App、/teleport、/remote-control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15468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不限裝置，不限地點，Claude 陪你跨越空間限制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solidFill>
            <a:srgbClr val="2D2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00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F2937"/>
                </a:solidFill>
                <a:latin typeface="微軟正黑體"/>
              </a:rPr>
              <a:t>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3600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微軟正黑體"/>
              </a:rPr>
              <a:t>大膽嘗試不怕失敗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微軟正黑體"/>
              </a:rPr>
              <a:t>--worktree、/branch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75488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每次改動都有隔離環境，隨時可以回退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微軟正黑體"/>
              </a:rPr>
              <a:t>🚀  現在就開始：安裝 Claude Code → 試試 /voice → 說出你的第一個指令！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